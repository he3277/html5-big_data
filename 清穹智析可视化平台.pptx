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84" r:id="rId18"/>
    <p:sldId id="285" r:id="rId19"/>
    <p:sldId id="277" r:id="rId20"/>
    <p:sldId id="278" r:id="rId21"/>
    <p:sldId id="279" r:id="rId22"/>
    <p:sldId id="280" r:id="rId23"/>
    <p:sldId id="281" r:id="rId24"/>
    <p:sldId id="282" r:id="rId25"/>
    <p:sldId id="283" r:id="rId26"/>
    <p:sldId id="271" r:id="rId27"/>
    <p:sldId id="273" r:id="rId28"/>
    <p:sldId id="274" r:id="rId29"/>
    <p:sldId id="275" r:id="rId30"/>
    <p:sldId id="276"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59"/>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12142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ect">
            <a:avLst/>
          </a:prstGeom>
          <a:blipFill rotWithShape="1">
            <a:blip r:embed="rId2">
              <a:alphaModFix amt="100000"/>
              <a:alphaModFix amt="100000"/>
            </a:blip>
            <a:stretch>
              <a:fillRect/>
            </a:stretch>
          </a:blipFill>
          <a:ln>
            <a:prstDash val="solid"/>
            <a:headEnd type="none"/>
            <a:tailEnd type="none"/>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12142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ect">
            <a:avLst/>
          </a:prstGeom>
          <a:blipFill rotWithShape="1">
            <a:blip r:embed="rId2">
              <a:alphaModFix amt="100000"/>
              <a:alphaModFix amt="100000"/>
            </a:blip>
            <a:stretch>
              <a:fillRect/>
            </a:stretch>
          </a:blipFill>
          <a:ln>
            <a:prstDash val="solid"/>
            <a:headEnd type="none"/>
            <a:tailEnd type="none"/>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12142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ect">
            <a:avLst/>
          </a:prstGeom>
          <a:blipFill rotWithShape="1">
            <a:blip r:embed="rId2">
              <a:alphaModFix amt="100000"/>
              <a:alphaModFix amt="100000"/>
            </a:blip>
            <a:stretch>
              <a:fillRect/>
            </a:stretch>
          </a:blipFill>
          <a:ln>
            <a:prstDash val="solid"/>
            <a:headEnd type="none"/>
            <a:tailEnd type="none"/>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12142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ect">
            <a:avLst/>
          </a:prstGeom>
          <a:blipFill rotWithShape="1">
            <a:blip r:embed="rId2">
              <a:alphaModFix amt="100000"/>
              <a:alphaModFix amt="100000"/>
            </a:blip>
            <a:stretch>
              <a:fillRect/>
            </a:stretch>
          </a:blipFill>
          <a:ln>
            <a:prstDash val="solid"/>
            <a:headEnd type="none"/>
            <a:tailEnd type="none"/>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121420">
            <a:alpha val="100000"/>
          </a:srgbClr>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Agenda">
    <p:bg>
      <p:bgPr>
        <a:solidFill>
          <a:srgbClr val="12142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ect">
            <a:avLst/>
          </a:prstGeom>
          <a:blipFill rotWithShape="1">
            <a:blip r:embed="rId2">
              <a:alphaModFix amt="100000"/>
              <a:alphaModFix amt="100000"/>
            </a:blip>
            <a:stretch>
              <a:fillRect/>
            </a:stretch>
          </a:blipFill>
          <a:ln>
            <a:prstDash val="solid"/>
            <a:headEnd type="none"/>
            <a:tailEnd type="none"/>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losing">
    <p:bg>
      <p:bgPr>
        <a:solidFill>
          <a:srgbClr val="12142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ect">
            <a:avLst/>
          </a:prstGeom>
          <a:blipFill rotWithShape="1">
            <a:blip r:embed="rId2">
              <a:alphaModFix amt="100000"/>
              <a:alphaModFix amt="100000"/>
            </a:blip>
            <a:stretch>
              <a:fillRect/>
            </a:stretch>
          </a:blipFill>
          <a:ln>
            <a:prstDash val="solid"/>
            <a:headEnd type="none"/>
            <a:tailEnd type="none"/>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9" Type="http://schemas.openxmlformats.org/officeDocument/2006/relationships/slideLayout" Target="../slideLayouts/slideLayout6.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5" Type="http://schemas.openxmlformats.org/officeDocument/2006/relationships/slideLayout" Target="../slideLayouts/slideLayout6.xml"/><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19.xml"/></Relationships>
</file>

<file path=ppt/slides/_rels/slide8.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8" Type="http://schemas.openxmlformats.org/officeDocument/2006/relationships/slideLayout" Target="../slideLayouts/slideLayout6.xml"/><Relationship Id="rId17" Type="http://schemas.openxmlformats.org/officeDocument/2006/relationships/tags" Target="../tags/tag49.xml"/><Relationship Id="rId16" Type="http://schemas.openxmlformats.org/officeDocument/2006/relationships/tags" Target="../tags/tag48.xml"/><Relationship Id="rId15" Type="http://schemas.openxmlformats.org/officeDocument/2006/relationships/tags" Target="../tags/tag47.xml"/><Relationship Id="rId14" Type="http://schemas.openxmlformats.org/officeDocument/2006/relationships/tags" Target="../tags/tag46.xml"/><Relationship Id="rId13" Type="http://schemas.openxmlformats.org/officeDocument/2006/relationships/tags" Target="../tags/tag45.xml"/><Relationship Id="rId12" Type="http://schemas.openxmlformats.org/officeDocument/2006/relationships/tags" Target="../tags/tag44.xml"/><Relationship Id="rId11" Type="http://schemas.openxmlformats.org/officeDocument/2006/relationships/tags" Target="../tags/tag43.xml"/><Relationship Id="rId10" Type="http://schemas.openxmlformats.org/officeDocument/2006/relationships/tags" Target="../tags/tag42.xml"/><Relationship Id="rId1" Type="http://schemas.openxmlformats.org/officeDocument/2006/relationships/tags" Target="../tags/tag33.xml"/></Relationships>
</file>

<file path=ppt/slides/_rels/slide9.xml.rels><?xml version="1.0" encoding="UTF-8" standalone="yes"?>
<Relationships xmlns="http://schemas.openxmlformats.org/package/2006/relationships"><Relationship Id="rId9" Type="http://schemas.openxmlformats.org/officeDocument/2006/relationships/tags" Target="../tags/tag58.xml"/><Relationship Id="rId8" Type="http://schemas.openxmlformats.org/officeDocument/2006/relationships/tags" Target="../tags/tag57.xml"/><Relationship Id="rId7" Type="http://schemas.openxmlformats.org/officeDocument/2006/relationships/tags" Target="../tags/tag56.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 Id="rId38" Type="http://schemas.openxmlformats.org/officeDocument/2006/relationships/slideLayout" Target="../slideLayouts/slideLayout6.xml"/><Relationship Id="rId37" Type="http://schemas.openxmlformats.org/officeDocument/2006/relationships/tags" Target="../tags/tag86.xml"/><Relationship Id="rId36" Type="http://schemas.openxmlformats.org/officeDocument/2006/relationships/tags" Target="../tags/tag85.xml"/><Relationship Id="rId35" Type="http://schemas.openxmlformats.org/officeDocument/2006/relationships/tags" Target="../tags/tag84.xml"/><Relationship Id="rId34" Type="http://schemas.openxmlformats.org/officeDocument/2006/relationships/tags" Target="../tags/tag83.xml"/><Relationship Id="rId33" Type="http://schemas.openxmlformats.org/officeDocument/2006/relationships/tags" Target="../tags/tag82.xml"/><Relationship Id="rId32" Type="http://schemas.openxmlformats.org/officeDocument/2006/relationships/tags" Target="../tags/tag81.xml"/><Relationship Id="rId31" Type="http://schemas.openxmlformats.org/officeDocument/2006/relationships/tags" Target="../tags/tag80.xml"/><Relationship Id="rId30" Type="http://schemas.openxmlformats.org/officeDocument/2006/relationships/tags" Target="../tags/tag79.xml"/><Relationship Id="rId3" Type="http://schemas.openxmlformats.org/officeDocument/2006/relationships/tags" Target="../tags/tag52.xml"/><Relationship Id="rId29" Type="http://schemas.openxmlformats.org/officeDocument/2006/relationships/tags" Target="../tags/tag78.xml"/><Relationship Id="rId28" Type="http://schemas.openxmlformats.org/officeDocument/2006/relationships/tags" Target="../tags/tag77.xml"/><Relationship Id="rId27" Type="http://schemas.openxmlformats.org/officeDocument/2006/relationships/tags" Target="../tags/tag76.xml"/><Relationship Id="rId26" Type="http://schemas.openxmlformats.org/officeDocument/2006/relationships/tags" Target="../tags/tag75.xml"/><Relationship Id="rId25" Type="http://schemas.openxmlformats.org/officeDocument/2006/relationships/tags" Target="../tags/tag74.xml"/><Relationship Id="rId24" Type="http://schemas.openxmlformats.org/officeDocument/2006/relationships/tags" Target="../tags/tag73.xml"/><Relationship Id="rId23" Type="http://schemas.openxmlformats.org/officeDocument/2006/relationships/tags" Target="../tags/tag72.xml"/><Relationship Id="rId22" Type="http://schemas.openxmlformats.org/officeDocument/2006/relationships/tags" Target="../tags/tag71.xml"/><Relationship Id="rId21" Type="http://schemas.openxmlformats.org/officeDocument/2006/relationships/tags" Target="../tags/tag70.xml"/><Relationship Id="rId20" Type="http://schemas.openxmlformats.org/officeDocument/2006/relationships/tags" Target="../tags/tag69.xml"/><Relationship Id="rId2" Type="http://schemas.openxmlformats.org/officeDocument/2006/relationships/tags" Target="../tags/tag51.xml"/><Relationship Id="rId19" Type="http://schemas.openxmlformats.org/officeDocument/2006/relationships/tags" Target="../tags/tag68.xml"/><Relationship Id="rId18" Type="http://schemas.openxmlformats.org/officeDocument/2006/relationships/tags" Target="../tags/tag67.xml"/><Relationship Id="rId17" Type="http://schemas.openxmlformats.org/officeDocument/2006/relationships/tags" Target="../tags/tag66.xml"/><Relationship Id="rId16" Type="http://schemas.openxmlformats.org/officeDocument/2006/relationships/tags" Target="../tags/tag65.xml"/><Relationship Id="rId15" Type="http://schemas.openxmlformats.org/officeDocument/2006/relationships/tags" Target="../tags/tag64.xml"/><Relationship Id="rId14" Type="http://schemas.openxmlformats.org/officeDocument/2006/relationships/tags" Target="../tags/tag63.xml"/><Relationship Id="rId13" Type="http://schemas.openxmlformats.org/officeDocument/2006/relationships/tags" Target="../tags/tag62.xml"/><Relationship Id="rId12" Type="http://schemas.openxmlformats.org/officeDocument/2006/relationships/tags" Target="../tags/tag61.xml"/><Relationship Id="rId11" Type="http://schemas.openxmlformats.org/officeDocument/2006/relationships/tags" Target="../tags/tag60.xml"/><Relationship Id="rId10" Type="http://schemas.openxmlformats.org/officeDocument/2006/relationships/tags" Target="../tags/tag59.xml"/><Relationship Id="rId1" Type="http://schemas.openxmlformats.org/officeDocument/2006/relationships/tags" Target="../tags/tag5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9" Type="http://schemas.openxmlformats.org/officeDocument/2006/relationships/tags" Target="../tags/tag95.xml"/><Relationship Id="rId8" Type="http://schemas.openxmlformats.org/officeDocument/2006/relationships/tags" Target="../tags/tag94.xml"/><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tags" Target="../tags/tag90.xml"/><Relationship Id="rId3" Type="http://schemas.openxmlformats.org/officeDocument/2006/relationships/tags" Target="../tags/tag89.xml"/><Relationship Id="rId2" Type="http://schemas.openxmlformats.org/officeDocument/2006/relationships/tags" Target="../tags/tag88.xml"/><Relationship Id="rId18" Type="http://schemas.openxmlformats.org/officeDocument/2006/relationships/slideLayout" Target="../slideLayouts/slideLayout6.xml"/><Relationship Id="rId17" Type="http://schemas.openxmlformats.org/officeDocument/2006/relationships/tags" Target="../tags/tag103.xml"/><Relationship Id="rId16" Type="http://schemas.openxmlformats.org/officeDocument/2006/relationships/tags" Target="../tags/tag102.xml"/><Relationship Id="rId15" Type="http://schemas.openxmlformats.org/officeDocument/2006/relationships/tags" Target="../tags/tag101.xml"/><Relationship Id="rId14" Type="http://schemas.openxmlformats.org/officeDocument/2006/relationships/tags" Target="../tags/tag100.xml"/><Relationship Id="rId13" Type="http://schemas.openxmlformats.org/officeDocument/2006/relationships/tags" Target="../tags/tag99.xml"/><Relationship Id="rId12" Type="http://schemas.openxmlformats.org/officeDocument/2006/relationships/tags" Target="../tags/tag98.xml"/><Relationship Id="rId11" Type="http://schemas.openxmlformats.org/officeDocument/2006/relationships/tags" Target="../tags/tag97.xml"/><Relationship Id="rId10" Type="http://schemas.openxmlformats.org/officeDocument/2006/relationships/tags" Target="../tags/tag96.xml"/><Relationship Id="rId1" Type="http://schemas.openxmlformats.org/officeDocument/2006/relationships/tags" Target="../tags/tag8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60400" y="1064895"/>
            <a:ext cx="5956300" cy="2112645"/>
          </a:xfrm>
          <a:prstGeom prst="rect">
            <a:avLst/>
          </a:prstGeom>
          <a:ln>
            <a:headEnd type="none"/>
            <a:tailEnd type="none"/>
          </a:ln>
        </p:spPr>
        <p:txBody>
          <a:bodyPr vert="horz" wrap="square" lIns="91440" tIns="0" rIns="91440" bIns="0" rtlCol="0" anchor="ctr" anchorCtr="0"/>
          <a:lstStyle/>
          <a:p>
            <a:pPr algn="l">
              <a:lnSpc>
                <a:spcPct val="100000"/>
              </a:lnSpc>
              <a:spcBef>
                <a:spcPts val="0"/>
              </a:spcBef>
              <a:defRPr/>
            </a:pPr>
            <a:r>
              <a:rPr lang="en-US" sz="4800" b="0" i="0">
                <a:solidFill>
                  <a:srgbClr val="FFFFFF">
                    <a:alpha val="100000"/>
                  </a:srgbClr>
                </a:solidFill>
                <a:latin typeface="汉仪行楷简"/>
                <a:ea typeface="汉仪行楷简"/>
                <a:cs typeface="汉仪行楷简"/>
              </a:rPr>
              <a:t>清穹智析可视化平台</a:t>
            </a:r>
            <a:endParaRPr lang="en-US" sz="1100"/>
          </a:p>
        </p:txBody>
      </p:sp>
      <p:sp>
        <p:nvSpPr>
          <p:cNvPr id="3" name="TextBox 3"/>
          <p:cNvSpPr txBox="1"/>
          <p:nvPr/>
        </p:nvSpPr>
        <p:spPr>
          <a:xfrm>
            <a:off x="660400" y="3285738"/>
            <a:ext cx="7244734" cy="696328"/>
          </a:xfrm>
          <a:prstGeom prst="rect">
            <a:avLst/>
          </a:prstGeom>
          <a:ln>
            <a:headEnd type="none"/>
            <a:tailEnd type="none"/>
          </a:ln>
        </p:spPr>
        <p:txBody>
          <a:bodyPr vert="horz" wrap="square" lIns="91440" tIns="0" rIns="91440" bIns="0" rtlCol="0" anchor="ctr" anchorCtr="0"/>
          <a:lstStyle/>
          <a:p>
            <a:pPr algn="l">
              <a:lnSpc>
                <a:spcPct val="100000"/>
              </a:lnSpc>
              <a:spcBef>
                <a:spcPts val="1000"/>
              </a:spcBef>
              <a:defRPr/>
            </a:pPr>
            <a:r>
              <a:rPr lang="en-US" sz="3200" b="0" i="0">
                <a:solidFill>
                  <a:srgbClr val="EBBA6F">
                    <a:alpha val="100000"/>
                  </a:srgbClr>
                </a:solidFill>
                <a:latin typeface="思源黑体 CN Regular"/>
                <a:ea typeface="思源黑体 CN Regular"/>
                <a:cs typeface="思源黑体 CN Regular"/>
              </a:rPr>
              <a:t>洞察全国空气质量</a:t>
            </a:r>
            <a:endParaRPr lang="en-US" sz="3200" b="0" i="0">
              <a:solidFill>
                <a:srgbClr val="EBBA6F">
                  <a:alpha val="100000"/>
                </a:srgbClr>
              </a:solidFill>
              <a:latin typeface="思源黑体 CN Regular"/>
              <a:ea typeface="思源黑体 CN Regular"/>
              <a:cs typeface="思源黑体 CN Regular"/>
            </a:endParaRPr>
          </a:p>
          <a:p>
            <a:pPr marL="457200" lvl="1" indent="457200" algn="l">
              <a:lnSpc>
                <a:spcPct val="100000"/>
              </a:lnSpc>
              <a:spcBef>
                <a:spcPts val="1000"/>
              </a:spcBef>
              <a:defRPr/>
            </a:pPr>
            <a:r>
              <a:rPr lang="en-US" sz="3200" b="0" i="0">
                <a:solidFill>
                  <a:srgbClr val="EBBA6F">
                    <a:alpha val="100000"/>
                  </a:srgbClr>
                </a:solidFill>
                <a:latin typeface="思源黑体 CN Regular"/>
                <a:ea typeface="思源黑体 CN Regular"/>
                <a:cs typeface="思源黑体 CN Regular"/>
              </a:rPr>
              <a:t>数据驱动科学决策</a:t>
            </a:r>
            <a:endParaRPr lang="en-US" sz="1100"/>
          </a:p>
        </p:txBody>
      </p:sp>
      <p:sp>
        <p:nvSpPr>
          <p:cNvPr id="4" name="TextBox 4"/>
          <p:cNvSpPr txBox="1"/>
          <p:nvPr/>
        </p:nvSpPr>
        <p:spPr>
          <a:xfrm>
            <a:off x="660400" y="4648835"/>
            <a:ext cx="3088005" cy="406400"/>
          </a:xfrm>
          <a:prstGeom prst="roundRect">
            <a:avLst/>
          </a:prstGeom>
          <a:ln>
            <a:headEnd type="none"/>
            <a:tailEnd type="none"/>
          </a:ln>
        </p:spPr>
        <p:txBody>
          <a:bodyPr vert="horz" wrap="square" lIns="91440" tIns="45720" rIns="91440" bIns="45720" rtlCol="0" anchor="ctr" anchorCtr="0"/>
          <a:lstStyle/>
          <a:p>
            <a:pPr algn="l">
              <a:lnSpc>
                <a:spcPct val="120000"/>
              </a:lnSpc>
              <a:spcBef>
                <a:spcPts val="1000"/>
              </a:spcBef>
              <a:defRPr/>
            </a:pPr>
            <a:r>
              <a:rPr lang="zh-CN" altLang="en-US" sz="1800" b="0" i="0">
                <a:solidFill>
                  <a:srgbClr val="EBBA6F">
                    <a:alpha val="100000"/>
                  </a:srgbClr>
                </a:solidFill>
                <a:latin typeface="思源黑体 CN Regular"/>
                <a:ea typeface="思源黑体 CN Regular"/>
                <a:cs typeface="思源黑体 CN Regular"/>
              </a:rPr>
              <a:t>团队成员：何诗昀</a:t>
            </a:r>
            <a:endParaRPr lang="zh-CN" altLang="en-US" sz="1800" b="0" i="0">
              <a:solidFill>
                <a:srgbClr val="EBBA6F">
                  <a:alpha val="100000"/>
                </a:srgbClr>
              </a:solidFill>
              <a:latin typeface="思源黑体 CN Regular"/>
              <a:ea typeface="思源黑体 CN Regular"/>
              <a:cs typeface="思源黑体 CN Regular"/>
            </a:endParaRPr>
          </a:p>
        </p:txBody>
      </p:sp>
      <p:sp>
        <p:nvSpPr>
          <p:cNvPr id="5" name="TextBox 5"/>
          <p:cNvSpPr txBox="1"/>
          <p:nvPr/>
        </p:nvSpPr>
        <p:spPr>
          <a:xfrm>
            <a:off x="660400" y="5046374"/>
            <a:ext cx="3359922" cy="480446"/>
          </a:xfrm>
          <a:prstGeom prst="roundRect">
            <a:avLst/>
          </a:prstGeom>
          <a:ln>
            <a:headEnd type="none"/>
            <a:tailEnd type="none"/>
          </a:ln>
        </p:spPr>
        <p:txBody>
          <a:bodyPr vert="horz" wrap="square" lIns="91440" tIns="45720" rIns="91440" bIns="45720" rtlCol="0" anchor="ctr" anchorCtr="0"/>
          <a:lstStyle/>
          <a:p>
            <a:pPr algn="l">
              <a:lnSpc>
                <a:spcPct val="120000"/>
              </a:lnSpc>
              <a:spcBef>
                <a:spcPts val="1000"/>
              </a:spcBef>
              <a:defRPr/>
            </a:pPr>
            <a:r>
              <a:rPr lang="en-US" sz="1800" b="0" i="0">
                <a:solidFill>
                  <a:srgbClr val="EBBA6F">
                    <a:alpha val="100000"/>
                  </a:srgbClr>
                </a:solidFill>
                <a:latin typeface="思源黑体 CN Regular"/>
                <a:ea typeface="思源黑体 CN Regular"/>
                <a:cs typeface="思源黑体 CN Regular"/>
              </a:rPr>
              <a:t>2026</a:t>
            </a:r>
            <a:r>
              <a:rPr lang="zh-CN" altLang="en-US" sz="1800" b="0" i="0">
                <a:solidFill>
                  <a:srgbClr val="EBBA6F">
                    <a:alpha val="100000"/>
                  </a:srgbClr>
                </a:solidFill>
                <a:latin typeface="思源黑体 CN Regular"/>
                <a:ea typeface="思源黑体 CN Regular"/>
                <a:cs typeface="思源黑体 CN Regular"/>
              </a:rPr>
              <a:t>年</a:t>
            </a:r>
            <a:r>
              <a:rPr lang="en-US" altLang="zh-CN" sz="1800" b="0" i="0">
                <a:solidFill>
                  <a:srgbClr val="EBBA6F">
                    <a:alpha val="100000"/>
                  </a:srgbClr>
                </a:solidFill>
                <a:latin typeface="思源黑体 CN Regular"/>
                <a:ea typeface="思源黑体 CN Regular"/>
                <a:cs typeface="思源黑体 CN Regular"/>
              </a:rPr>
              <a:t>4</a:t>
            </a:r>
            <a:r>
              <a:rPr lang="zh-CN" altLang="en-US" sz="1800" b="0" i="0">
                <a:solidFill>
                  <a:srgbClr val="EBBA6F">
                    <a:alpha val="100000"/>
                  </a:srgbClr>
                </a:solidFill>
                <a:latin typeface="思源黑体 CN Regular"/>
                <a:ea typeface="思源黑体 CN Regular"/>
                <a:cs typeface="思源黑体 CN Regular"/>
              </a:rPr>
              <a:t>月</a:t>
            </a:r>
            <a:r>
              <a:rPr lang="en-US" altLang="zh-CN" sz="1800" b="0" i="0">
                <a:solidFill>
                  <a:srgbClr val="EBBA6F">
                    <a:alpha val="100000"/>
                  </a:srgbClr>
                </a:solidFill>
                <a:latin typeface="思源黑体 CN Regular"/>
                <a:ea typeface="思源黑体 CN Regular"/>
                <a:cs typeface="思源黑体 CN Regular"/>
              </a:rPr>
              <a:t>16</a:t>
            </a:r>
            <a:r>
              <a:rPr lang="zh-CN" altLang="en-US" sz="1800" b="0" i="0">
                <a:solidFill>
                  <a:srgbClr val="EBBA6F">
                    <a:alpha val="100000"/>
                  </a:srgbClr>
                </a:solidFill>
                <a:latin typeface="思源黑体 CN Regular"/>
                <a:ea typeface="思源黑体 CN Regular"/>
                <a:cs typeface="思源黑体 CN Regular"/>
              </a:rPr>
              <a:t>日</a:t>
            </a:r>
            <a:endParaRPr lang="zh-CN" altLang="en-US" sz="1800" b="0" i="0">
              <a:solidFill>
                <a:srgbClr val="EBBA6F">
                  <a:alpha val="100000"/>
                </a:srgbClr>
              </a:solidFill>
              <a:latin typeface="思源黑体 CN Regular"/>
              <a:ea typeface="思源黑体 CN Regular"/>
              <a:cs typeface="思源黑体 CN Regular"/>
            </a:endParaRPr>
          </a:p>
        </p:txBody>
      </p:sp>
      <p:pic>
        <p:nvPicPr>
          <p:cNvPr id="6" name="Picture 6"/>
          <p:cNvPicPr>
            <a:picLocks noChangeAspect="1"/>
          </p:cNvPicPr>
          <p:nvPr/>
        </p:nvPicPr>
        <p:blipFill>
          <a:blip r:embed="rId1"/>
          <a:stretch>
            <a:fillRect/>
          </a:stretch>
        </p:blipFill>
        <p:spPr>
          <a:xfrm>
            <a:off x="10807700" y="6413500"/>
            <a:ext cx="1193800" cy="254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4caed9d6-c0d5-402d-a13c-963d60d56e8c"/>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solidFill>
                  <a:srgbClr val="FFFFFF">
                    <a:alpha val="100000"/>
                    <a:tint val="75000"/>
                  </a:srgbClr>
                </a:solidFill>
                <a:latin typeface="Average"/>
                <a:ea typeface="Average"/>
                <a:cs typeface="Average"/>
              </a:rPr>
              <a:t>4</a:t>
            </a:r>
            <a:endParaRPr lang="en-US" sz="1100"/>
          </a:p>
        </p:txBody>
      </p:sp>
      <p:grpSp>
        <p:nvGrpSpPr>
          <p:cNvPr id="3" name="Group 3"/>
          <p:cNvGrpSpPr/>
          <p:nvPr>
            <p:custDataLst>
              <p:tags r:id="rId1"/>
            </p:custDataLst>
          </p:nvPr>
        </p:nvGrpSpPr>
        <p:grpSpPr>
          <a:xfrm rot="0">
            <a:off x="0" y="1130300"/>
            <a:ext cx="12192000" cy="4314836"/>
            <a:chOff x="0" y="1130300"/>
            <a:chExt cx="12192000" cy="4314836"/>
          </a:xfrm>
        </p:grpSpPr>
        <p:sp>
          <p:nvSpPr>
            <p:cNvPr id="4" name="AutoShape 4"/>
            <p:cNvSpPr/>
            <p:nvPr>
              <p:custDataLst>
                <p:tags r:id="rId2"/>
              </p:custDataLst>
            </p:nvPr>
          </p:nvSpPr>
          <p:spPr>
            <a:xfrm>
              <a:off x="0" y="3406786"/>
              <a:ext cx="12192000" cy="1076060"/>
            </a:xfrm>
            <a:prstGeom prst="rect">
              <a:avLst/>
            </a:prstGeom>
            <a:solidFill>
              <a:srgbClr val="EBBA6F">
                <a:alpha val="10196"/>
              </a:srgbClr>
            </a:solidFill>
            <a:ln>
              <a:prstDash val="solid"/>
              <a:headEnd type="none"/>
              <a:tailEnd type="none"/>
            </a:ln>
          </p:spPr>
        </p:sp>
        <p:sp>
          <p:nvSpPr>
            <p:cNvPr id="5" name="AutoShape 5"/>
            <p:cNvSpPr/>
            <p:nvPr>
              <p:custDataLst>
                <p:tags r:id="rId3"/>
              </p:custDataLst>
            </p:nvPr>
          </p:nvSpPr>
          <p:spPr>
            <a:xfrm>
              <a:off x="660400" y="3944816"/>
              <a:ext cx="10858500" cy="0"/>
            </a:xfrm>
            <a:prstGeom prst="straightConnector1">
              <a:avLst/>
            </a:prstGeom>
            <a:ln w="6350">
              <a:gradFill>
                <a:gsLst>
                  <a:gs pos="0">
                    <a:srgbClr val="EBBA6F">
                      <a:alpha val="0"/>
                    </a:srgbClr>
                  </a:gs>
                  <a:gs pos="100000">
                    <a:srgbClr val="EBBA6F">
                      <a:alpha val="100000"/>
                    </a:srgbClr>
                  </a:gs>
                </a:gsLst>
                <a:lin ang="0"/>
              </a:gradFill>
              <a:prstDash val="solid"/>
              <a:headEnd type="none"/>
              <a:tailEnd type="triangle"/>
            </a:ln>
          </p:spPr>
        </p:sp>
        <p:grpSp>
          <p:nvGrpSpPr>
            <p:cNvPr id="6" name="Group 6"/>
            <p:cNvGrpSpPr/>
            <p:nvPr/>
          </p:nvGrpSpPr>
          <p:grpSpPr>
            <a:xfrm rot="0">
              <a:off x="1295400" y="3650127"/>
              <a:ext cx="2568077" cy="1795009"/>
              <a:chOff x="1065475" y="3650127"/>
              <a:chExt cx="2568077" cy="1795009"/>
            </a:xfrm>
          </p:grpSpPr>
          <p:sp>
            <p:nvSpPr>
              <p:cNvPr id="7" name="TextBox 7"/>
              <p:cNvSpPr txBox="1"/>
              <p:nvPr>
                <p:custDataLst>
                  <p:tags r:id="rId4"/>
                </p:custDataLst>
              </p:nvPr>
            </p:nvSpPr>
            <p:spPr>
              <a:xfrm>
                <a:off x="1411803" y="3650127"/>
                <a:ext cx="586504" cy="586504"/>
              </a:xfrm>
              <a:prstGeom prst="ellipse">
                <a:avLst/>
              </a:prstGeom>
              <a:gradFill>
                <a:gsLst>
                  <a:gs pos="0">
                    <a:srgbClr val="EBBA6F">
                      <a:alpha val="100000"/>
                      <a:lumMod val="60000"/>
                      <a:lumOff val="40000"/>
                    </a:srgbClr>
                  </a:gs>
                  <a:gs pos="75000">
                    <a:srgbClr val="EBBA6F">
                      <a:alpha val="100000"/>
                    </a:srgbClr>
                  </a:gs>
                </a:gsLst>
                <a:lin ang="2700000"/>
              </a:gradFill>
              <a:ln w="12700">
                <a:solidFill>
                  <a:srgbClr val="121420">
                    <a:alpha val="100000"/>
                  </a:srgbClr>
                </a:solidFill>
                <a:prstDash val="solid"/>
                <a:headEnd type="none"/>
                <a:tailEnd type="none"/>
              </a:ln>
            </p:spPr>
            <p:txBody>
              <a:bodyPr vert="horz" wrap="none" lIns="91440" tIns="45720" rIns="91440" bIns="45720" rtlCol="0" anchor="ctr" anchorCtr="0"/>
              <a:lstStyle/>
              <a:p>
                <a:pPr algn="ctr">
                  <a:defRPr/>
                </a:pPr>
                <a:r>
                  <a:rPr lang="en-US" sz="1800" b="1" i="0">
                    <a:solidFill>
                      <a:srgbClr val="FFFFFF">
                        <a:alpha val="100000"/>
                      </a:srgbClr>
                    </a:solidFill>
                    <a:latin typeface="Arial" panose="020B0604020202020204"/>
                    <a:ea typeface="Arial" panose="020B0604020202020204"/>
                    <a:cs typeface="Arial" panose="020B0604020202020204"/>
                  </a:rPr>
                  <a:t>01</a:t>
                </a:r>
                <a:endParaRPr lang="en-US" sz="1100"/>
              </a:p>
            </p:txBody>
          </p:sp>
          <p:grpSp>
            <p:nvGrpSpPr>
              <p:cNvPr id="8" name="Group 8"/>
              <p:cNvGrpSpPr/>
              <p:nvPr/>
            </p:nvGrpSpPr>
            <p:grpSpPr>
              <a:xfrm rot="0">
                <a:off x="1065475" y="4236631"/>
                <a:ext cx="2568077" cy="1208505"/>
                <a:chOff x="2305227" y="4601292"/>
                <a:chExt cx="2568077" cy="1208505"/>
              </a:xfrm>
            </p:grpSpPr>
            <p:sp>
              <p:nvSpPr>
                <p:cNvPr id="9" name="TextBox 9"/>
                <p:cNvSpPr txBox="1"/>
                <p:nvPr>
                  <p:custDataLst>
                    <p:tags r:id="rId5"/>
                  </p:custDataLst>
                </p:nvPr>
              </p:nvSpPr>
              <p:spPr>
                <a:xfrm>
                  <a:off x="2305227" y="5100373"/>
                  <a:ext cx="2568077" cy="709424"/>
                </a:xfrm>
                <a:prstGeom prst="rect">
                  <a:avLst/>
                </a:prstGeom>
                <a:ln>
                  <a:headEnd type="none"/>
                  <a:tailEnd type="none"/>
                </a:ln>
              </p:spPr>
              <p:txBody>
                <a:bodyPr vert="horz" wrap="square" lIns="91440" tIns="45720" rIns="91440" bIns="45720" rtlCol="0" anchor="t" anchorCtr="0"/>
                <a:lstStyle/>
                <a:p>
                  <a:pPr algn="l">
                    <a:spcBef>
                      <a:spcPts val="0"/>
                    </a:spcBef>
                    <a:spcAft>
                      <a:spcPts val="0"/>
                    </a:spcAft>
                    <a:defRPr/>
                  </a:pPr>
                  <a:r>
                    <a:rPr lang="en-US" sz="2000" b="1" i="0" strike="noStrike">
                      <a:solidFill>
                        <a:srgbClr val="FFFFFF">
                          <a:alpha val="100000"/>
                        </a:srgbClr>
                      </a:solidFill>
                      <a:latin typeface="汉仪行楷简"/>
                      <a:ea typeface="汉仪行楷简"/>
                      <a:cs typeface="汉仪行楷简"/>
                    </a:rPr>
                    <a:t>作品简介</a:t>
                  </a:r>
                  <a:endParaRPr lang="en-US" sz="1100"/>
                </a:p>
              </p:txBody>
            </p:sp>
            <p:sp>
              <p:nvSpPr>
                <p:cNvPr id="10" name="AutoShape 10"/>
                <p:cNvSpPr/>
                <p:nvPr>
                  <p:custDataLst>
                    <p:tags r:id="rId6"/>
                  </p:custDataLst>
                </p:nvPr>
              </p:nvSpPr>
              <p:spPr>
                <a:xfrm>
                  <a:off x="2954266" y="4601292"/>
                  <a:ext cx="0" cy="387901"/>
                </a:xfrm>
                <a:prstGeom prst="line">
                  <a:avLst/>
                </a:prstGeom>
                <a:ln w="6350">
                  <a:gradFill>
                    <a:gsLst>
                      <a:gs pos="0">
                        <a:srgbClr val="EBBA6F">
                          <a:alpha val="0"/>
                        </a:srgbClr>
                      </a:gs>
                      <a:gs pos="100000">
                        <a:srgbClr val="EBBA6F">
                          <a:alpha val="100000"/>
                        </a:srgbClr>
                      </a:gs>
                    </a:gsLst>
                    <a:lin ang="0"/>
                  </a:gradFill>
                  <a:prstDash val="solid"/>
                  <a:headEnd type="none"/>
                  <a:tailEnd type="triangle"/>
                </a:ln>
              </p:spPr>
            </p:sp>
          </p:grpSp>
        </p:grpSp>
        <p:grpSp>
          <p:nvGrpSpPr>
            <p:cNvPr id="11" name="Group 11"/>
            <p:cNvGrpSpPr/>
            <p:nvPr/>
          </p:nvGrpSpPr>
          <p:grpSpPr>
            <a:xfrm rot="0">
              <a:off x="3352679" y="2444536"/>
              <a:ext cx="2568077" cy="1792095"/>
              <a:chOff x="2749208" y="2444536"/>
              <a:chExt cx="2568077" cy="1792095"/>
            </a:xfrm>
          </p:grpSpPr>
          <p:sp>
            <p:nvSpPr>
              <p:cNvPr id="12" name="TextBox 12"/>
              <p:cNvSpPr txBox="1"/>
              <p:nvPr>
                <p:custDataLst>
                  <p:tags r:id="rId7"/>
                </p:custDataLst>
              </p:nvPr>
            </p:nvSpPr>
            <p:spPr>
              <a:xfrm>
                <a:off x="3088485" y="3650127"/>
                <a:ext cx="586504" cy="586504"/>
              </a:xfrm>
              <a:prstGeom prst="ellipse">
                <a:avLst/>
              </a:prstGeom>
              <a:gradFill>
                <a:gsLst>
                  <a:gs pos="0">
                    <a:srgbClr val="33CCFF">
                      <a:alpha val="100000"/>
                      <a:lumMod val="60000"/>
                      <a:lumOff val="40000"/>
                    </a:srgbClr>
                  </a:gs>
                  <a:gs pos="75000">
                    <a:srgbClr val="33CCFF">
                      <a:alpha val="100000"/>
                    </a:srgbClr>
                  </a:gs>
                </a:gsLst>
                <a:lin ang="2700000"/>
              </a:gradFill>
              <a:ln w="12700">
                <a:solidFill>
                  <a:srgbClr val="121420">
                    <a:alpha val="100000"/>
                  </a:srgbClr>
                </a:solidFill>
                <a:prstDash val="solid"/>
                <a:headEnd type="none"/>
                <a:tailEnd type="none"/>
              </a:ln>
            </p:spPr>
            <p:txBody>
              <a:bodyPr vert="horz" wrap="none" lIns="91440" tIns="45720" rIns="91440" bIns="45720" rtlCol="0" anchor="ctr" anchorCtr="0"/>
              <a:lstStyle/>
              <a:p>
                <a:pPr algn="ctr">
                  <a:defRPr/>
                </a:pPr>
                <a:r>
                  <a:rPr lang="en-US" sz="2000" b="1" i="0">
                    <a:solidFill>
                      <a:srgbClr val="FFFFFF">
                        <a:alpha val="100000"/>
                      </a:srgbClr>
                    </a:solidFill>
                    <a:latin typeface="Arial" panose="020B0604020202020204"/>
                    <a:ea typeface="Arial" panose="020B0604020202020204"/>
                    <a:cs typeface="Arial" panose="020B0604020202020204"/>
                  </a:rPr>
                  <a:t>02</a:t>
                </a:r>
                <a:endParaRPr lang="en-US" sz="1100"/>
              </a:p>
            </p:txBody>
          </p:sp>
          <p:grpSp>
            <p:nvGrpSpPr>
              <p:cNvPr id="13" name="Group 13"/>
              <p:cNvGrpSpPr/>
              <p:nvPr/>
            </p:nvGrpSpPr>
            <p:grpSpPr>
              <a:xfrm rot="0">
                <a:off x="2749208" y="2444536"/>
                <a:ext cx="2568077" cy="1202716"/>
                <a:chOff x="2321737" y="5319285"/>
                <a:chExt cx="2568077" cy="1202716"/>
              </a:xfrm>
            </p:grpSpPr>
            <p:sp>
              <p:nvSpPr>
                <p:cNvPr id="14" name="TextBox 14"/>
                <p:cNvSpPr txBox="1"/>
                <p:nvPr>
                  <p:custDataLst>
                    <p:tags r:id="rId8"/>
                  </p:custDataLst>
                </p:nvPr>
              </p:nvSpPr>
              <p:spPr>
                <a:xfrm>
                  <a:off x="2321737" y="5319285"/>
                  <a:ext cx="2568077" cy="709424"/>
                </a:xfrm>
                <a:prstGeom prst="rect">
                  <a:avLst/>
                </a:prstGeom>
                <a:ln>
                  <a:headEnd type="none"/>
                  <a:tailEnd type="none"/>
                </a:ln>
              </p:spPr>
              <p:txBody>
                <a:bodyPr vert="horz" wrap="square" lIns="91440" tIns="45720" rIns="91440" bIns="45720" rtlCol="0" anchor="b" anchorCtr="0"/>
                <a:lstStyle/>
                <a:p>
                  <a:pPr algn="l">
                    <a:spcBef>
                      <a:spcPts val="0"/>
                    </a:spcBef>
                    <a:spcAft>
                      <a:spcPts val="0"/>
                    </a:spcAft>
                    <a:defRPr/>
                  </a:pPr>
                  <a:r>
                    <a:rPr lang="en-US" sz="2000" b="1" i="0" strike="noStrike">
                      <a:solidFill>
                        <a:srgbClr val="FFFFFF">
                          <a:alpha val="100000"/>
                        </a:srgbClr>
                      </a:solidFill>
                      <a:latin typeface="汉仪行楷简"/>
                      <a:ea typeface="汉仪行楷简"/>
                      <a:cs typeface="汉仪行楷简"/>
                    </a:rPr>
                    <a:t>市场分析</a:t>
                  </a:r>
                  <a:endParaRPr lang="en-US" sz="1100"/>
                </a:p>
              </p:txBody>
            </p:sp>
            <p:sp>
              <p:nvSpPr>
                <p:cNvPr id="15" name="AutoShape 15"/>
                <p:cNvSpPr/>
                <p:nvPr>
                  <p:custDataLst>
                    <p:tags r:id="rId9"/>
                  </p:custDataLst>
                </p:nvPr>
              </p:nvSpPr>
              <p:spPr>
                <a:xfrm flipV="1">
                  <a:off x="2954266" y="6134100"/>
                  <a:ext cx="0" cy="387901"/>
                </a:xfrm>
                <a:prstGeom prst="line">
                  <a:avLst/>
                </a:prstGeom>
                <a:ln w="6350">
                  <a:gradFill>
                    <a:gsLst>
                      <a:gs pos="0">
                        <a:srgbClr val="EBBA6F">
                          <a:alpha val="0"/>
                        </a:srgbClr>
                      </a:gs>
                      <a:gs pos="100000">
                        <a:srgbClr val="EBBA6F">
                          <a:alpha val="100000"/>
                        </a:srgbClr>
                      </a:gs>
                    </a:gsLst>
                    <a:lin ang="0"/>
                  </a:gradFill>
                  <a:prstDash val="solid"/>
                  <a:headEnd type="none"/>
                  <a:tailEnd type="triangle"/>
                </a:ln>
              </p:spPr>
            </p:sp>
          </p:grpSp>
        </p:grpSp>
        <p:sp>
          <p:nvSpPr>
            <p:cNvPr id="16" name="AutoShape 16"/>
            <p:cNvSpPr/>
            <p:nvPr/>
          </p:nvSpPr>
          <p:spPr>
            <a:xfrm>
              <a:off x="666750" y="1130300"/>
              <a:ext cx="10858500" cy="1002918"/>
            </a:xfrm>
            <a:prstGeom prst="rect">
              <a:avLst/>
            </a:prstGeom>
            <a:ln>
              <a:prstDash val="solid"/>
              <a:headEnd type="none"/>
              <a:tailEnd type="none"/>
            </a:ln>
          </p:spPr>
        </p:sp>
        <p:grpSp>
          <p:nvGrpSpPr>
            <p:cNvPr id="17" name="Group 17"/>
            <p:cNvGrpSpPr/>
            <p:nvPr/>
          </p:nvGrpSpPr>
          <p:grpSpPr>
            <a:xfrm rot="0">
              <a:off x="5486158" y="3650127"/>
              <a:ext cx="2568077" cy="1783579"/>
              <a:chOff x="4508417" y="3650127"/>
              <a:chExt cx="2568077" cy="1783579"/>
            </a:xfrm>
          </p:grpSpPr>
          <p:sp>
            <p:nvSpPr>
              <p:cNvPr id="18" name="TextBox 18"/>
              <p:cNvSpPr txBox="1"/>
              <p:nvPr>
                <p:custDataLst>
                  <p:tags r:id="rId10"/>
                </p:custDataLst>
              </p:nvPr>
            </p:nvSpPr>
            <p:spPr>
              <a:xfrm>
                <a:off x="4765167" y="3650127"/>
                <a:ext cx="586504" cy="586504"/>
              </a:xfrm>
              <a:prstGeom prst="ellipse">
                <a:avLst/>
              </a:prstGeom>
              <a:gradFill>
                <a:gsLst>
                  <a:gs pos="0">
                    <a:srgbClr val="EBBA6F">
                      <a:alpha val="100000"/>
                      <a:lumMod val="60000"/>
                      <a:lumOff val="40000"/>
                    </a:srgbClr>
                  </a:gs>
                  <a:gs pos="75000">
                    <a:srgbClr val="EBBA6F">
                      <a:alpha val="100000"/>
                    </a:srgbClr>
                  </a:gs>
                </a:gsLst>
                <a:lin ang="2700000"/>
              </a:gradFill>
              <a:ln w="12700">
                <a:solidFill>
                  <a:srgbClr val="121420">
                    <a:alpha val="100000"/>
                  </a:srgbClr>
                </a:solidFill>
                <a:prstDash val="solid"/>
                <a:headEnd type="none"/>
                <a:tailEnd type="none"/>
              </a:ln>
            </p:spPr>
            <p:txBody>
              <a:bodyPr vert="horz" wrap="none" lIns="91440" tIns="45720" rIns="91440" bIns="45720" rtlCol="0" anchor="ctr" anchorCtr="0"/>
              <a:lstStyle/>
              <a:p>
                <a:pPr algn="ctr">
                  <a:defRPr/>
                </a:pPr>
                <a:r>
                  <a:rPr lang="en-US" sz="1800" b="1" i="0">
                    <a:solidFill>
                      <a:srgbClr val="FFFFFF">
                        <a:alpha val="100000"/>
                      </a:srgbClr>
                    </a:solidFill>
                    <a:latin typeface="Arial" panose="020B0604020202020204"/>
                    <a:ea typeface="Arial" panose="020B0604020202020204"/>
                    <a:cs typeface="Arial" panose="020B0604020202020204"/>
                  </a:rPr>
                  <a:t>03</a:t>
                </a:r>
                <a:endParaRPr lang="en-US" sz="1100"/>
              </a:p>
            </p:txBody>
          </p:sp>
          <p:grpSp>
            <p:nvGrpSpPr>
              <p:cNvPr id="19" name="Group 19"/>
              <p:cNvGrpSpPr/>
              <p:nvPr/>
            </p:nvGrpSpPr>
            <p:grpSpPr>
              <a:xfrm rot="0">
                <a:off x="4508417" y="4236631"/>
                <a:ext cx="2568077" cy="1197075"/>
                <a:chOff x="2427147" y="4601292"/>
                <a:chExt cx="2568077" cy="1197075"/>
              </a:xfrm>
            </p:grpSpPr>
            <p:sp>
              <p:nvSpPr>
                <p:cNvPr id="20" name="TextBox 20"/>
                <p:cNvSpPr txBox="1"/>
                <p:nvPr>
                  <p:custDataLst>
                    <p:tags r:id="rId11"/>
                  </p:custDataLst>
                </p:nvPr>
              </p:nvSpPr>
              <p:spPr>
                <a:xfrm>
                  <a:off x="2427147" y="5088943"/>
                  <a:ext cx="2568077" cy="709424"/>
                </a:xfrm>
                <a:prstGeom prst="rect">
                  <a:avLst/>
                </a:prstGeom>
                <a:ln>
                  <a:headEnd type="none"/>
                  <a:tailEnd type="none"/>
                </a:ln>
              </p:spPr>
              <p:txBody>
                <a:bodyPr vert="horz" wrap="square" lIns="91440" tIns="45720" rIns="91440" bIns="45720" rtlCol="0" anchor="t" anchorCtr="0"/>
                <a:lstStyle/>
                <a:p>
                  <a:pPr algn="l">
                    <a:spcBef>
                      <a:spcPts val="0"/>
                    </a:spcBef>
                    <a:spcAft>
                      <a:spcPts val="0"/>
                    </a:spcAft>
                    <a:defRPr/>
                  </a:pPr>
                  <a:r>
                    <a:rPr lang="en-US" sz="2000" b="1" i="0" strike="noStrike">
                      <a:solidFill>
                        <a:srgbClr val="FFFFFF">
                          <a:alpha val="100000"/>
                        </a:srgbClr>
                      </a:solidFill>
                      <a:latin typeface="汉仪行楷简"/>
                      <a:ea typeface="汉仪行楷简"/>
                      <a:cs typeface="汉仪行楷简"/>
                    </a:rPr>
                    <a:t>应用价值</a:t>
                  </a:r>
                  <a:endParaRPr lang="en-US" sz="1100"/>
                </a:p>
              </p:txBody>
            </p:sp>
            <p:sp>
              <p:nvSpPr>
                <p:cNvPr id="21" name="AutoShape 21"/>
                <p:cNvSpPr/>
                <p:nvPr>
                  <p:custDataLst>
                    <p:tags r:id="rId12"/>
                  </p:custDataLst>
                </p:nvPr>
              </p:nvSpPr>
              <p:spPr>
                <a:xfrm>
                  <a:off x="2954266" y="4601292"/>
                  <a:ext cx="0" cy="387901"/>
                </a:xfrm>
                <a:prstGeom prst="line">
                  <a:avLst/>
                </a:prstGeom>
                <a:ln w="6350">
                  <a:gradFill>
                    <a:gsLst>
                      <a:gs pos="0">
                        <a:srgbClr val="EBBA6F">
                          <a:alpha val="0"/>
                        </a:srgbClr>
                      </a:gs>
                      <a:gs pos="100000">
                        <a:srgbClr val="EBBA6F">
                          <a:alpha val="100000"/>
                        </a:srgbClr>
                      </a:gs>
                    </a:gsLst>
                    <a:lin ang="0"/>
                  </a:gradFill>
                  <a:prstDash val="solid"/>
                  <a:headEnd type="none"/>
                  <a:tailEnd type="triangle"/>
                </a:ln>
              </p:spPr>
            </p:sp>
          </p:grpSp>
        </p:grpSp>
        <p:grpSp>
          <p:nvGrpSpPr>
            <p:cNvPr id="22" name="Group 22"/>
            <p:cNvGrpSpPr/>
            <p:nvPr/>
          </p:nvGrpSpPr>
          <p:grpSpPr>
            <a:xfrm rot="0">
              <a:off x="7544072" y="2443901"/>
              <a:ext cx="2568077" cy="1792730"/>
              <a:chOff x="6225127" y="2443901"/>
              <a:chExt cx="2568077" cy="1792730"/>
            </a:xfrm>
          </p:grpSpPr>
          <p:sp>
            <p:nvSpPr>
              <p:cNvPr id="23" name="TextBox 23"/>
              <p:cNvSpPr txBox="1"/>
              <p:nvPr>
                <p:custDataLst>
                  <p:tags r:id="rId13"/>
                </p:custDataLst>
              </p:nvPr>
            </p:nvSpPr>
            <p:spPr>
              <a:xfrm>
                <a:off x="6441849" y="3650127"/>
                <a:ext cx="586504" cy="586504"/>
              </a:xfrm>
              <a:prstGeom prst="ellipse">
                <a:avLst/>
              </a:prstGeom>
              <a:gradFill>
                <a:gsLst>
                  <a:gs pos="0">
                    <a:srgbClr val="33CCFF">
                      <a:alpha val="100000"/>
                      <a:lumMod val="60000"/>
                      <a:lumOff val="40000"/>
                    </a:srgbClr>
                  </a:gs>
                  <a:gs pos="75000">
                    <a:srgbClr val="33CCFF">
                      <a:alpha val="100000"/>
                    </a:srgbClr>
                  </a:gs>
                </a:gsLst>
                <a:lin ang="2700000"/>
              </a:gradFill>
              <a:ln w="12700">
                <a:solidFill>
                  <a:srgbClr val="121420">
                    <a:alpha val="100000"/>
                  </a:srgbClr>
                </a:solidFill>
                <a:prstDash val="solid"/>
                <a:headEnd type="none"/>
                <a:tailEnd type="none"/>
              </a:ln>
            </p:spPr>
            <p:txBody>
              <a:bodyPr vert="horz" wrap="none" lIns="91440" tIns="45720" rIns="91440" bIns="45720" rtlCol="0" anchor="ctr" anchorCtr="0"/>
              <a:lstStyle/>
              <a:p>
                <a:pPr algn="ctr">
                  <a:defRPr/>
                </a:pPr>
                <a:r>
                  <a:rPr lang="en-US" sz="2000" b="1" i="0">
                    <a:solidFill>
                      <a:srgbClr val="FFFFFF">
                        <a:alpha val="100000"/>
                      </a:srgbClr>
                    </a:solidFill>
                    <a:latin typeface="Arial" panose="020B0604020202020204"/>
                    <a:ea typeface="Arial" panose="020B0604020202020204"/>
                    <a:cs typeface="Arial" panose="020B0604020202020204"/>
                  </a:rPr>
                  <a:t>04</a:t>
                </a:r>
                <a:endParaRPr lang="en-US" sz="1100"/>
              </a:p>
            </p:txBody>
          </p:sp>
          <p:grpSp>
            <p:nvGrpSpPr>
              <p:cNvPr id="24" name="Group 24"/>
              <p:cNvGrpSpPr/>
              <p:nvPr/>
            </p:nvGrpSpPr>
            <p:grpSpPr>
              <a:xfrm rot="0">
                <a:off x="6225127" y="2443901"/>
                <a:ext cx="2568077" cy="1203351"/>
                <a:chOff x="2444292" y="5318650"/>
                <a:chExt cx="2568077" cy="1203351"/>
              </a:xfrm>
            </p:grpSpPr>
            <p:sp>
              <p:nvSpPr>
                <p:cNvPr id="25" name="TextBox 25"/>
                <p:cNvSpPr txBox="1"/>
                <p:nvPr>
                  <p:custDataLst>
                    <p:tags r:id="rId14"/>
                  </p:custDataLst>
                </p:nvPr>
              </p:nvSpPr>
              <p:spPr>
                <a:xfrm>
                  <a:off x="2444292" y="5318650"/>
                  <a:ext cx="2568077" cy="709424"/>
                </a:xfrm>
                <a:prstGeom prst="rect">
                  <a:avLst/>
                </a:prstGeom>
                <a:ln>
                  <a:headEnd type="none"/>
                  <a:tailEnd type="none"/>
                </a:ln>
              </p:spPr>
              <p:txBody>
                <a:bodyPr vert="horz" wrap="square" lIns="91440" tIns="45720" rIns="91440" bIns="45720" rtlCol="0" anchor="b" anchorCtr="0"/>
                <a:lstStyle/>
                <a:p>
                  <a:pPr algn="l">
                    <a:spcBef>
                      <a:spcPts val="0"/>
                    </a:spcBef>
                    <a:spcAft>
                      <a:spcPts val="0"/>
                    </a:spcAft>
                    <a:defRPr/>
                  </a:pPr>
                  <a:r>
                    <a:rPr lang="en-US" sz="2000" b="1" i="0" strike="noStrike">
                      <a:solidFill>
                        <a:srgbClr val="FFFFFF">
                          <a:alpha val="100000"/>
                        </a:srgbClr>
                      </a:solidFill>
                      <a:latin typeface="汉仪行楷简"/>
                      <a:ea typeface="汉仪行楷简"/>
                      <a:cs typeface="汉仪行楷简"/>
                    </a:rPr>
                    <a:t>项目展示</a:t>
                  </a:r>
                  <a:endParaRPr lang="en-US" sz="1100"/>
                </a:p>
              </p:txBody>
            </p:sp>
            <p:sp>
              <p:nvSpPr>
                <p:cNvPr id="26" name="AutoShape 26"/>
                <p:cNvSpPr/>
                <p:nvPr>
                  <p:custDataLst>
                    <p:tags r:id="rId15"/>
                  </p:custDataLst>
                </p:nvPr>
              </p:nvSpPr>
              <p:spPr>
                <a:xfrm flipV="1">
                  <a:off x="2954266" y="6134100"/>
                  <a:ext cx="0" cy="387901"/>
                </a:xfrm>
                <a:prstGeom prst="line">
                  <a:avLst/>
                </a:prstGeom>
                <a:ln w="6350">
                  <a:gradFill>
                    <a:gsLst>
                      <a:gs pos="0">
                        <a:srgbClr val="EBBA6F">
                          <a:alpha val="0"/>
                        </a:srgbClr>
                      </a:gs>
                      <a:gs pos="100000">
                        <a:srgbClr val="EBBA6F">
                          <a:alpha val="100000"/>
                        </a:srgbClr>
                      </a:gs>
                    </a:gsLst>
                    <a:lin ang="0"/>
                  </a:gradFill>
                  <a:prstDash val="solid"/>
                  <a:headEnd type="none"/>
                  <a:tailEnd type="triangle"/>
                </a:ln>
              </p:spPr>
            </p:sp>
          </p:grpSp>
        </p:grpSp>
        <p:grpSp>
          <p:nvGrpSpPr>
            <p:cNvPr id="27" name="Group 27"/>
            <p:cNvGrpSpPr/>
            <p:nvPr/>
          </p:nvGrpSpPr>
          <p:grpSpPr>
            <a:xfrm rot="0">
              <a:off x="9525151" y="3650127"/>
              <a:ext cx="2568077" cy="1792469"/>
              <a:chOff x="7854819" y="3650127"/>
              <a:chExt cx="2568077" cy="1792469"/>
            </a:xfrm>
          </p:grpSpPr>
          <p:sp>
            <p:nvSpPr>
              <p:cNvPr id="28" name="TextBox 28"/>
              <p:cNvSpPr txBox="1"/>
              <p:nvPr>
                <p:custDataLst>
                  <p:tags r:id="rId16"/>
                </p:custDataLst>
              </p:nvPr>
            </p:nvSpPr>
            <p:spPr>
              <a:xfrm>
                <a:off x="8118531" y="3650127"/>
                <a:ext cx="586504" cy="586504"/>
              </a:xfrm>
              <a:prstGeom prst="ellipse">
                <a:avLst/>
              </a:prstGeom>
              <a:gradFill>
                <a:gsLst>
                  <a:gs pos="0">
                    <a:srgbClr val="EBBA6F">
                      <a:alpha val="100000"/>
                      <a:lumMod val="60000"/>
                      <a:lumOff val="40000"/>
                    </a:srgbClr>
                  </a:gs>
                  <a:gs pos="75000">
                    <a:srgbClr val="EBBA6F">
                      <a:alpha val="100000"/>
                    </a:srgbClr>
                  </a:gs>
                </a:gsLst>
                <a:lin ang="2700000"/>
              </a:gradFill>
              <a:ln w="12700">
                <a:solidFill>
                  <a:srgbClr val="121420">
                    <a:alpha val="100000"/>
                  </a:srgbClr>
                </a:solidFill>
                <a:prstDash val="solid"/>
                <a:headEnd type="none"/>
                <a:tailEnd type="none"/>
              </a:ln>
            </p:spPr>
            <p:txBody>
              <a:bodyPr vert="horz" wrap="none" lIns="91440" tIns="45720" rIns="91440" bIns="45720" rtlCol="0" anchor="ctr" anchorCtr="0"/>
              <a:lstStyle/>
              <a:p>
                <a:pPr algn="ctr">
                  <a:defRPr/>
                </a:pPr>
                <a:r>
                  <a:rPr lang="en-US" sz="1800" b="1" i="0">
                    <a:solidFill>
                      <a:srgbClr val="FFFFFF">
                        <a:alpha val="100000"/>
                      </a:srgbClr>
                    </a:solidFill>
                    <a:latin typeface="Arial" panose="020B0604020202020204"/>
                    <a:ea typeface="Arial" panose="020B0604020202020204"/>
                    <a:cs typeface="Arial" panose="020B0604020202020204"/>
                  </a:rPr>
                  <a:t>05</a:t>
                </a:r>
                <a:endParaRPr lang="en-US" sz="1100"/>
              </a:p>
            </p:txBody>
          </p:sp>
          <p:grpSp>
            <p:nvGrpSpPr>
              <p:cNvPr id="29" name="Group 29"/>
              <p:cNvGrpSpPr/>
              <p:nvPr/>
            </p:nvGrpSpPr>
            <p:grpSpPr>
              <a:xfrm rot="0">
                <a:off x="7854819" y="4236631"/>
                <a:ext cx="2568077" cy="1205965"/>
                <a:chOff x="2397302" y="4601292"/>
                <a:chExt cx="2568077" cy="1205965"/>
              </a:xfrm>
            </p:grpSpPr>
            <p:sp>
              <p:nvSpPr>
                <p:cNvPr id="30" name="TextBox 30"/>
                <p:cNvSpPr txBox="1"/>
                <p:nvPr>
                  <p:custDataLst>
                    <p:tags r:id="rId17"/>
                  </p:custDataLst>
                </p:nvPr>
              </p:nvSpPr>
              <p:spPr>
                <a:xfrm>
                  <a:off x="2397302" y="5097833"/>
                  <a:ext cx="2568077" cy="709424"/>
                </a:xfrm>
                <a:prstGeom prst="rect">
                  <a:avLst/>
                </a:prstGeom>
                <a:ln>
                  <a:headEnd type="none"/>
                  <a:tailEnd type="none"/>
                </a:ln>
              </p:spPr>
              <p:txBody>
                <a:bodyPr vert="horz" wrap="square" lIns="91440" tIns="45720" rIns="91440" bIns="45720" rtlCol="0" anchor="t" anchorCtr="0"/>
                <a:lstStyle/>
                <a:p>
                  <a:pPr algn="l">
                    <a:spcBef>
                      <a:spcPts val="0"/>
                    </a:spcBef>
                    <a:spcAft>
                      <a:spcPts val="0"/>
                    </a:spcAft>
                    <a:defRPr/>
                  </a:pPr>
                  <a:r>
                    <a:rPr lang="en-US" sz="2000" b="1" i="0" strike="noStrike">
                      <a:solidFill>
                        <a:srgbClr val="FFFFFF">
                          <a:alpha val="100000"/>
                        </a:srgbClr>
                      </a:solidFill>
                      <a:latin typeface="汉仪行楷简"/>
                      <a:ea typeface="汉仪行楷简"/>
                      <a:cs typeface="汉仪行楷简"/>
                    </a:rPr>
                    <a:t>项目总结</a:t>
                  </a:r>
                  <a:endParaRPr lang="en-US" sz="1100"/>
                </a:p>
              </p:txBody>
            </p:sp>
            <p:sp>
              <p:nvSpPr>
                <p:cNvPr id="31" name="AutoShape 31"/>
                <p:cNvSpPr/>
                <p:nvPr>
                  <p:custDataLst>
                    <p:tags r:id="rId18"/>
                  </p:custDataLst>
                </p:nvPr>
              </p:nvSpPr>
              <p:spPr>
                <a:xfrm>
                  <a:off x="2954266" y="4601292"/>
                  <a:ext cx="0" cy="387901"/>
                </a:xfrm>
                <a:prstGeom prst="line">
                  <a:avLst/>
                </a:prstGeom>
                <a:ln w="6350">
                  <a:gradFill>
                    <a:gsLst>
                      <a:gs pos="0">
                        <a:srgbClr val="EBBA6F">
                          <a:alpha val="0"/>
                        </a:srgbClr>
                      </a:gs>
                      <a:gs pos="100000">
                        <a:srgbClr val="EBBA6F">
                          <a:alpha val="100000"/>
                        </a:srgbClr>
                      </a:gs>
                    </a:gsLst>
                    <a:lin ang="0"/>
                  </a:gradFill>
                  <a:prstDash val="solid"/>
                  <a:headEnd type="none"/>
                  <a:tailEnd type="triangle"/>
                </a:ln>
              </p:spPr>
            </p:sp>
          </p:grpSp>
        </p:grpSp>
      </p:grpSp>
      <p:sp>
        <p:nvSpPr>
          <p:cNvPr id="32" name="TextBox 32"/>
          <p:cNvSpPr txBox="1"/>
          <p:nvPr/>
        </p:nvSpPr>
        <p:spPr>
          <a:xfrm>
            <a:off x="1465006" y="304799"/>
            <a:ext cx="9760043" cy="723901"/>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3000" b="0" i="0">
                <a:solidFill>
                  <a:srgbClr val="FFFFFF">
                    <a:alpha val="100000"/>
                  </a:srgbClr>
                </a:solidFill>
                <a:latin typeface="汉仪行楷简"/>
                <a:ea typeface="汉仪行楷简"/>
                <a:cs typeface="汉仪行楷简"/>
              </a:rPr>
              <a:t>目录</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1" y="685616"/>
            <a:ext cx="4894826" cy="1744546"/>
          </a:xfrm>
          <a:prstGeom prst="rect">
            <a:avLst/>
          </a:prstGeom>
          <a:ln>
            <a:headEnd type="none"/>
            <a:tailEnd type="none"/>
          </a:ln>
        </p:spPr>
        <p:txBody>
          <a:bodyPr vert="horz" wrap="square" lIns="91440" tIns="45720" rIns="91440" bIns="45720" rtlCol="0" anchor="ctr" anchorCtr="0"/>
          <a:lstStyle/>
          <a:p>
            <a:pPr algn="l">
              <a:lnSpc>
                <a:spcPct val="100000"/>
              </a:lnSpc>
              <a:spcBef>
                <a:spcPts val="0"/>
              </a:spcBef>
              <a:defRPr/>
            </a:pPr>
            <a:r>
              <a:rPr lang="en-US" sz="4800" b="0" i="0">
                <a:solidFill>
                  <a:srgbClr val="FFFFFF">
                    <a:alpha val="100000"/>
                  </a:srgbClr>
                </a:solidFill>
                <a:latin typeface="汉仪行楷简"/>
                <a:ea typeface="汉仪行楷简"/>
                <a:cs typeface="汉仪行楷简"/>
              </a:rPr>
              <a:t>作品简介</a:t>
            </a:r>
            <a:endParaRPr lang="en-US" sz="1100"/>
          </a:p>
        </p:txBody>
      </p:sp>
      <p:sp>
        <p:nvSpPr>
          <p:cNvPr id="3" name="TextBox 3"/>
          <p:cNvSpPr txBox="1"/>
          <p:nvPr/>
        </p:nvSpPr>
        <p:spPr>
          <a:xfrm>
            <a:off x="762000" y="1981346"/>
            <a:ext cx="6802999" cy="589256"/>
          </a:xfrm>
          <a:prstGeom prst="rect">
            <a:avLst/>
          </a:prstGeom>
          <a:ln>
            <a:headEnd type="none"/>
            <a:tailEnd type="none"/>
          </a:ln>
        </p:spPr>
        <p:txBody>
          <a:bodyPr vert="horz" wrap="square" lIns="91440" tIns="45720" rIns="91440" bIns="45720" rtlCol="0" anchor="t" anchorCtr="0"/>
          <a:lstStyle/>
          <a:p>
            <a:pPr algn="l">
              <a:lnSpc>
                <a:spcPct val="120000"/>
              </a:lnSpc>
              <a:spcBef>
                <a:spcPts val="1000"/>
              </a:spcBef>
              <a:defRPr/>
            </a:pPr>
            <a:r>
              <a:rPr lang="en-US" sz="2800" b="0" i="0">
                <a:solidFill>
                  <a:srgbClr val="EBBA6F">
                    <a:alpha val="100000"/>
                  </a:srgbClr>
                </a:solidFill>
                <a:latin typeface="华文新魏" panose="02010800040101010101" charset="-122"/>
                <a:ea typeface="华文新魏" panose="02010800040101010101" charset="-122"/>
                <a:cs typeface="思源黑体 CN Regular"/>
              </a:rPr>
              <a:t>本章节将全面介绍「清穹智析」可视化平台的创作背景、核心定位以及具备的强大功能，展示其作为一款综合性空气质量分析工具的全貌。</a:t>
            </a:r>
            <a:endParaRPr lang="en-US" sz="2800" b="0" i="0">
              <a:solidFill>
                <a:srgbClr val="EBBA6F">
                  <a:alpha val="100000"/>
                </a:srgbClr>
              </a:solidFill>
              <a:latin typeface="华文新魏" panose="02010800040101010101" charset="-122"/>
              <a:ea typeface="华文新魏" panose="02010800040101010101" charset="-122"/>
              <a:cs typeface="思源黑体 CN Regular"/>
            </a:endParaRPr>
          </a:p>
        </p:txBody>
      </p:sp>
      <p:sp>
        <p:nvSpPr>
          <p:cNvPr id="4" name="TextBox 4"/>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solidFill>
                  <a:srgbClr val="FFFFFF">
                    <a:alpha val="100000"/>
                    <a:tint val="75000"/>
                  </a:srgbClr>
                </a:solidFill>
                <a:latin typeface="Average"/>
                <a:ea typeface="Average"/>
                <a:cs typeface="Average"/>
              </a:rPr>
              <a:t>3</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7423c00-9e08-4258-9a19-69aa29c1496e"/>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solidFill>
                  <a:srgbClr val="FFFFFF">
                    <a:alpha val="100000"/>
                    <a:tint val="75000"/>
                  </a:srgbClr>
                </a:solidFill>
                <a:latin typeface="Average"/>
                <a:ea typeface="Average"/>
                <a:cs typeface="Average"/>
              </a:rPr>
              <a:t>4</a:t>
            </a:r>
            <a:endParaRPr lang="en-US" sz="1100"/>
          </a:p>
        </p:txBody>
      </p:sp>
      <p:grpSp>
        <p:nvGrpSpPr>
          <p:cNvPr id="3" name="Group 3"/>
          <p:cNvGrpSpPr/>
          <p:nvPr/>
        </p:nvGrpSpPr>
        <p:grpSpPr>
          <a:xfrm rot="0">
            <a:off x="660400" y="1130300"/>
            <a:ext cx="10883900" cy="4907622"/>
            <a:chOff x="660400" y="1226478"/>
            <a:chExt cx="10883900" cy="4907622"/>
          </a:xfrm>
        </p:grpSpPr>
        <p:sp>
          <p:nvSpPr>
            <p:cNvPr id="4" name="TextBox 4"/>
            <p:cNvSpPr txBox="1"/>
            <p:nvPr/>
          </p:nvSpPr>
          <p:spPr>
            <a:xfrm>
              <a:off x="660400" y="1226478"/>
              <a:ext cx="10858500" cy="791850"/>
            </a:xfrm>
            <a:prstGeom prst="rect">
              <a:avLst/>
            </a:prstGeom>
            <a:ln>
              <a:headEnd type="none"/>
              <a:tailEnd type="none"/>
            </a:ln>
          </p:spPr>
          <p:txBody>
            <a:bodyPr vert="horz" wrap="square" lIns="91440" tIns="45720" rIns="91440" bIns="45720" rtlCol="0" anchor="t" anchorCtr="1"/>
            <a:lstStyle/>
            <a:p>
              <a:pPr algn="ctr">
                <a:defRPr/>
              </a:pPr>
              <a:r>
                <a:rPr lang="en-US" sz="2400" b="1" i="0">
                  <a:solidFill>
                    <a:srgbClr val="FFFFFF">
                      <a:alpha val="100000"/>
                    </a:srgbClr>
                  </a:solidFill>
                  <a:latin typeface="汉仪行楷简"/>
                  <a:ea typeface="汉仪行楷简"/>
                  <a:cs typeface="汉仪行楷简"/>
                </a:rPr>
                <a:t>清穹智析：数据驱动的空气质量洞察引擎</a:t>
              </a:r>
              <a:endParaRPr lang="en-US" sz="1100"/>
            </a:p>
          </p:txBody>
        </p:sp>
        <p:grpSp>
          <p:nvGrpSpPr>
            <p:cNvPr id="5" name="Group 5"/>
            <p:cNvGrpSpPr/>
            <p:nvPr/>
          </p:nvGrpSpPr>
          <p:grpSpPr>
            <a:xfrm rot="0">
              <a:off x="660400" y="2242588"/>
              <a:ext cx="10858500" cy="1083545"/>
              <a:chOff x="660400" y="1926336"/>
              <a:chExt cx="10858500" cy="916519"/>
            </a:xfrm>
          </p:grpSpPr>
          <p:sp>
            <p:nvSpPr>
              <p:cNvPr id="6" name="TextBox 6"/>
              <p:cNvSpPr txBox="1"/>
              <p:nvPr/>
            </p:nvSpPr>
            <p:spPr>
              <a:xfrm>
                <a:off x="660400" y="1926336"/>
                <a:ext cx="1112726" cy="916519"/>
              </a:xfrm>
              <a:prstGeom prst="roundRect">
                <a:avLst/>
              </a:prstGeom>
              <a:solidFill>
                <a:srgbClr val="EBBA6F">
                  <a:alpha val="100000"/>
                </a:srgbClr>
              </a:solidFill>
              <a:ln>
                <a:prstDash val="solid"/>
                <a:headEnd type="none"/>
                <a:tailEnd type="none"/>
              </a:ln>
            </p:spPr>
            <p:txBody>
              <a:bodyPr vert="horz" wrap="square" lIns="91440" tIns="45720" rIns="91440" bIns="45720" rtlCol="0" anchor="ctr" anchorCtr="0"/>
              <a:lstStyle/>
              <a:p>
                <a:pPr algn="ctr">
                  <a:defRPr/>
                </a:pPr>
                <a:r>
                  <a:rPr lang="en-US" sz="2400" b="1" i="0">
                    <a:solidFill>
                      <a:srgbClr val="FFFFFF">
                        <a:alpha val="100000"/>
                      </a:srgbClr>
                    </a:solidFill>
                    <a:latin typeface="Arial" panose="020B0604020202020204"/>
                    <a:ea typeface="Arial" panose="020B0604020202020204"/>
                    <a:cs typeface="Arial" panose="020B0604020202020204"/>
                  </a:rPr>
                  <a:t>01</a:t>
                </a:r>
                <a:endParaRPr lang="en-US" sz="1100"/>
              </a:p>
            </p:txBody>
          </p:sp>
          <p:sp>
            <p:nvSpPr>
              <p:cNvPr id="7" name="AutoShape 7"/>
              <p:cNvSpPr/>
              <p:nvPr/>
            </p:nvSpPr>
            <p:spPr>
              <a:xfrm>
                <a:off x="2006600" y="1926336"/>
                <a:ext cx="9512300" cy="916519"/>
              </a:xfrm>
              <a:prstGeom prst="roundRect">
                <a:avLst/>
              </a:prstGeom>
              <a:ln w="12700">
                <a:solidFill>
                  <a:srgbClr val="EBBA6F">
                    <a:alpha val="100000"/>
                  </a:srgbClr>
                </a:solidFill>
                <a:prstDash val="solid"/>
                <a:headEnd type="none"/>
                <a:tailEnd type="none"/>
              </a:ln>
            </p:spPr>
          </p:sp>
          <p:sp>
            <p:nvSpPr>
              <p:cNvPr id="8" name="TextBox 8"/>
              <p:cNvSpPr txBox="1"/>
              <p:nvPr/>
            </p:nvSpPr>
            <p:spPr>
              <a:xfrm>
                <a:off x="4927303" y="1986205"/>
                <a:ext cx="6342323" cy="796780"/>
              </a:xfrm>
              <a:prstGeom prst="rect">
                <a:avLst/>
              </a:prstGeom>
              <a:ln>
                <a:headEnd type="none"/>
                <a:tailEnd type="none"/>
              </a:ln>
            </p:spPr>
            <p:txBody>
              <a:bodyPr vert="horz" wrap="square" lIns="91440" tIns="45720" rIns="91440" bIns="45720" rtlCol="0" anchor="ctr" anchorCtr="0"/>
              <a:lstStyle/>
              <a:p>
                <a:pPr algn="l">
                  <a:lnSpc>
                    <a:spcPct val="120000"/>
                  </a:lnSpc>
                  <a:defRPr/>
                </a:pPr>
                <a:r>
                  <a:rPr lang="en-US" sz="1200" b="0" i="0" strike="noStrike">
                    <a:solidFill>
                      <a:srgbClr val="FFFFFF">
                        <a:alpha val="100000"/>
                      </a:srgbClr>
                    </a:solidFill>
                    <a:latin typeface="思源黑体 CN Regular"/>
                    <a:ea typeface="思源黑体 CN Regular"/>
                    <a:cs typeface="思源黑体 CN Regular"/>
                  </a:rPr>
                  <a:t>清穹智析 — </a:t>
                </a:r>
                <a:r>
                  <a:rPr lang="en-US" sz="1200">
                    <a:solidFill>
                      <a:srgbClr val="FFFFFF">
                        <a:alpha val="100000"/>
                      </a:srgbClr>
                    </a:solidFill>
                    <a:latin typeface="思源黑体 CN Regular"/>
                    <a:ea typeface="思源黑体 CN Regular"/>
                    <a:cs typeface="思源黑体 CN Regular"/>
                  </a:rPr>
                  <a:t>空气质量实时分析大数据平台</a:t>
                </a:r>
                <a:endParaRPr lang="en-US" sz="1200">
                  <a:solidFill>
                    <a:srgbClr val="FFFFFF">
                      <a:alpha val="100000"/>
                    </a:srgbClr>
                  </a:solidFill>
                  <a:latin typeface="思源黑体 CN Regular"/>
                  <a:ea typeface="思源黑体 CN Regular"/>
                  <a:cs typeface="思源黑体 CN Regular"/>
                </a:endParaRPr>
              </a:p>
            </p:txBody>
          </p:sp>
          <p:sp>
            <p:nvSpPr>
              <p:cNvPr id="9" name="TextBox 9"/>
              <p:cNvSpPr txBox="1"/>
              <p:nvPr/>
            </p:nvSpPr>
            <p:spPr>
              <a:xfrm>
                <a:off x="2198484" y="1986205"/>
                <a:ext cx="2602116" cy="796780"/>
              </a:xfrm>
              <a:prstGeom prst="rect">
                <a:avLst/>
              </a:prstGeom>
              <a:ln>
                <a:headEnd type="none"/>
                <a:tailEnd type="none"/>
              </a:ln>
            </p:spPr>
            <p:txBody>
              <a:bodyPr vert="horz" wrap="square" lIns="91440" tIns="45720" rIns="91440" bIns="45720" rtlCol="0" anchor="ctr" anchorCtr="0"/>
              <a:lstStyle/>
              <a:p>
                <a:pPr algn="l">
                  <a:defRPr/>
                </a:pPr>
                <a:r>
                  <a:rPr lang="en-US" sz="1800" b="1" i="0">
                    <a:solidFill>
                      <a:srgbClr val="FFFFFF">
                        <a:alpha val="100000"/>
                      </a:srgbClr>
                    </a:solidFill>
                    <a:latin typeface="汉仪行楷简"/>
                    <a:ea typeface="汉仪行楷简"/>
                    <a:cs typeface="汉仪行楷简"/>
                  </a:rPr>
                  <a:t>平台名称</a:t>
                </a:r>
                <a:endParaRPr lang="en-US" sz="1100"/>
              </a:p>
            </p:txBody>
          </p:sp>
        </p:grpSp>
        <p:grpSp>
          <p:nvGrpSpPr>
            <p:cNvPr id="10" name="Group 10"/>
            <p:cNvGrpSpPr/>
            <p:nvPr/>
          </p:nvGrpSpPr>
          <p:grpSpPr>
            <a:xfrm rot="0">
              <a:off x="673100" y="3646571"/>
              <a:ext cx="10858500" cy="1083545"/>
              <a:chOff x="673100" y="3028970"/>
              <a:chExt cx="10858500" cy="916519"/>
            </a:xfrm>
          </p:grpSpPr>
          <p:sp>
            <p:nvSpPr>
              <p:cNvPr id="11" name="TextBox 11"/>
              <p:cNvSpPr txBox="1"/>
              <p:nvPr/>
            </p:nvSpPr>
            <p:spPr>
              <a:xfrm>
                <a:off x="673100" y="3028970"/>
                <a:ext cx="1112726" cy="916519"/>
              </a:xfrm>
              <a:prstGeom prst="roundRect">
                <a:avLst/>
              </a:prstGeom>
              <a:solidFill>
                <a:srgbClr val="33CCFF">
                  <a:alpha val="100000"/>
                </a:srgbClr>
              </a:solidFill>
              <a:ln>
                <a:prstDash val="solid"/>
                <a:headEnd type="none"/>
                <a:tailEnd type="none"/>
              </a:ln>
            </p:spPr>
            <p:txBody>
              <a:bodyPr vert="horz" wrap="square" lIns="91440" tIns="45720" rIns="91440" bIns="45720" rtlCol="0" anchor="ctr" anchorCtr="0"/>
              <a:lstStyle/>
              <a:p>
                <a:pPr algn="ctr">
                  <a:defRPr/>
                </a:pPr>
                <a:r>
                  <a:rPr lang="en-US" sz="2400" b="1" i="0">
                    <a:solidFill>
                      <a:srgbClr val="FFFFFF">
                        <a:alpha val="100000"/>
                      </a:srgbClr>
                    </a:solidFill>
                    <a:latin typeface="Arial" panose="020B0604020202020204"/>
                    <a:ea typeface="Arial" panose="020B0604020202020204"/>
                    <a:cs typeface="Arial" panose="020B0604020202020204"/>
                  </a:rPr>
                  <a:t>02</a:t>
                </a:r>
                <a:endParaRPr lang="en-US" sz="1100"/>
              </a:p>
            </p:txBody>
          </p:sp>
          <p:sp>
            <p:nvSpPr>
              <p:cNvPr id="12" name="AutoShape 12"/>
              <p:cNvSpPr/>
              <p:nvPr/>
            </p:nvSpPr>
            <p:spPr>
              <a:xfrm>
                <a:off x="2019300" y="3028970"/>
                <a:ext cx="9512300" cy="916519"/>
              </a:xfrm>
              <a:prstGeom prst="roundRect">
                <a:avLst/>
              </a:prstGeom>
              <a:ln w="12700">
                <a:solidFill>
                  <a:srgbClr val="EBBA6F">
                    <a:alpha val="100000"/>
                  </a:srgbClr>
                </a:solidFill>
                <a:prstDash val="solid"/>
                <a:headEnd type="none"/>
                <a:tailEnd type="none"/>
              </a:ln>
            </p:spPr>
          </p:sp>
          <p:sp>
            <p:nvSpPr>
              <p:cNvPr id="13" name="TextBox 13"/>
              <p:cNvSpPr txBox="1"/>
              <p:nvPr/>
            </p:nvSpPr>
            <p:spPr>
              <a:xfrm>
                <a:off x="4940003" y="3088839"/>
                <a:ext cx="6342323" cy="796780"/>
              </a:xfrm>
              <a:prstGeom prst="rect">
                <a:avLst/>
              </a:prstGeom>
              <a:ln>
                <a:headEnd type="none"/>
                <a:tailEnd type="none"/>
              </a:ln>
            </p:spPr>
            <p:txBody>
              <a:bodyPr vert="horz" wrap="square" lIns="91440" tIns="45720" rIns="91440" bIns="45720" rtlCol="0" anchor="ctr" anchorCtr="0"/>
              <a:lstStyle/>
              <a:p>
                <a:pPr algn="l">
                  <a:lnSpc>
                    <a:spcPct val="120000"/>
                  </a:lnSpc>
                  <a:defRPr/>
                </a:pPr>
                <a:r>
                  <a:rPr lang="en-US" sz="1200" b="0" i="0" strike="noStrike">
                    <a:solidFill>
                      <a:srgbClr val="FFFFFF">
                        <a:alpha val="100000"/>
                      </a:srgbClr>
                    </a:solidFill>
                    <a:latin typeface="思源黑体 CN Regular"/>
                    <a:ea typeface="思源黑体 CN Regular"/>
                    <a:cs typeface="思源黑体 CN Regular"/>
                  </a:rPr>
                  <a:t>致力于将复杂的空气质量数据转化为直观、易懂的视觉信息，为政府决策、公众出行和企业排放管理提供科学依据。</a:t>
                </a:r>
                <a:endParaRPr lang="en-US" sz="1100"/>
              </a:p>
            </p:txBody>
          </p:sp>
          <p:sp>
            <p:nvSpPr>
              <p:cNvPr id="14" name="TextBox 14"/>
              <p:cNvSpPr txBox="1"/>
              <p:nvPr/>
            </p:nvSpPr>
            <p:spPr>
              <a:xfrm>
                <a:off x="2211184" y="3088839"/>
                <a:ext cx="2602116" cy="796780"/>
              </a:xfrm>
              <a:prstGeom prst="rect">
                <a:avLst/>
              </a:prstGeom>
              <a:ln>
                <a:headEnd type="none"/>
                <a:tailEnd type="none"/>
              </a:ln>
            </p:spPr>
            <p:txBody>
              <a:bodyPr vert="horz" wrap="square" lIns="91440" tIns="45720" rIns="91440" bIns="45720" rtlCol="0" anchor="ctr" anchorCtr="0"/>
              <a:lstStyle/>
              <a:p>
                <a:pPr algn="l">
                  <a:defRPr/>
                </a:pPr>
                <a:r>
                  <a:rPr lang="en-US" sz="1800" b="1" i="0">
                    <a:solidFill>
                      <a:srgbClr val="FFFFFF">
                        <a:alpha val="100000"/>
                      </a:srgbClr>
                    </a:solidFill>
                    <a:latin typeface="汉仪行楷简"/>
                    <a:ea typeface="汉仪行楷简"/>
                    <a:cs typeface="汉仪行楷简"/>
                  </a:rPr>
                  <a:t>核心定位</a:t>
                </a:r>
                <a:endParaRPr lang="en-US" sz="1100"/>
              </a:p>
            </p:txBody>
          </p:sp>
        </p:grpSp>
        <p:grpSp>
          <p:nvGrpSpPr>
            <p:cNvPr id="15" name="Group 15"/>
            <p:cNvGrpSpPr/>
            <p:nvPr/>
          </p:nvGrpSpPr>
          <p:grpSpPr>
            <a:xfrm rot="0">
              <a:off x="685800" y="5050555"/>
              <a:ext cx="10858500" cy="1083545"/>
              <a:chOff x="685800" y="4131605"/>
              <a:chExt cx="10858500" cy="916519"/>
            </a:xfrm>
          </p:grpSpPr>
          <p:sp>
            <p:nvSpPr>
              <p:cNvPr id="16" name="TextBox 16"/>
              <p:cNvSpPr txBox="1"/>
              <p:nvPr/>
            </p:nvSpPr>
            <p:spPr>
              <a:xfrm>
                <a:off x="685800" y="4131605"/>
                <a:ext cx="1112726" cy="916519"/>
              </a:xfrm>
              <a:prstGeom prst="roundRect">
                <a:avLst/>
              </a:prstGeom>
              <a:solidFill>
                <a:srgbClr val="EBBA6F">
                  <a:alpha val="100000"/>
                </a:srgbClr>
              </a:solidFill>
              <a:ln>
                <a:prstDash val="solid"/>
                <a:headEnd type="none"/>
                <a:tailEnd type="none"/>
              </a:ln>
            </p:spPr>
            <p:txBody>
              <a:bodyPr vert="horz" wrap="square" lIns="91440" tIns="45720" rIns="91440" bIns="45720" rtlCol="0" anchor="ctr" anchorCtr="0"/>
              <a:lstStyle/>
              <a:p>
                <a:pPr algn="ctr">
                  <a:defRPr/>
                </a:pPr>
                <a:r>
                  <a:rPr lang="en-US" sz="2400" b="1" i="0">
                    <a:solidFill>
                      <a:srgbClr val="FFFFFF">
                        <a:alpha val="100000"/>
                      </a:srgbClr>
                    </a:solidFill>
                    <a:latin typeface="Arial" panose="020B0604020202020204"/>
                    <a:ea typeface="Arial" panose="020B0604020202020204"/>
                    <a:cs typeface="Arial" panose="020B0604020202020204"/>
                  </a:rPr>
                  <a:t>03</a:t>
                </a:r>
                <a:endParaRPr lang="en-US" sz="1100"/>
              </a:p>
            </p:txBody>
          </p:sp>
          <p:sp>
            <p:nvSpPr>
              <p:cNvPr id="17" name="AutoShape 17"/>
              <p:cNvSpPr/>
              <p:nvPr/>
            </p:nvSpPr>
            <p:spPr>
              <a:xfrm>
                <a:off x="2032000" y="4131605"/>
                <a:ext cx="9512300" cy="916519"/>
              </a:xfrm>
              <a:prstGeom prst="roundRect">
                <a:avLst/>
              </a:prstGeom>
              <a:ln w="12700">
                <a:solidFill>
                  <a:srgbClr val="EBBA6F">
                    <a:alpha val="100000"/>
                  </a:srgbClr>
                </a:solidFill>
                <a:prstDash val="solid"/>
                <a:headEnd type="none"/>
                <a:tailEnd type="none"/>
              </a:ln>
            </p:spPr>
          </p:sp>
          <p:sp>
            <p:nvSpPr>
              <p:cNvPr id="18" name="TextBox 18"/>
              <p:cNvSpPr txBox="1"/>
              <p:nvPr/>
            </p:nvSpPr>
            <p:spPr>
              <a:xfrm>
                <a:off x="4952703" y="4191474"/>
                <a:ext cx="6342323" cy="796780"/>
              </a:xfrm>
              <a:prstGeom prst="rect">
                <a:avLst/>
              </a:prstGeom>
              <a:ln>
                <a:headEnd type="none"/>
                <a:tailEnd type="none"/>
              </a:ln>
            </p:spPr>
            <p:txBody>
              <a:bodyPr vert="horz" wrap="square" lIns="91440" tIns="45720" rIns="91440" bIns="45720" rtlCol="0" anchor="ctr" anchorCtr="0"/>
              <a:lstStyle/>
              <a:p>
                <a:pPr algn="l">
                  <a:lnSpc>
                    <a:spcPct val="120000"/>
                  </a:lnSpc>
                  <a:defRPr/>
                </a:pPr>
                <a:r>
                  <a:rPr lang="en-US" sz="1200" b="0" i="0" strike="noStrike">
                    <a:solidFill>
                      <a:srgbClr val="FFFFFF">
                        <a:alpha val="100000"/>
                      </a:srgbClr>
                    </a:solidFill>
                    <a:latin typeface="思源黑体 CN Regular"/>
                    <a:ea typeface="思源黑体 CN Regular"/>
                    <a:cs typeface="思源黑体 CN Regular"/>
                  </a:rPr>
                  <a:t>打造一个集实时监测、历史分析、归因诊断和趋势预测于一体的综合性数据平台，实现从宏观到微观的全景洞察。</a:t>
                </a:r>
                <a:endParaRPr lang="en-US" sz="1100"/>
              </a:p>
            </p:txBody>
          </p:sp>
          <p:sp>
            <p:nvSpPr>
              <p:cNvPr id="19" name="TextBox 19"/>
              <p:cNvSpPr txBox="1"/>
              <p:nvPr/>
            </p:nvSpPr>
            <p:spPr>
              <a:xfrm>
                <a:off x="2223884" y="4191474"/>
                <a:ext cx="2602116" cy="796780"/>
              </a:xfrm>
              <a:prstGeom prst="rect">
                <a:avLst/>
              </a:prstGeom>
              <a:ln>
                <a:headEnd type="none"/>
                <a:tailEnd type="none"/>
              </a:ln>
            </p:spPr>
            <p:txBody>
              <a:bodyPr vert="horz" wrap="square" lIns="91440" tIns="45720" rIns="91440" bIns="45720" rtlCol="0" anchor="ctr" anchorCtr="0"/>
              <a:lstStyle/>
              <a:p>
                <a:pPr algn="l">
                  <a:defRPr/>
                </a:pPr>
                <a:r>
                  <a:rPr lang="en-US" sz="1800" b="1" i="0">
                    <a:solidFill>
                      <a:srgbClr val="FFFFFF">
                        <a:alpha val="100000"/>
                      </a:srgbClr>
                    </a:solidFill>
                    <a:latin typeface="汉仪行楷简"/>
                    <a:ea typeface="汉仪行楷简"/>
                    <a:cs typeface="汉仪行楷简"/>
                  </a:rPr>
                  <a:t>设计目标</a:t>
                </a:r>
                <a:endParaRPr lang="en-US" sz="1100"/>
              </a:p>
            </p:txBody>
          </p:sp>
        </p:grpSp>
      </p:grpSp>
      <p:sp>
        <p:nvSpPr>
          <p:cNvPr id="20" name="TextBox 20"/>
          <p:cNvSpPr txBox="1"/>
          <p:nvPr/>
        </p:nvSpPr>
        <p:spPr>
          <a:xfrm>
            <a:off x="1465006" y="304799"/>
            <a:ext cx="9760043" cy="723901"/>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3000" b="0" i="0">
                <a:solidFill>
                  <a:srgbClr val="FFFFFF">
                    <a:alpha val="100000"/>
                  </a:srgbClr>
                </a:solidFill>
                <a:latin typeface="汉仪行楷简"/>
                <a:ea typeface="汉仪行楷简"/>
                <a:cs typeface="汉仪行楷简"/>
              </a:rPr>
              <a:t>平台概览与定位</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3730bdc-88e6-4e6e-9c7c-168da2f97ec0"/>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solidFill>
                  <a:srgbClr val="FFFFFF">
                    <a:alpha val="100000"/>
                    <a:tint val="75000"/>
                  </a:srgbClr>
                </a:solidFill>
                <a:latin typeface="Average"/>
                <a:ea typeface="Average"/>
                <a:cs typeface="Average"/>
              </a:rPr>
              <a:t>4</a:t>
            </a:r>
            <a:endParaRPr lang="en-US" sz="1100"/>
          </a:p>
        </p:txBody>
      </p:sp>
      <p:grpSp>
        <p:nvGrpSpPr>
          <p:cNvPr id="3" name="Group 3"/>
          <p:cNvGrpSpPr/>
          <p:nvPr/>
        </p:nvGrpSpPr>
        <p:grpSpPr>
          <a:xfrm rot="0">
            <a:off x="0" y="1143000"/>
            <a:ext cx="12192000" cy="4986338"/>
            <a:chOff x="0" y="1143000"/>
            <a:chExt cx="12192000" cy="4986338"/>
          </a:xfrm>
        </p:grpSpPr>
        <p:sp>
          <p:nvSpPr>
            <p:cNvPr id="4" name="AutoShape 4"/>
            <p:cNvSpPr/>
            <p:nvPr/>
          </p:nvSpPr>
          <p:spPr>
            <a:xfrm>
              <a:off x="0" y="2489200"/>
              <a:ext cx="12192000" cy="0"/>
            </a:xfrm>
            <a:prstGeom prst="line">
              <a:avLst/>
            </a:prstGeom>
            <a:ln w="6350">
              <a:solidFill>
                <a:srgbClr val="016A4D">
                  <a:alpha val="100000"/>
                </a:srgbClr>
              </a:solidFill>
              <a:prstDash val="solid"/>
              <a:headEnd type="none"/>
              <a:tailEnd type="none"/>
            </a:ln>
          </p:spPr>
        </p:sp>
        <p:sp>
          <p:nvSpPr>
            <p:cNvPr id="5" name="TextBox 5"/>
            <p:cNvSpPr txBox="1"/>
            <p:nvPr/>
          </p:nvSpPr>
          <p:spPr>
            <a:xfrm>
              <a:off x="673100" y="1143000"/>
              <a:ext cx="10845800" cy="1122995"/>
            </a:xfrm>
            <a:prstGeom prst="rect">
              <a:avLst/>
            </a:prstGeom>
            <a:ln>
              <a:headEnd type="none"/>
              <a:tailEnd type="none"/>
            </a:ln>
          </p:spPr>
          <p:txBody>
            <a:bodyPr vert="horz" wrap="square" lIns="91440" tIns="45720" rIns="91440" bIns="45720" rtlCol="0" anchor="ctr" anchorCtr="0"/>
            <a:lstStyle/>
            <a:p>
              <a:pPr algn="ctr">
                <a:defRPr/>
              </a:pPr>
              <a:r>
                <a:rPr lang="en-US" sz="2400" b="1" i="0">
                  <a:solidFill>
                    <a:srgbClr val="FFFFFF">
                      <a:alpha val="100000"/>
                    </a:srgbClr>
                  </a:solidFill>
                  <a:latin typeface="汉仪行楷简"/>
                  <a:ea typeface="汉仪行楷简"/>
                  <a:cs typeface="汉仪行楷简"/>
                </a:rPr>
                <a:t>多维分析，一屏统览，动态交互</a:t>
              </a:r>
              <a:endParaRPr lang="en-US" sz="1100"/>
            </a:p>
          </p:txBody>
        </p:sp>
        <p:grpSp>
          <p:nvGrpSpPr>
            <p:cNvPr id="6" name="Group 6"/>
            <p:cNvGrpSpPr/>
            <p:nvPr/>
          </p:nvGrpSpPr>
          <p:grpSpPr>
            <a:xfrm rot="0">
              <a:off x="660400" y="2392996"/>
              <a:ext cx="2044700" cy="3736342"/>
              <a:chOff x="884058" y="2392996"/>
              <a:chExt cx="2044700" cy="3736342"/>
            </a:xfrm>
          </p:grpSpPr>
          <p:sp>
            <p:nvSpPr>
              <p:cNvPr id="7" name="AutoShape 7"/>
              <p:cNvSpPr/>
              <p:nvPr/>
            </p:nvSpPr>
            <p:spPr>
              <a:xfrm>
                <a:off x="884058" y="3060700"/>
                <a:ext cx="2044700" cy="3068638"/>
              </a:xfrm>
              <a:prstGeom prst="roundRect">
                <a:avLst>
                  <a:gd name="adj" fmla="val 3369"/>
                </a:avLst>
              </a:prstGeom>
              <a:ln w="12700">
                <a:solidFill>
                  <a:srgbClr val="EBBA6F">
                    <a:alpha val="100000"/>
                  </a:srgbClr>
                </a:solidFill>
                <a:prstDash val="solid"/>
                <a:headEnd type="none"/>
                <a:tailEnd type="none"/>
              </a:ln>
            </p:spPr>
          </p:sp>
          <p:sp>
            <p:nvSpPr>
              <p:cNvPr id="8" name="AutoShape 8"/>
              <p:cNvSpPr/>
              <p:nvPr/>
            </p:nvSpPr>
            <p:spPr>
              <a:xfrm>
                <a:off x="1764345" y="2392996"/>
                <a:ext cx="205110" cy="205110"/>
              </a:xfrm>
              <a:prstGeom prst="ellipse">
                <a:avLst/>
              </a:prstGeom>
              <a:solidFill>
                <a:srgbClr val="33CCFF">
                  <a:alpha val="100000"/>
                </a:srgbClr>
              </a:solidFill>
              <a:ln>
                <a:prstDash val="solid"/>
                <a:headEnd type="none"/>
                <a:tailEnd type="none"/>
              </a:ln>
            </p:spPr>
          </p:sp>
          <p:sp>
            <p:nvSpPr>
              <p:cNvPr id="9" name="TextBox 9"/>
              <p:cNvSpPr txBox="1"/>
              <p:nvPr/>
            </p:nvSpPr>
            <p:spPr>
              <a:xfrm>
                <a:off x="963298" y="3771901"/>
                <a:ext cx="1886220" cy="702580"/>
              </a:xfrm>
              <a:prstGeom prst="rect">
                <a:avLst/>
              </a:prstGeom>
              <a:ln>
                <a:headEnd type="none"/>
                <a:tailEnd type="none"/>
              </a:ln>
            </p:spPr>
            <p:txBody>
              <a:bodyPr vert="horz" wrap="square" lIns="91440" tIns="45720" rIns="91440" bIns="45720" rtlCol="0" anchor="b" anchorCtr="0"/>
              <a:lstStyle/>
              <a:p>
                <a:pPr algn="ctr">
                  <a:defRPr/>
                </a:pPr>
                <a:r>
                  <a:rPr lang="en-US" sz="1800" b="1" i="0">
                    <a:solidFill>
                      <a:srgbClr val="FFFFFF">
                        <a:alpha val="100000"/>
                      </a:srgbClr>
                    </a:solidFill>
                    <a:latin typeface="汉仪行楷简"/>
                    <a:ea typeface="汉仪行楷简"/>
                    <a:cs typeface="汉仪行楷简"/>
                  </a:rPr>
                  <a:t>实时数据监测</a:t>
                </a:r>
                <a:endParaRPr lang="en-US" sz="1100"/>
              </a:p>
            </p:txBody>
          </p:sp>
          <p:sp>
            <p:nvSpPr>
              <p:cNvPr id="10" name="TextBox 10"/>
              <p:cNvSpPr txBox="1"/>
              <p:nvPr/>
            </p:nvSpPr>
            <p:spPr>
              <a:xfrm>
                <a:off x="963297" y="4474480"/>
                <a:ext cx="1886222" cy="1507220"/>
              </a:xfrm>
              <a:prstGeom prst="rect">
                <a:avLst/>
              </a:prstGeom>
              <a:ln>
                <a:headEnd type="none"/>
                <a:tailEnd type="none"/>
              </a:ln>
            </p:spPr>
            <p:txBody>
              <a:bodyPr vert="horz" wrap="square" lIns="91440" tIns="45720" rIns="91440" bIns="45720" rtlCol="0" anchor="t" anchorCtr="0"/>
              <a:lstStyle/>
              <a:p>
                <a:pPr algn="ctr">
                  <a:lnSpc>
                    <a:spcPct val="120000"/>
                  </a:lnSpc>
                  <a:defRPr/>
                </a:pPr>
                <a:r>
                  <a:rPr lang="en-US" sz="1200" b="0" i="0">
                    <a:solidFill>
                      <a:srgbClr val="FFFFFF">
                        <a:alpha val="100000"/>
                      </a:srgbClr>
                    </a:solidFill>
                    <a:latin typeface="思源黑体 CN Regular"/>
                    <a:ea typeface="思源黑体 CN Regular"/>
                    <a:cs typeface="思源黑体 CN Regular"/>
                  </a:rPr>
                  <a:t>提供全国各省及重点城市的实时AQI指数、空气质量等级及首要污染物信息。</a:t>
                </a:r>
                <a:endParaRPr lang="en-US" sz="1100"/>
              </a:p>
            </p:txBody>
          </p:sp>
          <p:sp>
            <p:nvSpPr>
              <p:cNvPr id="11" name="TextBox 11"/>
              <p:cNvSpPr txBox="1"/>
              <p:nvPr/>
            </p:nvSpPr>
            <p:spPr>
              <a:xfrm>
                <a:off x="1519531" y="3249913"/>
                <a:ext cx="773754" cy="461937"/>
              </a:xfrm>
              <a:prstGeom prst="roundRect">
                <a:avLst/>
              </a:prstGeom>
              <a:solidFill>
                <a:srgbClr val="EBBA6F">
                  <a:alpha val="100000"/>
                </a:srgbClr>
              </a:solidFill>
              <a:ln>
                <a:prstDash val="solid"/>
                <a:headEnd type="none"/>
                <a:tailEnd type="none"/>
              </a:ln>
            </p:spPr>
            <p:txBody>
              <a:bodyPr vert="horz" wrap="square" lIns="91440" tIns="45720" rIns="91440" bIns="45720" rtlCol="0" anchor="ctr" anchorCtr="0"/>
              <a:lstStyle/>
              <a:p>
                <a:pPr algn="ctr">
                  <a:defRPr/>
                </a:pPr>
                <a:r>
                  <a:rPr lang="en-US" sz="1800" b="1" i="0">
                    <a:solidFill>
                      <a:srgbClr val="FFFFFF">
                        <a:alpha val="100000"/>
                      </a:srgbClr>
                    </a:solidFill>
                    <a:latin typeface="Arial" panose="020B0604020202020204"/>
                    <a:ea typeface="Arial" panose="020B0604020202020204"/>
                    <a:cs typeface="Arial" panose="020B0604020202020204"/>
                  </a:rPr>
                  <a:t>1</a:t>
                </a:r>
                <a:endParaRPr lang="en-US" sz="1100"/>
              </a:p>
            </p:txBody>
          </p:sp>
        </p:grpSp>
        <p:grpSp>
          <p:nvGrpSpPr>
            <p:cNvPr id="12" name="Group 12"/>
            <p:cNvGrpSpPr/>
            <p:nvPr/>
          </p:nvGrpSpPr>
          <p:grpSpPr>
            <a:xfrm rot="0">
              <a:off x="2857500" y="2392996"/>
              <a:ext cx="2044700" cy="3736342"/>
              <a:chOff x="3703458" y="2392996"/>
              <a:chExt cx="2044700" cy="3736342"/>
            </a:xfrm>
          </p:grpSpPr>
          <p:sp>
            <p:nvSpPr>
              <p:cNvPr id="13" name="AutoShape 13"/>
              <p:cNvSpPr/>
              <p:nvPr/>
            </p:nvSpPr>
            <p:spPr>
              <a:xfrm>
                <a:off x="3703458" y="3060700"/>
                <a:ext cx="2044700" cy="3068638"/>
              </a:xfrm>
              <a:prstGeom prst="roundRect">
                <a:avLst>
                  <a:gd name="adj" fmla="val 3369"/>
                </a:avLst>
              </a:prstGeom>
              <a:ln w="12700">
                <a:solidFill>
                  <a:srgbClr val="EBBA6F">
                    <a:alpha val="100000"/>
                  </a:srgbClr>
                </a:solidFill>
                <a:prstDash val="solid"/>
                <a:headEnd type="none"/>
                <a:tailEnd type="none"/>
              </a:ln>
            </p:spPr>
          </p:sp>
          <p:sp>
            <p:nvSpPr>
              <p:cNvPr id="14" name="AutoShape 14"/>
              <p:cNvSpPr/>
              <p:nvPr/>
            </p:nvSpPr>
            <p:spPr>
              <a:xfrm>
                <a:off x="4583745" y="2392996"/>
                <a:ext cx="205110" cy="205110"/>
              </a:xfrm>
              <a:prstGeom prst="ellipse">
                <a:avLst/>
              </a:prstGeom>
              <a:solidFill>
                <a:srgbClr val="33CCFF">
                  <a:alpha val="100000"/>
                </a:srgbClr>
              </a:solidFill>
              <a:ln>
                <a:prstDash val="solid"/>
                <a:headEnd type="none"/>
                <a:tailEnd type="none"/>
              </a:ln>
            </p:spPr>
          </p:sp>
          <p:sp>
            <p:nvSpPr>
              <p:cNvPr id="15" name="TextBox 15"/>
              <p:cNvSpPr txBox="1"/>
              <p:nvPr/>
            </p:nvSpPr>
            <p:spPr>
              <a:xfrm>
                <a:off x="3782698" y="3771901"/>
                <a:ext cx="1886220" cy="702580"/>
              </a:xfrm>
              <a:prstGeom prst="rect">
                <a:avLst/>
              </a:prstGeom>
              <a:ln>
                <a:headEnd type="none"/>
                <a:tailEnd type="none"/>
              </a:ln>
            </p:spPr>
            <p:txBody>
              <a:bodyPr vert="horz" wrap="square" lIns="91440" tIns="45720" rIns="91440" bIns="45720" rtlCol="0" anchor="b" anchorCtr="0"/>
              <a:lstStyle/>
              <a:p>
                <a:pPr algn="ctr">
                  <a:defRPr/>
                </a:pPr>
                <a:r>
                  <a:rPr lang="en-US" sz="1800" b="1" i="0">
                    <a:solidFill>
                      <a:srgbClr val="FFFFFF">
                        <a:alpha val="100000"/>
                      </a:srgbClr>
                    </a:solidFill>
                    <a:latin typeface="汉仪行楷简"/>
                    <a:ea typeface="汉仪行楷简"/>
                    <a:cs typeface="汉仪行楷简"/>
                  </a:rPr>
                  <a:t>多维图表分析</a:t>
                </a:r>
                <a:endParaRPr lang="en-US" sz="1100"/>
              </a:p>
            </p:txBody>
          </p:sp>
          <p:sp>
            <p:nvSpPr>
              <p:cNvPr id="16" name="TextBox 16"/>
              <p:cNvSpPr txBox="1"/>
              <p:nvPr/>
            </p:nvSpPr>
            <p:spPr>
              <a:xfrm>
                <a:off x="3782697" y="4474480"/>
                <a:ext cx="1886222" cy="1507220"/>
              </a:xfrm>
              <a:prstGeom prst="rect">
                <a:avLst/>
              </a:prstGeom>
              <a:ln>
                <a:headEnd type="none"/>
                <a:tailEnd type="none"/>
              </a:ln>
            </p:spPr>
            <p:txBody>
              <a:bodyPr vert="horz" wrap="square" lIns="91440" tIns="45720" rIns="91440" bIns="45720" rtlCol="0" anchor="t" anchorCtr="0"/>
              <a:lstStyle/>
              <a:p>
                <a:pPr algn="ctr">
                  <a:lnSpc>
                    <a:spcPct val="120000"/>
                  </a:lnSpc>
                  <a:defRPr/>
                </a:pPr>
                <a:r>
                  <a:rPr lang="en-US" sz="1200" b="0" i="0">
                    <a:solidFill>
                      <a:srgbClr val="FFFFFF">
                        <a:alpha val="100000"/>
                      </a:srgbClr>
                    </a:solidFill>
                    <a:latin typeface="思源黑体 CN Regular"/>
                    <a:ea typeface="思源黑体 CN Regular"/>
                    <a:cs typeface="思源黑体 CN Regular"/>
                  </a:rPr>
                  <a:t>集成地图、桑基图、旭日图、散点图等十余种可视化图表，从不同维度剖析数据。</a:t>
                </a:r>
                <a:endParaRPr lang="en-US" sz="1100"/>
              </a:p>
            </p:txBody>
          </p:sp>
          <p:sp>
            <p:nvSpPr>
              <p:cNvPr id="17" name="TextBox 17"/>
              <p:cNvSpPr txBox="1"/>
              <p:nvPr/>
            </p:nvSpPr>
            <p:spPr>
              <a:xfrm>
                <a:off x="4338931" y="3249913"/>
                <a:ext cx="773754" cy="461937"/>
              </a:xfrm>
              <a:prstGeom prst="roundRect">
                <a:avLst/>
              </a:prstGeom>
              <a:solidFill>
                <a:srgbClr val="EBBA6F">
                  <a:alpha val="100000"/>
                </a:srgbClr>
              </a:solidFill>
              <a:ln>
                <a:prstDash val="solid"/>
                <a:headEnd type="none"/>
                <a:tailEnd type="none"/>
              </a:ln>
            </p:spPr>
            <p:txBody>
              <a:bodyPr vert="horz" wrap="square" lIns="91440" tIns="45720" rIns="91440" bIns="45720" rtlCol="0" anchor="ctr" anchorCtr="0"/>
              <a:lstStyle/>
              <a:p>
                <a:pPr algn="ctr">
                  <a:defRPr/>
                </a:pPr>
                <a:r>
                  <a:rPr lang="en-US" sz="1800" b="1" i="0">
                    <a:solidFill>
                      <a:srgbClr val="FFFFFF">
                        <a:alpha val="100000"/>
                      </a:srgbClr>
                    </a:solidFill>
                    <a:latin typeface="Arial" panose="020B0604020202020204"/>
                    <a:ea typeface="Arial" panose="020B0604020202020204"/>
                    <a:cs typeface="Arial" panose="020B0604020202020204"/>
                  </a:rPr>
                  <a:t>2</a:t>
                </a:r>
                <a:endParaRPr lang="en-US" sz="1100"/>
              </a:p>
            </p:txBody>
          </p:sp>
        </p:grpSp>
        <p:grpSp>
          <p:nvGrpSpPr>
            <p:cNvPr id="18" name="Group 18"/>
            <p:cNvGrpSpPr/>
            <p:nvPr/>
          </p:nvGrpSpPr>
          <p:grpSpPr>
            <a:xfrm rot="0">
              <a:off x="5054600" y="2392996"/>
              <a:ext cx="2044700" cy="3736342"/>
              <a:chOff x="6522858" y="2392996"/>
              <a:chExt cx="2044700" cy="3736342"/>
            </a:xfrm>
          </p:grpSpPr>
          <p:sp>
            <p:nvSpPr>
              <p:cNvPr id="19" name="AutoShape 19"/>
              <p:cNvSpPr/>
              <p:nvPr/>
            </p:nvSpPr>
            <p:spPr>
              <a:xfrm>
                <a:off x="6522858" y="3060700"/>
                <a:ext cx="2044700" cy="3068638"/>
              </a:xfrm>
              <a:prstGeom prst="roundRect">
                <a:avLst>
                  <a:gd name="adj" fmla="val 3369"/>
                </a:avLst>
              </a:prstGeom>
              <a:ln w="12700">
                <a:solidFill>
                  <a:srgbClr val="EBBA6F">
                    <a:alpha val="100000"/>
                  </a:srgbClr>
                </a:solidFill>
                <a:prstDash val="solid"/>
                <a:headEnd type="none"/>
                <a:tailEnd type="none"/>
              </a:ln>
            </p:spPr>
          </p:sp>
          <p:sp>
            <p:nvSpPr>
              <p:cNvPr id="20" name="AutoShape 20"/>
              <p:cNvSpPr/>
              <p:nvPr/>
            </p:nvSpPr>
            <p:spPr>
              <a:xfrm>
                <a:off x="7403145" y="2392996"/>
                <a:ext cx="205110" cy="205110"/>
              </a:xfrm>
              <a:prstGeom prst="ellipse">
                <a:avLst/>
              </a:prstGeom>
              <a:solidFill>
                <a:srgbClr val="33CCFF">
                  <a:alpha val="100000"/>
                </a:srgbClr>
              </a:solidFill>
              <a:ln>
                <a:prstDash val="solid"/>
                <a:headEnd type="none"/>
                <a:tailEnd type="none"/>
              </a:ln>
            </p:spPr>
          </p:sp>
          <p:sp>
            <p:nvSpPr>
              <p:cNvPr id="21" name="TextBox 21"/>
              <p:cNvSpPr txBox="1"/>
              <p:nvPr/>
            </p:nvSpPr>
            <p:spPr>
              <a:xfrm>
                <a:off x="6602098" y="3771901"/>
                <a:ext cx="1886220" cy="702580"/>
              </a:xfrm>
              <a:prstGeom prst="rect">
                <a:avLst/>
              </a:prstGeom>
              <a:ln>
                <a:headEnd type="none"/>
                <a:tailEnd type="none"/>
              </a:ln>
            </p:spPr>
            <p:txBody>
              <a:bodyPr vert="horz" wrap="square" lIns="91440" tIns="45720" rIns="91440" bIns="45720" rtlCol="0" anchor="b" anchorCtr="0"/>
              <a:lstStyle/>
              <a:p>
                <a:pPr algn="ctr">
                  <a:defRPr/>
                </a:pPr>
                <a:r>
                  <a:rPr lang="en-US" sz="1800" b="1" i="0">
                    <a:solidFill>
                      <a:srgbClr val="FFFFFF">
                        <a:alpha val="100000"/>
                      </a:srgbClr>
                    </a:solidFill>
                    <a:latin typeface="汉仪行楷简"/>
                    <a:ea typeface="汉仪行楷简"/>
                    <a:cs typeface="汉仪行楷简"/>
                  </a:rPr>
                  <a:t>时空动态展示</a:t>
                </a:r>
                <a:endParaRPr lang="en-US" sz="1100"/>
              </a:p>
            </p:txBody>
          </p:sp>
          <p:sp>
            <p:nvSpPr>
              <p:cNvPr id="22" name="TextBox 22"/>
              <p:cNvSpPr txBox="1"/>
              <p:nvPr/>
            </p:nvSpPr>
            <p:spPr>
              <a:xfrm>
                <a:off x="6602097" y="4474480"/>
                <a:ext cx="1886222" cy="1507220"/>
              </a:xfrm>
              <a:prstGeom prst="rect">
                <a:avLst/>
              </a:prstGeom>
              <a:ln>
                <a:headEnd type="none"/>
                <a:tailEnd type="none"/>
              </a:ln>
            </p:spPr>
            <p:txBody>
              <a:bodyPr vert="horz" wrap="square" lIns="91440" tIns="45720" rIns="91440" bIns="45720" rtlCol="0" anchor="t" anchorCtr="0"/>
              <a:lstStyle/>
              <a:p>
                <a:pPr algn="ctr">
                  <a:lnSpc>
                    <a:spcPct val="120000"/>
                  </a:lnSpc>
                  <a:defRPr/>
                </a:pPr>
                <a:r>
                  <a:rPr lang="en-US" sz="1200" b="0" i="0">
                    <a:solidFill>
                      <a:srgbClr val="FFFFFF">
                        <a:alpha val="100000"/>
                      </a:srgbClr>
                    </a:solidFill>
                    <a:latin typeface="思源黑体 CN Regular"/>
                    <a:ea typeface="思源黑体 CN Regular"/>
                    <a:cs typeface="思源黑体 CN Regular"/>
                  </a:rPr>
                  <a:t>通过日历热力图、趋势图等，动态展示空气质量在时间和空间上的变化规律。</a:t>
                </a:r>
                <a:endParaRPr lang="en-US" sz="1100"/>
              </a:p>
            </p:txBody>
          </p:sp>
          <p:sp>
            <p:nvSpPr>
              <p:cNvPr id="23" name="TextBox 23"/>
              <p:cNvSpPr txBox="1"/>
              <p:nvPr/>
            </p:nvSpPr>
            <p:spPr>
              <a:xfrm>
                <a:off x="7158331" y="3249913"/>
                <a:ext cx="773754" cy="461937"/>
              </a:xfrm>
              <a:prstGeom prst="roundRect">
                <a:avLst/>
              </a:prstGeom>
              <a:solidFill>
                <a:srgbClr val="EBBA6F">
                  <a:alpha val="100000"/>
                </a:srgbClr>
              </a:solidFill>
              <a:ln>
                <a:prstDash val="solid"/>
                <a:headEnd type="none"/>
                <a:tailEnd type="none"/>
              </a:ln>
            </p:spPr>
            <p:txBody>
              <a:bodyPr vert="horz" wrap="square" lIns="91440" tIns="45720" rIns="91440" bIns="45720" rtlCol="0" anchor="ctr" anchorCtr="0"/>
              <a:lstStyle/>
              <a:p>
                <a:pPr algn="ctr">
                  <a:defRPr/>
                </a:pPr>
                <a:r>
                  <a:rPr lang="en-US" sz="1800" b="1" i="0">
                    <a:solidFill>
                      <a:srgbClr val="FFFFFF">
                        <a:alpha val="100000"/>
                      </a:srgbClr>
                    </a:solidFill>
                    <a:latin typeface="Arial" panose="020B0604020202020204"/>
                    <a:ea typeface="Arial" panose="020B0604020202020204"/>
                    <a:cs typeface="Arial" panose="020B0604020202020204"/>
                  </a:rPr>
                  <a:t>3</a:t>
                </a:r>
                <a:endParaRPr lang="en-US" sz="1100"/>
              </a:p>
            </p:txBody>
          </p:sp>
        </p:grpSp>
        <p:grpSp>
          <p:nvGrpSpPr>
            <p:cNvPr id="24" name="Group 24"/>
            <p:cNvGrpSpPr/>
            <p:nvPr/>
          </p:nvGrpSpPr>
          <p:grpSpPr>
            <a:xfrm rot="0">
              <a:off x="7251700" y="2392996"/>
              <a:ext cx="2044700" cy="3736342"/>
              <a:chOff x="9302750" y="2392996"/>
              <a:chExt cx="2044700" cy="3736342"/>
            </a:xfrm>
          </p:grpSpPr>
          <p:sp>
            <p:nvSpPr>
              <p:cNvPr id="25" name="AutoShape 25"/>
              <p:cNvSpPr/>
              <p:nvPr/>
            </p:nvSpPr>
            <p:spPr>
              <a:xfrm>
                <a:off x="9302750" y="3060700"/>
                <a:ext cx="2044700" cy="3068638"/>
              </a:xfrm>
              <a:prstGeom prst="roundRect">
                <a:avLst>
                  <a:gd name="adj" fmla="val 3369"/>
                </a:avLst>
              </a:prstGeom>
              <a:ln w="12700">
                <a:solidFill>
                  <a:srgbClr val="EBBA6F">
                    <a:alpha val="100000"/>
                  </a:srgbClr>
                </a:solidFill>
                <a:prstDash val="solid"/>
                <a:headEnd type="none"/>
                <a:tailEnd type="none"/>
              </a:ln>
            </p:spPr>
          </p:sp>
          <p:sp>
            <p:nvSpPr>
              <p:cNvPr id="26" name="AutoShape 26"/>
              <p:cNvSpPr/>
              <p:nvPr/>
            </p:nvSpPr>
            <p:spPr>
              <a:xfrm>
                <a:off x="10222545" y="2392996"/>
                <a:ext cx="205110" cy="205110"/>
              </a:xfrm>
              <a:prstGeom prst="ellipse">
                <a:avLst/>
              </a:prstGeom>
              <a:solidFill>
                <a:srgbClr val="33CCFF">
                  <a:alpha val="100000"/>
                </a:srgbClr>
              </a:solidFill>
              <a:ln>
                <a:prstDash val="solid"/>
                <a:headEnd type="none"/>
                <a:tailEnd type="none"/>
              </a:ln>
            </p:spPr>
          </p:sp>
          <p:sp>
            <p:nvSpPr>
              <p:cNvPr id="27" name="TextBox 27"/>
              <p:cNvSpPr txBox="1"/>
              <p:nvPr/>
            </p:nvSpPr>
            <p:spPr>
              <a:xfrm>
                <a:off x="9381990" y="3771901"/>
                <a:ext cx="1886220" cy="702580"/>
              </a:xfrm>
              <a:prstGeom prst="rect">
                <a:avLst/>
              </a:prstGeom>
              <a:ln>
                <a:headEnd type="none"/>
                <a:tailEnd type="none"/>
              </a:ln>
            </p:spPr>
            <p:txBody>
              <a:bodyPr vert="horz" wrap="square" lIns="91440" tIns="45720" rIns="91440" bIns="45720" rtlCol="0" anchor="b" anchorCtr="0"/>
              <a:lstStyle/>
              <a:p>
                <a:pPr algn="ctr">
                  <a:defRPr/>
                </a:pPr>
                <a:r>
                  <a:rPr lang="en-US" sz="1800" b="1" i="0">
                    <a:solidFill>
                      <a:srgbClr val="FFFFFF">
                        <a:alpha val="100000"/>
                      </a:srgbClr>
                    </a:solidFill>
                    <a:latin typeface="汉仪行楷简"/>
                    <a:ea typeface="汉仪行楷简"/>
                    <a:cs typeface="汉仪行楷简"/>
                  </a:rPr>
                  <a:t>数据联动交互</a:t>
                </a:r>
                <a:endParaRPr lang="en-US" sz="1100"/>
              </a:p>
            </p:txBody>
          </p:sp>
          <p:sp>
            <p:nvSpPr>
              <p:cNvPr id="28" name="TextBox 28"/>
              <p:cNvSpPr txBox="1"/>
              <p:nvPr/>
            </p:nvSpPr>
            <p:spPr>
              <a:xfrm>
                <a:off x="9381989" y="4474481"/>
                <a:ext cx="1886222" cy="1507220"/>
              </a:xfrm>
              <a:prstGeom prst="rect">
                <a:avLst/>
              </a:prstGeom>
              <a:ln>
                <a:headEnd type="none"/>
                <a:tailEnd type="none"/>
              </a:ln>
            </p:spPr>
            <p:txBody>
              <a:bodyPr vert="horz" wrap="square" lIns="91440" tIns="45720" rIns="91440" bIns="45720" rtlCol="0" anchor="t" anchorCtr="0"/>
              <a:lstStyle/>
              <a:p>
                <a:pPr algn="ctr">
                  <a:lnSpc>
                    <a:spcPct val="120000"/>
                  </a:lnSpc>
                  <a:defRPr/>
                </a:pPr>
                <a:r>
                  <a:rPr lang="en-US" sz="1200" b="0" i="0">
                    <a:solidFill>
                      <a:srgbClr val="FFFFFF">
                        <a:alpha val="100000"/>
                      </a:srgbClr>
                    </a:solidFill>
                    <a:latin typeface="思源黑体 CN Regular"/>
                    <a:ea typeface="思源黑体 CN Regular"/>
                    <a:cs typeface="思源黑体 CN Regular"/>
                  </a:rPr>
                  <a:t>实现地图点击、下拉选择与图表间的实时联动，支持省市、区域层级下钻分析。</a:t>
                </a:r>
                <a:endParaRPr lang="en-US" sz="1100"/>
              </a:p>
            </p:txBody>
          </p:sp>
          <p:sp>
            <p:nvSpPr>
              <p:cNvPr id="29" name="TextBox 29"/>
              <p:cNvSpPr txBox="1"/>
              <p:nvPr/>
            </p:nvSpPr>
            <p:spPr>
              <a:xfrm>
                <a:off x="9938223" y="3249913"/>
                <a:ext cx="773754" cy="461937"/>
              </a:xfrm>
              <a:prstGeom prst="roundRect">
                <a:avLst/>
              </a:prstGeom>
              <a:solidFill>
                <a:srgbClr val="EBBA6F">
                  <a:alpha val="100000"/>
                </a:srgbClr>
              </a:solidFill>
              <a:ln>
                <a:prstDash val="solid"/>
                <a:headEnd type="none"/>
                <a:tailEnd type="none"/>
              </a:ln>
            </p:spPr>
            <p:txBody>
              <a:bodyPr vert="horz" wrap="square" lIns="91440" tIns="45720" rIns="91440" bIns="45720" rtlCol="0" anchor="ctr" anchorCtr="0"/>
              <a:lstStyle/>
              <a:p>
                <a:pPr algn="ctr">
                  <a:defRPr/>
                </a:pPr>
                <a:r>
                  <a:rPr lang="en-US" sz="1800" b="1" i="0">
                    <a:solidFill>
                      <a:srgbClr val="FFFFFF">
                        <a:alpha val="100000"/>
                      </a:srgbClr>
                    </a:solidFill>
                    <a:latin typeface="Arial" panose="020B0604020202020204"/>
                    <a:ea typeface="Arial" panose="020B0604020202020204"/>
                    <a:cs typeface="Arial" panose="020B0604020202020204"/>
                  </a:rPr>
                  <a:t>4</a:t>
                </a:r>
                <a:endParaRPr lang="en-US" sz="1100"/>
              </a:p>
            </p:txBody>
          </p:sp>
        </p:grpSp>
        <p:grpSp>
          <p:nvGrpSpPr>
            <p:cNvPr id="30" name="Group 30"/>
            <p:cNvGrpSpPr/>
            <p:nvPr/>
          </p:nvGrpSpPr>
          <p:grpSpPr>
            <a:xfrm rot="0">
              <a:off x="9448800" y="2392996"/>
              <a:ext cx="2044700" cy="3736342"/>
              <a:chOff x="9302750" y="2392996"/>
              <a:chExt cx="2044700" cy="3736342"/>
            </a:xfrm>
          </p:grpSpPr>
          <p:sp>
            <p:nvSpPr>
              <p:cNvPr id="31" name="AutoShape 31"/>
              <p:cNvSpPr/>
              <p:nvPr/>
            </p:nvSpPr>
            <p:spPr>
              <a:xfrm>
                <a:off x="9302750" y="3060700"/>
                <a:ext cx="2044700" cy="3068638"/>
              </a:xfrm>
              <a:prstGeom prst="roundRect">
                <a:avLst>
                  <a:gd name="adj" fmla="val 3369"/>
                </a:avLst>
              </a:prstGeom>
              <a:ln w="12700">
                <a:solidFill>
                  <a:srgbClr val="EBBA6F">
                    <a:alpha val="100000"/>
                  </a:srgbClr>
                </a:solidFill>
                <a:prstDash val="solid"/>
                <a:headEnd type="none"/>
                <a:tailEnd type="none"/>
              </a:ln>
            </p:spPr>
          </p:sp>
          <p:sp>
            <p:nvSpPr>
              <p:cNvPr id="32" name="AutoShape 32"/>
              <p:cNvSpPr/>
              <p:nvPr/>
            </p:nvSpPr>
            <p:spPr>
              <a:xfrm>
                <a:off x="10222545" y="2392996"/>
                <a:ext cx="205110" cy="205110"/>
              </a:xfrm>
              <a:prstGeom prst="ellipse">
                <a:avLst/>
              </a:prstGeom>
              <a:solidFill>
                <a:srgbClr val="33CCFF">
                  <a:alpha val="100000"/>
                </a:srgbClr>
              </a:solidFill>
              <a:ln>
                <a:prstDash val="solid"/>
                <a:headEnd type="none"/>
                <a:tailEnd type="none"/>
              </a:ln>
            </p:spPr>
          </p:sp>
          <p:sp>
            <p:nvSpPr>
              <p:cNvPr id="33" name="TextBox 33"/>
              <p:cNvSpPr txBox="1"/>
              <p:nvPr/>
            </p:nvSpPr>
            <p:spPr>
              <a:xfrm>
                <a:off x="9381990" y="3771901"/>
                <a:ext cx="1886220" cy="702580"/>
              </a:xfrm>
              <a:prstGeom prst="rect">
                <a:avLst/>
              </a:prstGeom>
              <a:ln>
                <a:headEnd type="none"/>
                <a:tailEnd type="none"/>
              </a:ln>
            </p:spPr>
            <p:txBody>
              <a:bodyPr vert="horz" wrap="square" lIns="91440" tIns="45720" rIns="91440" bIns="45720" rtlCol="0" anchor="b" anchorCtr="0"/>
              <a:lstStyle/>
              <a:p>
                <a:pPr algn="ctr">
                  <a:defRPr/>
                </a:pPr>
                <a:r>
                  <a:rPr lang="en-US" sz="1800" b="1" i="0">
                    <a:solidFill>
                      <a:srgbClr val="FFFFFF">
                        <a:alpha val="100000"/>
                      </a:srgbClr>
                    </a:solidFill>
                    <a:latin typeface="汉仪行楷简"/>
                    <a:ea typeface="汉仪行楷简"/>
                    <a:cs typeface="汉仪行楷简"/>
                  </a:rPr>
                  <a:t>关键指标洞察</a:t>
                </a:r>
                <a:endParaRPr lang="en-US" sz="1100"/>
              </a:p>
            </p:txBody>
          </p:sp>
          <p:sp>
            <p:nvSpPr>
              <p:cNvPr id="34" name="TextBox 34"/>
              <p:cNvSpPr txBox="1"/>
              <p:nvPr/>
            </p:nvSpPr>
            <p:spPr>
              <a:xfrm>
                <a:off x="9381989" y="4474481"/>
                <a:ext cx="1886222" cy="1507220"/>
              </a:xfrm>
              <a:prstGeom prst="rect">
                <a:avLst/>
              </a:prstGeom>
              <a:ln>
                <a:headEnd type="none"/>
                <a:tailEnd type="none"/>
              </a:ln>
            </p:spPr>
            <p:txBody>
              <a:bodyPr vert="horz" wrap="square" lIns="91440" tIns="45720" rIns="91440" bIns="45720" rtlCol="0" anchor="t" anchorCtr="0"/>
              <a:lstStyle/>
              <a:p>
                <a:pPr algn="ctr">
                  <a:lnSpc>
                    <a:spcPct val="120000"/>
                  </a:lnSpc>
                  <a:defRPr/>
                </a:pPr>
                <a:r>
                  <a:rPr lang="en-US" sz="1200" b="0" i="0">
                    <a:solidFill>
                      <a:srgbClr val="FFFFFF">
                        <a:alpha val="100000"/>
                      </a:srgbClr>
                    </a:solidFill>
                    <a:latin typeface="思源黑体 CN Regular"/>
                    <a:ea typeface="思源黑体 CN Regular"/>
                    <a:cs typeface="思源黑体 CN Regular"/>
                  </a:rPr>
                  <a:t>深入分析污染物来源、浓度分布、气象相关性及跨区域传输等核心指标。</a:t>
                </a:r>
                <a:endParaRPr lang="en-US" sz="1100"/>
              </a:p>
            </p:txBody>
          </p:sp>
          <p:sp>
            <p:nvSpPr>
              <p:cNvPr id="35" name="TextBox 35"/>
              <p:cNvSpPr txBox="1"/>
              <p:nvPr/>
            </p:nvSpPr>
            <p:spPr>
              <a:xfrm>
                <a:off x="9938223" y="3249913"/>
                <a:ext cx="773754" cy="461937"/>
              </a:xfrm>
              <a:prstGeom prst="roundRect">
                <a:avLst/>
              </a:prstGeom>
              <a:solidFill>
                <a:srgbClr val="EBBA6F">
                  <a:alpha val="100000"/>
                </a:srgbClr>
              </a:solidFill>
              <a:ln>
                <a:prstDash val="solid"/>
                <a:headEnd type="none"/>
                <a:tailEnd type="none"/>
              </a:ln>
            </p:spPr>
            <p:txBody>
              <a:bodyPr vert="horz" wrap="square" lIns="91440" tIns="45720" rIns="91440" bIns="45720" rtlCol="0" anchor="ctr" anchorCtr="0"/>
              <a:lstStyle/>
              <a:p>
                <a:pPr algn="ctr">
                  <a:defRPr/>
                </a:pPr>
                <a:r>
                  <a:rPr lang="en-US" sz="1800" b="1" i="0">
                    <a:solidFill>
                      <a:srgbClr val="FFFFFF">
                        <a:alpha val="100000"/>
                      </a:srgbClr>
                    </a:solidFill>
                    <a:latin typeface="Arial" panose="020B0604020202020204"/>
                    <a:ea typeface="Arial" panose="020B0604020202020204"/>
                    <a:cs typeface="Arial" panose="020B0604020202020204"/>
                  </a:rPr>
                  <a:t>5</a:t>
                </a:r>
                <a:endParaRPr lang="en-US" sz="1100"/>
              </a:p>
            </p:txBody>
          </p:sp>
        </p:grpSp>
      </p:grpSp>
      <p:sp>
        <p:nvSpPr>
          <p:cNvPr id="36" name="TextBox 36"/>
          <p:cNvSpPr txBox="1"/>
          <p:nvPr/>
        </p:nvSpPr>
        <p:spPr>
          <a:xfrm>
            <a:off x="1465006" y="304799"/>
            <a:ext cx="9760043" cy="723901"/>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3000" b="0" i="0">
                <a:solidFill>
                  <a:srgbClr val="FFFFFF">
                    <a:alpha val="100000"/>
                  </a:srgbClr>
                </a:solidFill>
                <a:latin typeface="汉仪行楷简"/>
                <a:ea typeface="汉仪行楷简"/>
                <a:cs typeface="汉仪行楷简"/>
              </a:rPr>
              <a:t>核心功能总览</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1" y="761816"/>
            <a:ext cx="4894826" cy="1744546"/>
          </a:xfrm>
          <a:prstGeom prst="rect">
            <a:avLst/>
          </a:prstGeom>
          <a:ln>
            <a:headEnd type="none"/>
            <a:tailEnd type="none"/>
          </a:ln>
        </p:spPr>
        <p:txBody>
          <a:bodyPr vert="horz" wrap="square" lIns="91440" tIns="45720" rIns="91440" bIns="45720" rtlCol="0" anchor="ctr" anchorCtr="0"/>
          <a:lstStyle/>
          <a:p>
            <a:pPr algn="l">
              <a:lnSpc>
                <a:spcPct val="100000"/>
              </a:lnSpc>
              <a:spcBef>
                <a:spcPts val="0"/>
              </a:spcBef>
              <a:defRPr/>
            </a:pPr>
            <a:r>
              <a:rPr lang="en-US" sz="4800" b="0" i="0">
                <a:solidFill>
                  <a:srgbClr val="FFFFFF">
                    <a:alpha val="100000"/>
                  </a:srgbClr>
                </a:solidFill>
                <a:latin typeface="汉仪行楷简"/>
                <a:ea typeface="汉仪行楷简"/>
                <a:cs typeface="汉仪行楷简"/>
              </a:rPr>
              <a:t>市场分析</a:t>
            </a:r>
            <a:endParaRPr lang="en-US" sz="1100"/>
          </a:p>
        </p:txBody>
      </p:sp>
      <p:sp>
        <p:nvSpPr>
          <p:cNvPr id="3" name="TextBox 3"/>
          <p:cNvSpPr txBox="1"/>
          <p:nvPr/>
        </p:nvSpPr>
        <p:spPr>
          <a:xfrm>
            <a:off x="685800" y="2133746"/>
            <a:ext cx="6802999" cy="589256"/>
          </a:xfrm>
          <a:prstGeom prst="rect">
            <a:avLst/>
          </a:prstGeom>
          <a:ln>
            <a:headEnd type="none"/>
            <a:tailEnd type="none"/>
          </a:ln>
        </p:spPr>
        <p:txBody>
          <a:bodyPr vert="horz" wrap="square" lIns="91440" tIns="45720" rIns="91440" bIns="45720" rtlCol="0" anchor="t" anchorCtr="0"/>
          <a:lstStyle/>
          <a:p>
            <a:pPr algn="l">
              <a:lnSpc>
                <a:spcPct val="120000"/>
              </a:lnSpc>
              <a:spcBef>
                <a:spcPts val="1000"/>
              </a:spcBef>
              <a:defRPr/>
            </a:pPr>
            <a:r>
              <a:rPr lang="en-US" sz="3200" b="0" i="0">
                <a:solidFill>
                  <a:srgbClr val="EBBA6F">
                    <a:alpha val="100000"/>
                  </a:srgbClr>
                </a:solidFill>
                <a:latin typeface="华文新魏" panose="02010800040101010101" charset="-122"/>
                <a:ea typeface="华文新魏" panose="02010800040101010101" charset="-122"/>
                <a:cs typeface="思源黑体 CN Regular"/>
              </a:rPr>
              <a:t>本章节将分析当前空气质量数据市场的现状、用户需求痛点，并阐述本平台如何在竞争激烈的市场中找到独特的价值定位。</a:t>
            </a:r>
            <a:endParaRPr lang="en-US" sz="1100">
              <a:latin typeface="华文新魏" panose="02010800040101010101" charset="-122"/>
              <a:ea typeface="华文新魏" panose="02010800040101010101" charset="-122"/>
            </a:endParaRPr>
          </a:p>
        </p:txBody>
      </p:sp>
      <p:sp>
        <p:nvSpPr>
          <p:cNvPr id="4" name="TextBox 4"/>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solidFill>
                  <a:srgbClr val="FFFFFF">
                    <a:alpha val="100000"/>
                    <a:tint val="75000"/>
                  </a:srgbClr>
                </a:solidFill>
                <a:latin typeface="Average"/>
                <a:ea typeface="Average"/>
                <a:cs typeface="Average"/>
              </a:rPr>
              <a:t>3</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356ab36-ad21-4b52-acc5-2f4f62c41ea5"/>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solidFill>
                  <a:srgbClr val="FFFFFF">
                    <a:alpha val="100000"/>
                    <a:tint val="75000"/>
                  </a:srgbClr>
                </a:solidFill>
                <a:latin typeface="Average"/>
                <a:ea typeface="Average"/>
                <a:cs typeface="Average"/>
              </a:rPr>
              <a:t>4</a:t>
            </a:r>
            <a:endParaRPr lang="en-US" sz="1100"/>
          </a:p>
        </p:txBody>
      </p:sp>
      <p:grpSp>
        <p:nvGrpSpPr>
          <p:cNvPr id="3" name="Group 3"/>
          <p:cNvGrpSpPr/>
          <p:nvPr>
            <p:custDataLst>
              <p:tags r:id="rId1"/>
            </p:custDataLst>
          </p:nvPr>
        </p:nvGrpSpPr>
        <p:grpSpPr>
          <a:xfrm rot="0">
            <a:off x="660399" y="1130302"/>
            <a:ext cx="10858500" cy="5003799"/>
            <a:chOff x="660399" y="1130302"/>
            <a:chExt cx="10858500" cy="5003799"/>
          </a:xfrm>
        </p:grpSpPr>
        <p:sp>
          <p:nvSpPr>
            <p:cNvPr id="4" name="AutoShape 4"/>
            <p:cNvSpPr/>
            <p:nvPr>
              <p:custDataLst>
                <p:tags r:id="rId2"/>
              </p:custDataLst>
            </p:nvPr>
          </p:nvSpPr>
          <p:spPr>
            <a:xfrm>
              <a:off x="3376853" y="1879600"/>
              <a:ext cx="2728056" cy="4254500"/>
            </a:xfrm>
            <a:prstGeom prst="roundRect">
              <a:avLst>
                <a:gd name="adj" fmla="val 0"/>
              </a:avLst>
            </a:prstGeom>
            <a:ln w="12700">
              <a:solidFill>
                <a:srgbClr val="EBBA6F">
                  <a:alpha val="100000"/>
                </a:srgbClr>
              </a:solidFill>
              <a:headEnd type="none"/>
              <a:tailEnd type="none"/>
            </a:ln>
          </p:spPr>
        </p:sp>
        <p:sp>
          <p:nvSpPr>
            <p:cNvPr id="5" name="TextBox 5"/>
            <p:cNvSpPr txBox="1"/>
            <p:nvPr/>
          </p:nvSpPr>
          <p:spPr>
            <a:xfrm flipH="1">
              <a:off x="660399" y="1130302"/>
              <a:ext cx="10858500" cy="550188"/>
            </a:xfrm>
            <a:prstGeom prst="rect">
              <a:avLst/>
            </a:prstGeom>
            <a:solidFill>
              <a:srgbClr val="EBBA6F">
                <a:alpha val="94901"/>
                <a:lumMod val="75000"/>
              </a:srgbClr>
            </a:solidFill>
            <a:ln>
              <a:headEnd type="none"/>
              <a:tailEnd type="none"/>
            </a:ln>
          </p:spPr>
          <p:txBody>
            <a:bodyPr vert="horz" wrap="square" lIns="91440" tIns="45720" rIns="91440" bIns="45720" rtlCol="0" anchor="ctr" anchorCtr="0"/>
            <a:lstStyle/>
            <a:p>
              <a:pPr algn="l">
                <a:defRPr/>
              </a:pPr>
              <a:r>
                <a:rPr lang="en-US" sz="2400" b="1" i="0">
                  <a:solidFill>
                    <a:srgbClr val="FFFFFF">
                      <a:alpha val="100000"/>
                    </a:srgbClr>
                  </a:solidFill>
                  <a:latin typeface="汉仪行楷简"/>
                  <a:ea typeface="汉仪行楷简"/>
                  <a:cs typeface="汉仪行楷简"/>
                </a:rPr>
                <a:t>数据丰富但解读困难，决策支撑不足</a:t>
              </a:r>
              <a:endParaRPr lang="en-US" sz="1100"/>
            </a:p>
          </p:txBody>
        </p:sp>
        <p:grpSp>
          <p:nvGrpSpPr>
            <p:cNvPr id="6" name="Group 6"/>
            <p:cNvGrpSpPr/>
            <p:nvPr/>
          </p:nvGrpSpPr>
          <p:grpSpPr>
            <a:xfrm rot="0">
              <a:off x="795678" y="2078276"/>
              <a:ext cx="2485865" cy="4055825"/>
              <a:chOff x="795678" y="2078276"/>
              <a:chExt cx="2485865" cy="4055825"/>
            </a:xfrm>
          </p:grpSpPr>
          <p:sp>
            <p:nvSpPr>
              <p:cNvPr id="7" name="TextBox 7"/>
              <p:cNvSpPr txBox="1"/>
              <p:nvPr>
                <p:custDataLst>
                  <p:tags r:id="rId3"/>
                </p:custDataLst>
              </p:nvPr>
            </p:nvSpPr>
            <p:spPr>
              <a:xfrm>
                <a:off x="903596" y="2078276"/>
                <a:ext cx="381600" cy="382702"/>
              </a:xfrm>
              <a:prstGeom prst="rect">
                <a:avLst/>
              </a:prstGeom>
              <a:ln w="12700">
                <a:solidFill>
                  <a:srgbClr val="EBBA6F">
                    <a:alpha val="100000"/>
                  </a:srgbClr>
                </a:solidFill>
                <a:headEnd type="none"/>
                <a:tailEnd type="none"/>
              </a:ln>
            </p:spPr>
            <p:txBody>
              <a:bodyPr vert="horz" wrap="none" lIns="91440" tIns="45720" rIns="91440" bIns="45720" rtlCol="0" anchor="ctr" anchorCtr="0"/>
              <a:lstStyle/>
              <a:p>
                <a:pPr algn="ctr">
                  <a:defRPr/>
                </a:pPr>
                <a:r>
                  <a:rPr lang="en-US" sz="1400" b="1" i="0">
                    <a:solidFill>
                      <a:srgbClr val="FFFFFF">
                        <a:alpha val="100000"/>
                      </a:srgbClr>
                    </a:solidFill>
                    <a:latin typeface="Arial" panose="020B0604020202020204"/>
                    <a:ea typeface="Arial" panose="020B0604020202020204"/>
                    <a:cs typeface="Arial" panose="020B0604020202020204"/>
                  </a:rPr>
                  <a:t>1</a:t>
                </a:r>
                <a:endParaRPr lang="en-US" sz="1100"/>
              </a:p>
            </p:txBody>
          </p:sp>
          <p:sp>
            <p:nvSpPr>
              <p:cNvPr id="8" name="TextBox 8"/>
              <p:cNvSpPr txBox="1"/>
              <p:nvPr>
                <p:custDataLst>
                  <p:tags r:id="rId4"/>
                </p:custDataLst>
              </p:nvPr>
            </p:nvSpPr>
            <p:spPr>
              <a:xfrm>
                <a:off x="795678" y="2550512"/>
                <a:ext cx="2485865" cy="1142648"/>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800" b="1" i="0">
                    <a:solidFill>
                      <a:srgbClr val="FFFFFF">
                        <a:alpha val="100000"/>
                      </a:srgbClr>
                    </a:solidFill>
                    <a:latin typeface="汉仪行楷简"/>
                    <a:ea typeface="汉仪行楷简"/>
                    <a:cs typeface="汉仪行楷简"/>
                  </a:rPr>
                  <a:t>数据孤岛现象</a:t>
                </a:r>
                <a:endParaRPr lang="en-US" sz="1100"/>
              </a:p>
            </p:txBody>
          </p:sp>
          <p:sp>
            <p:nvSpPr>
              <p:cNvPr id="9" name="TextBox 9"/>
              <p:cNvSpPr txBox="1"/>
              <p:nvPr>
                <p:custDataLst>
                  <p:tags r:id="rId5"/>
                </p:custDataLst>
              </p:nvPr>
            </p:nvSpPr>
            <p:spPr>
              <a:xfrm>
                <a:off x="795678" y="3693161"/>
                <a:ext cx="2485865" cy="2440940"/>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600" b="0" i="0">
                    <a:solidFill>
                      <a:srgbClr val="FFFFFF">
                        <a:alpha val="100000"/>
                      </a:srgbClr>
                    </a:solidFill>
                    <a:latin typeface="思源黑体 CN Regular"/>
                    <a:ea typeface="思源黑体 CN Regular"/>
                    <a:cs typeface="思源黑体 CN Regular"/>
                  </a:rPr>
                  <a:t>环境监测、气象、污染源等数据分散在不同部门和平台，缺乏有效的整合与关联分析。</a:t>
                </a:r>
                <a:endParaRPr lang="en-US" sz="1600" b="0" i="0">
                  <a:solidFill>
                    <a:srgbClr val="FFFFFF">
                      <a:alpha val="100000"/>
                    </a:srgbClr>
                  </a:solidFill>
                  <a:latin typeface="思源黑体 CN Regular"/>
                  <a:ea typeface="思源黑体 CN Regular"/>
                  <a:cs typeface="思源黑体 CN Regular"/>
                </a:endParaRPr>
              </a:p>
            </p:txBody>
          </p:sp>
        </p:grpSp>
        <p:grpSp>
          <p:nvGrpSpPr>
            <p:cNvPr id="10" name="Group 10"/>
            <p:cNvGrpSpPr/>
            <p:nvPr/>
          </p:nvGrpSpPr>
          <p:grpSpPr>
            <a:xfrm rot="0">
              <a:off x="3499507" y="2078276"/>
              <a:ext cx="2485865" cy="4055825"/>
              <a:chOff x="3499507" y="2078276"/>
              <a:chExt cx="2485865" cy="4055825"/>
            </a:xfrm>
          </p:grpSpPr>
          <p:sp>
            <p:nvSpPr>
              <p:cNvPr id="11" name="TextBox 11"/>
              <p:cNvSpPr txBox="1"/>
              <p:nvPr>
                <p:custDataLst>
                  <p:tags r:id="rId6"/>
                </p:custDataLst>
              </p:nvPr>
            </p:nvSpPr>
            <p:spPr>
              <a:xfrm>
                <a:off x="3609046" y="2078276"/>
                <a:ext cx="381600" cy="382702"/>
              </a:xfrm>
              <a:prstGeom prst="rect">
                <a:avLst/>
              </a:prstGeom>
              <a:ln w="12700">
                <a:solidFill>
                  <a:srgbClr val="EBBA6F">
                    <a:alpha val="100000"/>
                  </a:srgbClr>
                </a:solidFill>
                <a:headEnd type="none"/>
                <a:tailEnd type="none"/>
              </a:ln>
            </p:spPr>
            <p:txBody>
              <a:bodyPr vert="horz" wrap="none" lIns="91440" tIns="45720" rIns="91440" bIns="45720" rtlCol="0" anchor="ctr" anchorCtr="0"/>
              <a:lstStyle/>
              <a:p>
                <a:pPr algn="ctr">
                  <a:defRPr/>
                </a:pPr>
                <a:r>
                  <a:rPr lang="en-US" sz="1400" b="1" i="0">
                    <a:solidFill>
                      <a:srgbClr val="FFFFFF">
                        <a:alpha val="100000"/>
                      </a:srgbClr>
                    </a:solidFill>
                    <a:latin typeface="Arial" panose="020B0604020202020204"/>
                    <a:ea typeface="Arial" panose="020B0604020202020204"/>
                    <a:cs typeface="Arial" panose="020B0604020202020204"/>
                  </a:rPr>
                  <a:t>2</a:t>
                </a:r>
                <a:endParaRPr lang="en-US" sz="1100"/>
              </a:p>
            </p:txBody>
          </p:sp>
          <p:sp>
            <p:nvSpPr>
              <p:cNvPr id="12" name="TextBox 12"/>
              <p:cNvSpPr txBox="1"/>
              <p:nvPr>
                <p:custDataLst>
                  <p:tags r:id="rId7"/>
                </p:custDataLst>
              </p:nvPr>
            </p:nvSpPr>
            <p:spPr>
              <a:xfrm>
                <a:off x="3499507" y="2550512"/>
                <a:ext cx="2485865" cy="1142648"/>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800" b="1" i="0">
                    <a:solidFill>
                      <a:srgbClr val="FFFFFF">
                        <a:alpha val="100000"/>
                      </a:srgbClr>
                    </a:solidFill>
                    <a:latin typeface="汉仪行楷简"/>
                    <a:ea typeface="汉仪行楷简"/>
                    <a:cs typeface="汉仪行楷简"/>
                  </a:rPr>
                  <a:t>解读专业度高</a:t>
                </a:r>
                <a:endParaRPr lang="en-US" sz="1100"/>
              </a:p>
            </p:txBody>
          </p:sp>
          <p:sp>
            <p:nvSpPr>
              <p:cNvPr id="13" name="TextBox 13"/>
              <p:cNvSpPr txBox="1"/>
              <p:nvPr>
                <p:custDataLst>
                  <p:tags r:id="rId8"/>
                </p:custDataLst>
              </p:nvPr>
            </p:nvSpPr>
            <p:spPr>
              <a:xfrm>
                <a:off x="3499507" y="3693161"/>
                <a:ext cx="2485865" cy="2440940"/>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600" b="0" i="0">
                    <a:solidFill>
                      <a:srgbClr val="FFFFFF">
                        <a:alpha val="100000"/>
                      </a:srgbClr>
                    </a:solidFill>
                    <a:latin typeface="思源黑体 CN Regular"/>
                    <a:ea typeface="思源黑体 CN Regular"/>
                    <a:cs typeface="思源黑体 CN Regular"/>
                  </a:rPr>
                  <a:t>原始监测数据专业性强，普通公众和基层管理者难以直接理解其背后蕴含的环境状况与趋势。</a:t>
                </a:r>
                <a:endParaRPr lang="en-US" sz="1600" b="0" i="0">
                  <a:solidFill>
                    <a:srgbClr val="FFFFFF">
                      <a:alpha val="100000"/>
                    </a:srgbClr>
                  </a:solidFill>
                  <a:latin typeface="思源黑体 CN Regular"/>
                  <a:ea typeface="思源黑体 CN Regular"/>
                  <a:cs typeface="思源黑体 CN Regular"/>
                </a:endParaRPr>
              </a:p>
            </p:txBody>
          </p:sp>
        </p:grpSp>
        <p:grpSp>
          <p:nvGrpSpPr>
            <p:cNvPr id="14" name="Group 14"/>
            <p:cNvGrpSpPr/>
            <p:nvPr/>
          </p:nvGrpSpPr>
          <p:grpSpPr>
            <a:xfrm rot="0">
              <a:off x="6203336" y="2078276"/>
              <a:ext cx="2485865" cy="4055825"/>
              <a:chOff x="6203336" y="2078276"/>
              <a:chExt cx="2485865" cy="4055825"/>
            </a:xfrm>
          </p:grpSpPr>
          <p:sp>
            <p:nvSpPr>
              <p:cNvPr id="15" name="TextBox 15"/>
              <p:cNvSpPr txBox="1"/>
              <p:nvPr>
                <p:custDataLst>
                  <p:tags r:id="rId9"/>
                </p:custDataLst>
              </p:nvPr>
            </p:nvSpPr>
            <p:spPr>
              <a:xfrm>
                <a:off x="6312875" y="2078276"/>
                <a:ext cx="381600" cy="382702"/>
              </a:xfrm>
              <a:prstGeom prst="rect">
                <a:avLst/>
              </a:prstGeom>
              <a:ln w="12700">
                <a:solidFill>
                  <a:srgbClr val="EBBA6F">
                    <a:alpha val="100000"/>
                  </a:srgbClr>
                </a:solidFill>
                <a:headEnd type="none"/>
                <a:tailEnd type="none"/>
              </a:ln>
            </p:spPr>
            <p:txBody>
              <a:bodyPr vert="horz" wrap="none" lIns="91440" tIns="45720" rIns="91440" bIns="45720" rtlCol="0" anchor="ctr" anchorCtr="0"/>
              <a:lstStyle/>
              <a:p>
                <a:pPr algn="ctr">
                  <a:defRPr/>
                </a:pPr>
                <a:r>
                  <a:rPr lang="en-US" sz="1400" b="1" i="0">
                    <a:solidFill>
                      <a:srgbClr val="FFFFFF">
                        <a:alpha val="100000"/>
                      </a:srgbClr>
                    </a:solidFill>
                    <a:latin typeface="Arial" panose="020B0604020202020204"/>
                    <a:ea typeface="Arial" panose="020B0604020202020204"/>
                    <a:cs typeface="Arial" panose="020B0604020202020204"/>
                  </a:rPr>
                  <a:t>3</a:t>
                </a:r>
                <a:endParaRPr lang="en-US" sz="1100"/>
              </a:p>
            </p:txBody>
          </p:sp>
          <p:sp>
            <p:nvSpPr>
              <p:cNvPr id="16" name="TextBox 16"/>
              <p:cNvSpPr txBox="1"/>
              <p:nvPr>
                <p:custDataLst>
                  <p:tags r:id="rId10"/>
                </p:custDataLst>
              </p:nvPr>
            </p:nvSpPr>
            <p:spPr>
              <a:xfrm>
                <a:off x="6203336" y="2550512"/>
                <a:ext cx="2485865" cy="1142648"/>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800" b="1" i="0">
                    <a:solidFill>
                      <a:srgbClr val="FFFFFF">
                        <a:alpha val="100000"/>
                      </a:srgbClr>
                    </a:solidFill>
                    <a:latin typeface="汉仪行楷简"/>
                    <a:ea typeface="汉仪行楷简"/>
                    <a:cs typeface="汉仪行楷简"/>
                  </a:rPr>
                  <a:t>决策支撑滞后</a:t>
                </a:r>
                <a:endParaRPr lang="en-US" sz="1100"/>
              </a:p>
            </p:txBody>
          </p:sp>
          <p:sp>
            <p:nvSpPr>
              <p:cNvPr id="17" name="TextBox 17"/>
              <p:cNvSpPr txBox="1"/>
              <p:nvPr>
                <p:custDataLst>
                  <p:tags r:id="rId11"/>
                </p:custDataLst>
              </p:nvPr>
            </p:nvSpPr>
            <p:spPr>
              <a:xfrm>
                <a:off x="6203336" y="3693161"/>
                <a:ext cx="2485865" cy="2440940"/>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600" b="0" i="0">
                    <a:solidFill>
                      <a:srgbClr val="FFFFFF">
                        <a:alpha val="100000"/>
                      </a:srgbClr>
                    </a:solidFill>
                    <a:latin typeface="思源黑体 CN Regular"/>
                    <a:ea typeface="思源黑体 CN Regular"/>
                    <a:cs typeface="思源黑体 CN Regular"/>
                  </a:rPr>
                  <a:t>传统的数据报告周期长，形式单一，无法为应急响应和精准治污提供实时、有效的决策支持。</a:t>
                </a:r>
                <a:endParaRPr lang="en-US" sz="1600" b="0" i="0">
                  <a:solidFill>
                    <a:srgbClr val="FFFFFF">
                      <a:alpha val="100000"/>
                    </a:srgbClr>
                  </a:solidFill>
                  <a:latin typeface="思源黑体 CN Regular"/>
                  <a:ea typeface="思源黑体 CN Regular"/>
                  <a:cs typeface="思源黑体 CN Regular"/>
                </a:endParaRPr>
              </a:p>
            </p:txBody>
          </p:sp>
        </p:grpSp>
        <p:grpSp>
          <p:nvGrpSpPr>
            <p:cNvPr id="18" name="Group 18"/>
            <p:cNvGrpSpPr/>
            <p:nvPr/>
          </p:nvGrpSpPr>
          <p:grpSpPr>
            <a:xfrm rot="0">
              <a:off x="8907166" y="2078276"/>
              <a:ext cx="2485865" cy="4055825"/>
              <a:chOff x="8907166" y="2078276"/>
              <a:chExt cx="2485865" cy="4055825"/>
            </a:xfrm>
          </p:grpSpPr>
          <p:sp>
            <p:nvSpPr>
              <p:cNvPr id="19" name="TextBox 19"/>
              <p:cNvSpPr txBox="1"/>
              <p:nvPr>
                <p:custDataLst>
                  <p:tags r:id="rId12"/>
                </p:custDataLst>
              </p:nvPr>
            </p:nvSpPr>
            <p:spPr>
              <a:xfrm>
                <a:off x="9016705" y="2078276"/>
                <a:ext cx="381600" cy="382702"/>
              </a:xfrm>
              <a:prstGeom prst="rect">
                <a:avLst/>
              </a:prstGeom>
              <a:ln w="12700">
                <a:solidFill>
                  <a:srgbClr val="EBBA6F">
                    <a:alpha val="100000"/>
                  </a:srgbClr>
                </a:solidFill>
                <a:headEnd type="none"/>
                <a:tailEnd type="none"/>
              </a:ln>
            </p:spPr>
            <p:txBody>
              <a:bodyPr vert="horz" wrap="none" lIns="91440" tIns="45720" rIns="91440" bIns="45720" rtlCol="0" anchor="ctr" anchorCtr="0"/>
              <a:lstStyle/>
              <a:p>
                <a:pPr algn="ctr">
                  <a:defRPr/>
                </a:pPr>
                <a:r>
                  <a:rPr lang="en-US" sz="1400" b="1" i="0">
                    <a:solidFill>
                      <a:srgbClr val="FFFFFF">
                        <a:alpha val="100000"/>
                      </a:srgbClr>
                    </a:solidFill>
                    <a:latin typeface="Arial" panose="020B0604020202020204"/>
                    <a:ea typeface="Arial" panose="020B0604020202020204"/>
                    <a:cs typeface="Arial" panose="020B0604020202020204"/>
                  </a:rPr>
                  <a:t>4</a:t>
                </a:r>
                <a:endParaRPr lang="en-US" sz="1100"/>
              </a:p>
            </p:txBody>
          </p:sp>
          <p:sp>
            <p:nvSpPr>
              <p:cNvPr id="20" name="TextBox 20"/>
              <p:cNvSpPr txBox="1"/>
              <p:nvPr>
                <p:custDataLst>
                  <p:tags r:id="rId13"/>
                </p:custDataLst>
              </p:nvPr>
            </p:nvSpPr>
            <p:spPr>
              <a:xfrm>
                <a:off x="8907166" y="2550512"/>
                <a:ext cx="2485865" cy="1142648"/>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800" b="1" i="0">
                    <a:solidFill>
                      <a:srgbClr val="FFFFFF">
                        <a:alpha val="100000"/>
                      </a:srgbClr>
                    </a:solidFill>
                    <a:latin typeface="汉仪行楷简"/>
                    <a:ea typeface="汉仪行楷简"/>
                    <a:cs typeface="汉仪行楷简"/>
                  </a:rPr>
                  <a:t>公众参与度低</a:t>
                </a:r>
                <a:endParaRPr lang="en-US" sz="1100"/>
              </a:p>
            </p:txBody>
          </p:sp>
          <p:sp>
            <p:nvSpPr>
              <p:cNvPr id="21" name="TextBox 21"/>
              <p:cNvSpPr txBox="1"/>
              <p:nvPr>
                <p:custDataLst>
                  <p:tags r:id="rId14"/>
                </p:custDataLst>
              </p:nvPr>
            </p:nvSpPr>
            <p:spPr>
              <a:xfrm>
                <a:off x="8907166" y="3693161"/>
                <a:ext cx="2485865" cy="2440940"/>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600" b="0" i="0">
                    <a:solidFill>
                      <a:srgbClr val="FFFFFF">
                        <a:alpha val="100000"/>
                      </a:srgbClr>
                    </a:solidFill>
                    <a:latin typeface="思源黑体 CN Regular"/>
                    <a:ea typeface="思源黑体 CN Regular"/>
                    <a:cs typeface="思源黑体 CN Regular"/>
                  </a:rPr>
                  <a:t>现有信息公开方式不够直观、互动性差，难以激发公众对空气质量的关注和参与感。</a:t>
                </a:r>
                <a:endParaRPr lang="en-US" sz="1600" b="0" i="0">
                  <a:solidFill>
                    <a:srgbClr val="FFFFFF">
                      <a:alpha val="100000"/>
                    </a:srgbClr>
                  </a:solidFill>
                  <a:latin typeface="思源黑体 CN Regular"/>
                  <a:ea typeface="思源黑体 CN Regular"/>
                  <a:cs typeface="思源黑体 CN Regular"/>
                </a:endParaRPr>
              </a:p>
            </p:txBody>
          </p:sp>
        </p:grpSp>
      </p:grpSp>
      <p:sp>
        <p:nvSpPr>
          <p:cNvPr id="22" name="TextBox 22"/>
          <p:cNvSpPr txBox="1"/>
          <p:nvPr/>
        </p:nvSpPr>
        <p:spPr>
          <a:xfrm>
            <a:off x="1465006" y="304799"/>
            <a:ext cx="9760043" cy="723901"/>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3000" b="0" i="0">
                <a:solidFill>
                  <a:srgbClr val="FFFFFF">
                    <a:alpha val="100000"/>
                  </a:srgbClr>
                </a:solidFill>
                <a:latin typeface="汉仪行楷简"/>
                <a:ea typeface="汉仪行楷简"/>
                <a:cs typeface="汉仪行楷简"/>
              </a:rPr>
              <a:t>市场现状与痛点</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5b801e1-0f64-4ccc-a938-03042060969b"/>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solidFill>
                  <a:srgbClr val="FFFFFF">
                    <a:alpha val="100000"/>
                    <a:tint val="75000"/>
                  </a:srgbClr>
                </a:solidFill>
                <a:latin typeface="Average"/>
                <a:ea typeface="Average"/>
                <a:cs typeface="Average"/>
              </a:rPr>
              <a:t>4</a:t>
            </a:r>
            <a:endParaRPr lang="en-US" sz="1100"/>
          </a:p>
        </p:txBody>
      </p:sp>
      <p:grpSp>
        <p:nvGrpSpPr>
          <p:cNvPr id="3" name="Group 3"/>
          <p:cNvGrpSpPr/>
          <p:nvPr>
            <p:custDataLst>
              <p:tags r:id="rId1"/>
            </p:custDataLst>
          </p:nvPr>
        </p:nvGrpSpPr>
        <p:grpSpPr>
          <a:xfrm rot="0">
            <a:off x="660400" y="1242753"/>
            <a:ext cx="10858500" cy="4599626"/>
            <a:chOff x="660400" y="1242753"/>
            <a:chExt cx="10858500" cy="4599626"/>
          </a:xfrm>
        </p:grpSpPr>
        <p:sp>
          <p:nvSpPr>
            <p:cNvPr id="4" name="TextBox 4"/>
            <p:cNvSpPr txBox="1"/>
            <p:nvPr/>
          </p:nvSpPr>
          <p:spPr>
            <a:xfrm>
              <a:off x="660400" y="1242753"/>
              <a:ext cx="10858500" cy="632490"/>
            </a:xfrm>
            <a:prstGeom prst="rect">
              <a:avLst/>
            </a:prstGeom>
            <a:ln>
              <a:headEnd type="none"/>
              <a:tailEnd type="none"/>
            </a:ln>
          </p:spPr>
          <p:txBody>
            <a:bodyPr vert="horz" wrap="square" lIns="91440" tIns="45720" rIns="91440" bIns="45720" rtlCol="0" anchor="ctr" anchorCtr="0"/>
            <a:lstStyle/>
            <a:p>
              <a:pPr algn="ctr">
                <a:defRPr/>
              </a:pPr>
              <a:r>
                <a:rPr lang="en-US" sz="3200" b="1" i="0">
                  <a:solidFill>
                    <a:schemeClr val="bg2">
                      <a:lumMod val="90000"/>
                      <a:alpha val="100000"/>
                    </a:schemeClr>
                  </a:solidFill>
                  <a:latin typeface="汉仪行楷简"/>
                  <a:ea typeface="汉仪行楷简"/>
                  <a:cs typeface="汉仪行楷简"/>
                </a:rPr>
                <a:t>服务于多元用户，满足差异化需求</a:t>
              </a:r>
              <a:endParaRPr lang="en-US" sz="3200" b="1" i="0">
                <a:solidFill>
                  <a:schemeClr val="bg2">
                    <a:lumMod val="90000"/>
                    <a:alpha val="100000"/>
                  </a:schemeClr>
                </a:solidFill>
                <a:latin typeface="汉仪行楷简"/>
                <a:ea typeface="汉仪行楷简"/>
                <a:cs typeface="汉仪行楷简"/>
              </a:endParaRPr>
            </a:p>
          </p:txBody>
        </p:sp>
        <p:grpSp>
          <p:nvGrpSpPr>
            <p:cNvPr id="5" name="Group 5"/>
            <p:cNvGrpSpPr/>
            <p:nvPr/>
          </p:nvGrpSpPr>
          <p:grpSpPr>
            <a:xfrm rot="0">
              <a:off x="714414" y="2190750"/>
              <a:ext cx="2067316" cy="3651629"/>
              <a:chOff x="660401" y="2903682"/>
              <a:chExt cx="3612251" cy="2448098"/>
            </a:xfrm>
          </p:grpSpPr>
          <p:sp>
            <p:nvSpPr>
              <p:cNvPr id="6" name="AutoShape 6"/>
              <p:cNvSpPr/>
              <p:nvPr>
                <p:custDataLst>
                  <p:tags r:id="rId2"/>
                </p:custDataLst>
              </p:nvPr>
            </p:nvSpPr>
            <p:spPr>
              <a:xfrm>
                <a:off x="660401" y="2903682"/>
                <a:ext cx="3612251" cy="2448098"/>
              </a:xfrm>
              <a:prstGeom prst="rect">
                <a:avLst/>
              </a:prstGeom>
              <a:gradFill>
                <a:gsLst>
                  <a:gs pos="3999">
                    <a:srgbClr val="FFFFFF">
                      <a:alpha val="52156"/>
                    </a:srgbClr>
                  </a:gs>
                  <a:gs pos="50000">
                    <a:srgbClr val="FFFFFF">
                      <a:alpha val="5098"/>
                    </a:srgbClr>
                  </a:gs>
                  <a:gs pos="100000">
                    <a:srgbClr val="FFFFFF">
                      <a:alpha val="36862"/>
                    </a:srgbClr>
                  </a:gs>
                </a:gsLst>
                <a:lin ang="18900000"/>
              </a:gradFill>
              <a:ln>
                <a:prstDash val="solid"/>
                <a:headEnd type="none"/>
                <a:tailEnd type="none"/>
              </a:ln>
            </p:spPr>
          </p:sp>
          <p:sp>
            <p:nvSpPr>
              <p:cNvPr id="7" name="TextBox 7"/>
              <p:cNvSpPr txBox="1"/>
              <p:nvPr>
                <p:custDataLst>
                  <p:tags r:id="rId3"/>
                </p:custDataLst>
              </p:nvPr>
            </p:nvSpPr>
            <p:spPr>
              <a:xfrm>
                <a:off x="1298838" y="4996226"/>
                <a:ext cx="2308089" cy="278672"/>
              </a:xfrm>
              <a:prstGeom prst="rect">
                <a:avLst/>
              </a:prstGeom>
              <a:solidFill>
                <a:srgbClr val="EBBA6F">
                  <a:alpha val="100000"/>
                </a:srgbClr>
              </a:solidFill>
              <a:ln>
                <a:headEnd type="none"/>
                <a:tailEnd type="none"/>
              </a:ln>
            </p:spPr>
            <p:txBody>
              <a:bodyPr vert="horz" wrap="square" lIns="91440" tIns="45720" rIns="91440" bIns="45720" rtlCol="0" anchor="ctr" anchorCtr="1"/>
              <a:lstStyle/>
              <a:p>
                <a:pPr algn="ctr">
                  <a:defRPr/>
                </a:pPr>
                <a:r>
                  <a:rPr lang="en-US" sz="1600" b="1" i="0">
                    <a:solidFill>
                      <a:srgbClr val="FFFFFF">
                        <a:alpha val="100000"/>
                      </a:srgbClr>
                    </a:solidFill>
                    <a:latin typeface="Arial" panose="020B0604020202020204"/>
                    <a:ea typeface="Arial" panose="020B0604020202020204"/>
                    <a:cs typeface="Arial" panose="020B0604020202020204"/>
                  </a:rPr>
                  <a:t>01</a:t>
                </a:r>
                <a:endParaRPr lang="en-US" sz="1100"/>
              </a:p>
            </p:txBody>
          </p:sp>
          <p:sp>
            <p:nvSpPr>
              <p:cNvPr id="8" name="TextBox 8"/>
              <p:cNvSpPr txBox="1"/>
              <p:nvPr>
                <p:custDataLst>
                  <p:tags r:id="rId4"/>
                </p:custDataLst>
              </p:nvPr>
            </p:nvSpPr>
            <p:spPr>
              <a:xfrm>
                <a:off x="754777" y="3652802"/>
                <a:ext cx="3423497" cy="1275444"/>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strike="noStrike">
                    <a:solidFill>
                      <a:schemeClr val="bg2">
                        <a:lumMod val="90000"/>
                        <a:alpha val="100000"/>
                      </a:schemeClr>
                    </a:solidFill>
                    <a:latin typeface="思源黑体 CN Regular"/>
                    <a:ea typeface="思源黑体 CN Regular"/>
                    <a:cs typeface="思源黑体 CN Regular"/>
                  </a:rPr>
                  <a:t>为生态环境、气象等部门的空气质量监测、污染预警、应急响应和政策评估提供数据支持。</a:t>
                </a:r>
                <a:endParaRPr lang="en-US" sz="1200" b="0" i="0" strike="noStrike">
                  <a:solidFill>
                    <a:schemeClr val="bg2">
                      <a:lumMod val="90000"/>
                      <a:alpha val="100000"/>
                    </a:schemeClr>
                  </a:solidFill>
                  <a:latin typeface="思源黑体 CN Regular"/>
                  <a:ea typeface="思源黑体 CN Regular"/>
                  <a:cs typeface="思源黑体 CN Regular"/>
                </a:endParaRPr>
              </a:p>
            </p:txBody>
          </p:sp>
          <p:sp>
            <p:nvSpPr>
              <p:cNvPr id="9" name="TextBox 9"/>
              <p:cNvSpPr txBox="1"/>
              <p:nvPr>
                <p:custDataLst>
                  <p:tags r:id="rId5"/>
                </p:custDataLst>
              </p:nvPr>
            </p:nvSpPr>
            <p:spPr>
              <a:xfrm>
                <a:off x="754777" y="3124920"/>
                <a:ext cx="3423497" cy="527882"/>
              </a:xfrm>
              <a:prstGeom prst="rect">
                <a:avLst/>
              </a:prstGeom>
              <a:ln>
                <a:headEnd type="none"/>
                <a:tailEnd type="none"/>
              </a:ln>
            </p:spPr>
            <p:txBody>
              <a:bodyPr vert="horz" wrap="square" lIns="91440" tIns="45720" rIns="91440" bIns="45720" rtlCol="0" anchor="b" anchorCtr="0"/>
              <a:lstStyle/>
              <a:p>
                <a:pPr algn="l">
                  <a:defRPr/>
                </a:pPr>
                <a:r>
                  <a:rPr lang="en-US" sz="1800" b="1" i="0">
                    <a:solidFill>
                      <a:schemeClr val="bg2">
                        <a:lumMod val="90000"/>
                        <a:alpha val="100000"/>
                      </a:schemeClr>
                    </a:solidFill>
                    <a:latin typeface="汉仪行楷简"/>
                    <a:ea typeface="汉仪行楷简"/>
                    <a:cs typeface="汉仪行楷简"/>
                  </a:rPr>
                  <a:t>政府部门</a:t>
                </a:r>
                <a:endParaRPr lang="en-US" sz="1800" b="1" i="0">
                  <a:solidFill>
                    <a:schemeClr val="bg2">
                      <a:lumMod val="90000"/>
                      <a:alpha val="100000"/>
                    </a:schemeClr>
                  </a:solidFill>
                  <a:latin typeface="汉仪行楷简"/>
                  <a:ea typeface="汉仪行楷简"/>
                  <a:cs typeface="汉仪行楷简"/>
                </a:endParaRPr>
              </a:p>
            </p:txBody>
          </p:sp>
        </p:grpSp>
        <p:grpSp>
          <p:nvGrpSpPr>
            <p:cNvPr id="10" name="Group 10"/>
            <p:cNvGrpSpPr/>
            <p:nvPr/>
          </p:nvGrpSpPr>
          <p:grpSpPr>
            <a:xfrm rot="0">
              <a:off x="3587543" y="2190750"/>
              <a:ext cx="2067316" cy="3651629"/>
              <a:chOff x="4283525" y="2903682"/>
              <a:chExt cx="3612251" cy="2448098"/>
            </a:xfrm>
          </p:grpSpPr>
          <p:sp>
            <p:nvSpPr>
              <p:cNvPr id="11" name="AutoShape 11"/>
              <p:cNvSpPr/>
              <p:nvPr>
                <p:custDataLst>
                  <p:tags r:id="rId6"/>
                </p:custDataLst>
              </p:nvPr>
            </p:nvSpPr>
            <p:spPr>
              <a:xfrm>
                <a:off x="4283525" y="2903682"/>
                <a:ext cx="3612251" cy="2448098"/>
              </a:xfrm>
              <a:prstGeom prst="rect">
                <a:avLst/>
              </a:prstGeom>
              <a:gradFill>
                <a:gsLst>
                  <a:gs pos="3999">
                    <a:srgbClr val="FFFFFF">
                      <a:alpha val="52156"/>
                    </a:srgbClr>
                  </a:gs>
                  <a:gs pos="50000">
                    <a:srgbClr val="FFFFFF">
                      <a:alpha val="5098"/>
                    </a:srgbClr>
                  </a:gs>
                  <a:gs pos="100000">
                    <a:srgbClr val="FFFFFF">
                      <a:alpha val="36862"/>
                    </a:srgbClr>
                  </a:gs>
                </a:gsLst>
                <a:lin ang="18900000"/>
              </a:gradFill>
              <a:ln>
                <a:prstDash val="solid"/>
                <a:headEnd type="none"/>
                <a:tailEnd type="none"/>
              </a:ln>
            </p:spPr>
          </p:sp>
          <p:sp>
            <p:nvSpPr>
              <p:cNvPr id="12" name="TextBox 12"/>
              <p:cNvSpPr txBox="1"/>
              <p:nvPr>
                <p:custDataLst>
                  <p:tags r:id="rId7"/>
                </p:custDataLst>
              </p:nvPr>
            </p:nvSpPr>
            <p:spPr>
              <a:xfrm>
                <a:off x="4921962" y="4996226"/>
                <a:ext cx="2308089" cy="278672"/>
              </a:xfrm>
              <a:prstGeom prst="rect">
                <a:avLst/>
              </a:prstGeom>
              <a:solidFill>
                <a:srgbClr val="EBBA6F">
                  <a:alpha val="100000"/>
                </a:srgbClr>
              </a:solidFill>
              <a:ln>
                <a:headEnd type="none"/>
                <a:tailEnd type="none"/>
              </a:ln>
            </p:spPr>
            <p:txBody>
              <a:bodyPr vert="horz" wrap="square" lIns="91440" tIns="45720" rIns="91440" bIns="45720" rtlCol="0" anchor="ctr" anchorCtr="1"/>
              <a:lstStyle/>
              <a:p>
                <a:pPr algn="ctr">
                  <a:defRPr/>
                </a:pPr>
                <a:r>
                  <a:rPr lang="en-US" sz="1600" b="1" i="0">
                    <a:solidFill>
                      <a:srgbClr val="FFFFFF">
                        <a:alpha val="100000"/>
                      </a:srgbClr>
                    </a:solidFill>
                    <a:latin typeface="Arial" panose="020B0604020202020204"/>
                    <a:ea typeface="Arial" panose="020B0604020202020204"/>
                    <a:cs typeface="Arial" panose="020B0604020202020204"/>
                  </a:rPr>
                  <a:t>02</a:t>
                </a:r>
                <a:endParaRPr lang="en-US" sz="1100"/>
              </a:p>
            </p:txBody>
          </p:sp>
          <p:sp>
            <p:nvSpPr>
              <p:cNvPr id="13" name="TextBox 13"/>
              <p:cNvSpPr txBox="1"/>
              <p:nvPr>
                <p:custDataLst>
                  <p:tags r:id="rId8"/>
                </p:custDataLst>
              </p:nvPr>
            </p:nvSpPr>
            <p:spPr>
              <a:xfrm>
                <a:off x="4377901" y="3652802"/>
                <a:ext cx="3423497" cy="1275444"/>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solidFill>
                      <a:schemeClr val="bg2">
                        <a:lumMod val="90000"/>
                        <a:alpha val="100000"/>
                      </a:schemeClr>
                    </a:solidFill>
                    <a:latin typeface="思源黑体 CN Regular"/>
                    <a:ea typeface="思源黑体 CN Regular"/>
                    <a:cs typeface="思源黑体 CN Regular"/>
                  </a:rPr>
                  <a:t>为高校、研究所的科研人员提供丰富的、可交互的数据集，辅助开展大气污染成因、传输规律等科学研究。</a:t>
                </a:r>
                <a:endParaRPr lang="en-US" sz="1200">
                  <a:solidFill>
                    <a:schemeClr val="bg2">
                      <a:lumMod val="90000"/>
                      <a:alpha val="100000"/>
                    </a:schemeClr>
                  </a:solidFill>
                  <a:latin typeface="思源黑体 CN Regular"/>
                  <a:ea typeface="思源黑体 CN Regular"/>
                  <a:cs typeface="思源黑体 CN Regular"/>
                </a:endParaRPr>
              </a:p>
            </p:txBody>
          </p:sp>
          <p:sp>
            <p:nvSpPr>
              <p:cNvPr id="14" name="TextBox 14"/>
              <p:cNvSpPr txBox="1"/>
              <p:nvPr>
                <p:custDataLst>
                  <p:tags r:id="rId9"/>
                </p:custDataLst>
              </p:nvPr>
            </p:nvSpPr>
            <p:spPr>
              <a:xfrm>
                <a:off x="4377901" y="3124920"/>
                <a:ext cx="3423497" cy="527882"/>
              </a:xfrm>
              <a:prstGeom prst="rect">
                <a:avLst/>
              </a:prstGeom>
              <a:ln>
                <a:headEnd type="none"/>
                <a:tailEnd type="none"/>
              </a:ln>
            </p:spPr>
            <p:txBody>
              <a:bodyPr vert="horz" wrap="square" lIns="91440" tIns="45720" rIns="91440" bIns="45720" rtlCol="0" anchor="b" anchorCtr="0"/>
              <a:lstStyle/>
              <a:p>
                <a:pPr algn="l">
                  <a:defRPr/>
                </a:pPr>
                <a:r>
                  <a:rPr lang="en-US" sz="1800" b="1" i="0">
                    <a:solidFill>
                      <a:schemeClr val="bg2">
                        <a:lumMod val="90000"/>
                        <a:alpha val="100000"/>
                      </a:schemeClr>
                    </a:solidFill>
                    <a:latin typeface="汉仪行楷简"/>
                    <a:ea typeface="汉仪行楷简"/>
                    <a:cs typeface="汉仪行楷简"/>
                  </a:rPr>
                  <a:t>科研机构</a:t>
                </a:r>
                <a:endParaRPr lang="en-US" sz="1800" b="1">
                  <a:solidFill>
                    <a:schemeClr val="bg2">
                      <a:lumMod val="90000"/>
                      <a:alpha val="100000"/>
                    </a:schemeClr>
                  </a:solidFill>
                  <a:latin typeface="汉仪行楷简"/>
                  <a:ea typeface="汉仪行楷简"/>
                  <a:cs typeface="汉仪行楷简"/>
                </a:endParaRPr>
              </a:p>
            </p:txBody>
          </p:sp>
        </p:grpSp>
        <p:grpSp>
          <p:nvGrpSpPr>
            <p:cNvPr id="15" name="Group 15"/>
            <p:cNvGrpSpPr/>
            <p:nvPr/>
          </p:nvGrpSpPr>
          <p:grpSpPr>
            <a:xfrm rot="0">
              <a:off x="6460672" y="2190750"/>
              <a:ext cx="2067316" cy="3651629"/>
              <a:chOff x="7906649" y="2903682"/>
              <a:chExt cx="3612251" cy="2448098"/>
            </a:xfrm>
          </p:grpSpPr>
          <p:sp>
            <p:nvSpPr>
              <p:cNvPr id="16" name="AutoShape 16"/>
              <p:cNvSpPr/>
              <p:nvPr>
                <p:custDataLst>
                  <p:tags r:id="rId10"/>
                </p:custDataLst>
              </p:nvPr>
            </p:nvSpPr>
            <p:spPr>
              <a:xfrm>
                <a:off x="7906649" y="2903682"/>
                <a:ext cx="3612251" cy="2448098"/>
              </a:xfrm>
              <a:prstGeom prst="rect">
                <a:avLst/>
              </a:prstGeom>
              <a:gradFill>
                <a:gsLst>
                  <a:gs pos="3999">
                    <a:srgbClr val="FFFFFF">
                      <a:alpha val="52156"/>
                    </a:srgbClr>
                  </a:gs>
                  <a:gs pos="50000">
                    <a:srgbClr val="FFFFFF">
                      <a:alpha val="5098"/>
                    </a:srgbClr>
                  </a:gs>
                  <a:gs pos="100000">
                    <a:srgbClr val="FFFFFF">
                      <a:alpha val="36862"/>
                    </a:srgbClr>
                  </a:gs>
                </a:gsLst>
                <a:lin ang="18900000"/>
              </a:gradFill>
              <a:ln>
                <a:prstDash val="solid"/>
                <a:headEnd type="none"/>
                <a:tailEnd type="none"/>
              </a:ln>
            </p:spPr>
          </p:sp>
          <p:sp>
            <p:nvSpPr>
              <p:cNvPr id="17" name="TextBox 17"/>
              <p:cNvSpPr txBox="1"/>
              <p:nvPr>
                <p:custDataLst>
                  <p:tags r:id="rId11"/>
                </p:custDataLst>
              </p:nvPr>
            </p:nvSpPr>
            <p:spPr>
              <a:xfrm>
                <a:off x="8545086" y="4996226"/>
                <a:ext cx="2308089" cy="278672"/>
              </a:xfrm>
              <a:prstGeom prst="rect">
                <a:avLst/>
              </a:prstGeom>
              <a:solidFill>
                <a:srgbClr val="EBBA6F">
                  <a:alpha val="100000"/>
                </a:srgbClr>
              </a:solidFill>
              <a:ln>
                <a:headEnd type="none"/>
                <a:tailEnd type="none"/>
              </a:ln>
            </p:spPr>
            <p:txBody>
              <a:bodyPr vert="horz" wrap="square" lIns="91440" tIns="45720" rIns="91440" bIns="45720" rtlCol="0" anchor="ctr" anchorCtr="1"/>
              <a:lstStyle/>
              <a:p>
                <a:pPr algn="ctr">
                  <a:defRPr/>
                </a:pPr>
                <a:r>
                  <a:rPr lang="en-US" sz="1600" b="1" i="0">
                    <a:solidFill>
                      <a:srgbClr val="FFFFFF">
                        <a:alpha val="100000"/>
                      </a:srgbClr>
                    </a:solidFill>
                    <a:latin typeface="Arial" panose="020B0604020202020204"/>
                    <a:ea typeface="Arial" panose="020B0604020202020204"/>
                    <a:cs typeface="Arial" panose="020B0604020202020204"/>
                  </a:rPr>
                  <a:t>03</a:t>
                </a:r>
                <a:endParaRPr lang="en-US" sz="1100"/>
              </a:p>
            </p:txBody>
          </p:sp>
          <p:sp>
            <p:nvSpPr>
              <p:cNvPr id="18" name="TextBox 18"/>
              <p:cNvSpPr txBox="1"/>
              <p:nvPr>
                <p:custDataLst>
                  <p:tags r:id="rId12"/>
                </p:custDataLst>
              </p:nvPr>
            </p:nvSpPr>
            <p:spPr>
              <a:xfrm>
                <a:off x="8001025" y="3652802"/>
                <a:ext cx="3423497" cy="1275444"/>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strike="noStrike">
                    <a:solidFill>
                      <a:schemeClr val="bg2">
                        <a:lumMod val="90000"/>
                        <a:alpha val="100000"/>
                      </a:schemeClr>
                    </a:solidFill>
                    <a:latin typeface="思源黑体 CN Regular"/>
                    <a:ea typeface="思源黑体 CN Regular"/>
                    <a:cs typeface="思源黑体 CN Regular"/>
                  </a:rPr>
                  <a:t>帮助能源、化工、交通等重点排放企业监控周边环境质量，优化生产调度，实现绿色减排。</a:t>
                </a:r>
                <a:endParaRPr lang="en-US" sz="1200">
                  <a:solidFill>
                    <a:schemeClr val="bg2">
                      <a:lumMod val="90000"/>
                      <a:alpha val="100000"/>
                    </a:schemeClr>
                  </a:solidFill>
                  <a:latin typeface="思源黑体 CN Regular"/>
                  <a:ea typeface="思源黑体 CN Regular"/>
                  <a:cs typeface="思源黑体 CN Regular"/>
                </a:endParaRPr>
              </a:p>
            </p:txBody>
          </p:sp>
          <p:sp>
            <p:nvSpPr>
              <p:cNvPr id="19" name="TextBox 19"/>
              <p:cNvSpPr txBox="1"/>
              <p:nvPr>
                <p:custDataLst>
                  <p:tags r:id="rId13"/>
                </p:custDataLst>
              </p:nvPr>
            </p:nvSpPr>
            <p:spPr>
              <a:xfrm>
                <a:off x="8001025" y="3124920"/>
                <a:ext cx="3423497" cy="527882"/>
              </a:xfrm>
              <a:prstGeom prst="rect">
                <a:avLst/>
              </a:prstGeom>
              <a:ln>
                <a:headEnd type="none"/>
                <a:tailEnd type="none"/>
              </a:ln>
            </p:spPr>
            <p:txBody>
              <a:bodyPr vert="horz" wrap="square" lIns="91440" tIns="45720" rIns="91440" bIns="45720" rtlCol="0" anchor="b" anchorCtr="0"/>
              <a:lstStyle/>
              <a:p>
                <a:pPr algn="l">
                  <a:defRPr/>
                </a:pPr>
                <a:r>
                  <a:rPr lang="en-US" sz="1800" b="1" i="0">
                    <a:solidFill>
                      <a:schemeClr val="bg2">
                        <a:lumMod val="90000"/>
                        <a:alpha val="100000"/>
                      </a:schemeClr>
                    </a:solidFill>
                    <a:latin typeface="汉仪行楷简"/>
                    <a:ea typeface="汉仪行楷简"/>
                    <a:cs typeface="汉仪行楷简"/>
                  </a:rPr>
                  <a:t>企业用户</a:t>
                </a:r>
                <a:endParaRPr lang="en-US" sz="1800" b="1">
                  <a:solidFill>
                    <a:schemeClr val="bg2">
                      <a:lumMod val="90000"/>
                      <a:alpha val="100000"/>
                    </a:schemeClr>
                  </a:solidFill>
                  <a:latin typeface="汉仪行楷简"/>
                  <a:ea typeface="汉仪行楷简"/>
                  <a:cs typeface="汉仪行楷简"/>
                </a:endParaRPr>
              </a:p>
            </p:txBody>
          </p:sp>
        </p:grpSp>
        <p:grpSp>
          <p:nvGrpSpPr>
            <p:cNvPr id="20" name="Group 20"/>
            <p:cNvGrpSpPr/>
            <p:nvPr/>
          </p:nvGrpSpPr>
          <p:grpSpPr>
            <a:xfrm rot="0">
              <a:off x="9333801" y="2190750"/>
              <a:ext cx="2067316" cy="3651629"/>
              <a:chOff x="4283525" y="2903682"/>
              <a:chExt cx="3612251" cy="2448098"/>
            </a:xfrm>
          </p:grpSpPr>
          <p:sp>
            <p:nvSpPr>
              <p:cNvPr id="21" name="AutoShape 21"/>
              <p:cNvSpPr/>
              <p:nvPr>
                <p:custDataLst>
                  <p:tags r:id="rId14"/>
                </p:custDataLst>
              </p:nvPr>
            </p:nvSpPr>
            <p:spPr>
              <a:xfrm>
                <a:off x="4283525" y="2903682"/>
                <a:ext cx="3612251" cy="2448098"/>
              </a:xfrm>
              <a:prstGeom prst="rect">
                <a:avLst/>
              </a:prstGeom>
              <a:gradFill>
                <a:gsLst>
                  <a:gs pos="3999">
                    <a:srgbClr val="FFFFFF">
                      <a:alpha val="52156"/>
                    </a:srgbClr>
                  </a:gs>
                  <a:gs pos="50000">
                    <a:srgbClr val="FFFFFF">
                      <a:alpha val="5098"/>
                    </a:srgbClr>
                  </a:gs>
                  <a:gs pos="100000">
                    <a:srgbClr val="FFFFFF">
                      <a:alpha val="36862"/>
                    </a:srgbClr>
                  </a:gs>
                </a:gsLst>
                <a:lin ang="18900000"/>
              </a:gradFill>
              <a:ln>
                <a:prstDash val="solid"/>
                <a:headEnd type="none"/>
                <a:tailEnd type="none"/>
              </a:ln>
            </p:spPr>
          </p:sp>
          <p:sp>
            <p:nvSpPr>
              <p:cNvPr id="22" name="TextBox 22"/>
              <p:cNvSpPr txBox="1"/>
              <p:nvPr>
                <p:custDataLst>
                  <p:tags r:id="rId15"/>
                </p:custDataLst>
              </p:nvPr>
            </p:nvSpPr>
            <p:spPr>
              <a:xfrm>
                <a:off x="4921962" y="4996226"/>
                <a:ext cx="2308089" cy="278672"/>
              </a:xfrm>
              <a:prstGeom prst="rect">
                <a:avLst/>
              </a:prstGeom>
              <a:solidFill>
                <a:srgbClr val="EBBA6F">
                  <a:alpha val="100000"/>
                </a:srgbClr>
              </a:solidFill>
              <a:ln>
                <a:headEnd type="none"/>
                <a:tailEnd type="none"/>
              </a:ln>
            </p:spPr>
            <p:txBody>
              <a:bodyPr vert="horz" wrap="square" lIns="91440" tIns="45720" rIns="91440" bIns="45720" rtlCol="0" anchor="ctr" anchorCtr="1"/>
              <a:lstStyle/>
              <a:p>
                <a:pPr algn="ctr">
                  <a:defRPr/>
                </a:pPr>
                <a:r>
                  <a:rPr lang="en-US" sz="1600" b="1" i="0">
                    <a:solidFill>
                      <a:srgbClr val="FFFFFF">
                        <a:alpha val="100000"/>
                      </a:srgbClr>
                    </a:solidFill>
                    <a:latin typeface="Arial" panose="020B0604020202020204"/>
                    <a:ea typeface="Arial" panose="020B0604020202020204"/>
                    <a:cs typeface="Arial" panose="020B0604020202020204"/>
                  </a:rPr>
                  <a:t>04</a:t>
                </a:r>
                <a:endParaRPr lang="en-US" sz="1100"/>
              </a:p>
            </p:txBody>
          </p:sp>
          <p:sp>
            <p:nvSpPr>
              <p:cNvPr id="23" name="TextBox 23"/>
              <p:cNvSpPr txBox="1"/>
              <p:nvPr>
                <p:custDataLst>
                  <p:tags r:id="rId16"/>
                </p:custDataLst>
              </p:nvPr>
            </p:nvSpPr>
            <p:spPr>
              <a:xfrm>
                <a:off x="4377901" y="3652802"/>
                <a:ext cx="3423497" cy="1275444"/>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strike="noStrike">
                    <a:solidFill>
                      <a:schemeClr val="bg2">
                        <a:lumMod val="90000"/>
                        <a:alpha val="100000"/>
                      </a:schemeClr>
                    </a:solidFill>
                    <a:latin typeface="思源黑体 CN Regular"/>
                    <a:ea typeface="思源黑体 CN Regular"/>
                    <a:cs typeface="思源黑体 CN Regular"/>
                  </a:rPr>
                  <a:t>以通俗易懂的形式向公众传递空气质量信息，提升环保意识；为新闻媒体提供数据新闻的素材和工具。</a:t>
                </a:r>
                <a:endParaRPr lang="en-US" sz="1200">
                  <a:solidFill>
                    <a:schemeClr val="bg2">
                      <a:lumMod val="90000"/>
                      <a:alpha val="100000"/>
                    </a:schemeClr>
                  </a:solidFill>
                  <a:latin typeface="思源黑体 CN Regular"/>
                  <a:ea typeface="思源黑体 CN Regular"/>
                  <a:cs typeface="思源黑体 CN Regular"/>
                </a:endParaRPr>
              </a:p>
            </p:txBody>
          </p:sp>
          <p:sp>
            <p:nvSpPr>
              <p:cNvPr id="24" name="TextBox 24"/>
              <p:cNvSpPr txBox="1"/>
              <p:nvPr>
                <p:custDataLst>
                  <p:tags r:id="rId17"/>
                </p:custDataLst>
              </p:nvPr>
            </p:nvSpPr>
            <p:spPr>
              <a:xfrm>
                <a:off x="4377901" y="3124920"/>
                <a:ext cx="3423497" cy="527882"/>
              </a:xfrm>
              <a:prstGeom prst="rect">
                <a:avLst/>
              </a:prstGeom>
              <a:ln>
                <a:headEnd type="none"/>
                <a:tailEnd type="none"/>
              </a:ln>
            </p:spPr>
            <p:txBody>
              <a:bodyPr vert="horz" wrap="square" lIns="91440" tIns="45720" rIns="91440" bIns="45720" rtlCol="0" anchor="b" anchorCtr="0"/>
              <a:lstStyle/>
              <a:p>
                <a:pPr algn="l">
                  <a:defRPr/>
                </a:pPr>
                <a:r>
                  <a:rPr lang="en-US" sz="1800" b="1" i="0">
                    <a:solidFill>
                      <a:schemeClr val="bg2">
                        <a:lumMod val="90000"/>
                        <a:alpha val="100000"/>
                      </a:schemeClr>
                    </a:solidFill>
                    <a:latin typeface="汉仪行楷简"/>
                    <a:ea typeface="汉仪行楷简"/>
                    <a:cs typeface="汉仪行楷简"/>
                  </a:rPr>
                  <a:t>公众与媒体</a:t>
                </a:r>
                <a:endParaRPr lang="en-US" sz="1800" b="1">
                  <a:solidFill>
                    <a:schemeClr val="bg2">
                      <a:lumMod val="90000"/>
                      <a:alpha val="100000"/>
                    </a:schemeClr>
                  </a:solidFill>
                  <a:latin typeface="汉仪行楷简"/>
                  <a:ea typeface="汉仪行楷简"/>
                  <a:cs typeface="汉仪行楷简"/>
                </a:endParaRPr>
              </a:p>
            </p:txBody>
          </p:sp>
        </p:grpSp>
      </p:grpSp>
      <p:sp>
        <p:nvSpPr>
          <p:cNvPr id="25" name="TextBox 25"/>
          <p:cNvSpPr txBox="1"/>
          <p:nvPr/>
        </p:nvSpPr>
        <p:spPr>
          <a:xfrm>
            <a:off x="1465006" y="304799"/>
            <a:ext cx="9760043" cy="723901"/>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3000" b="0" i="0">
                <a:solidFill>
                  <a:srgbClr val="FFFFFF">
                    <a:alpha val="100000"/>
                  </a:srgbClr>
                </a:solidFill>
                <a:latin typeface="汉仪行楷简"/>
                <a:ea typeface="汉仪行楷简"/>
                <a:cs typeface="汉仪行楷简"/>
              </a:rPr>
              <a:t>目标用户群体</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276172eb-5f6e-4e65-b63e-e6f364bfe70f"/>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solidFill>
                  <a:srgbClr val="FFFFFF">
                    <a:alpha val="100000"/>
                    <a:tint val="75000"/>
                  </a:srgbClr>
                </a:solidFill>
                <a:latin typeface="Average"/>
                <a:ea typeface="Average"/>
                <a:cs typeface="Average"/>
              </a:rPr>
              <a:t>4</a:t>
            </a:r>
            <a:endParaRPr lang="en-US" sz="1100"/>
          </a:p>
        </p:txBody>
      </p:sp>
      <p:grpSp>
        <p:nvGrpSpPr>
          <p:cNvPr id="3" name="Group 3"/>
          <p:cNvGrpSpPr/>
          <p:nvPr>
            <p:custDataLst>
              <p:tags r:id="rId1"/>
            </p:custDataLst>
          </p:nvPr>
        </p:nvGrpSpPr>
        <p:grpSpPr>
          <a:xfrm rot="0">
            <a:off x="630316" y="1130300"/>
            <a:ext cx="10918669" cy="4840046"/>
            <a:chOff x="630316" y="1130300"/>
            <a:chExt cx="10918669" cy="4840046"/>
          </a:xfrm>
        </p:grpSpPr>
        <p:sp>
          <p:nvSpPr>
            <p:cNvPr id="4" name="AutoShape 4"/>
            <p:cNvSpPr/>
            <p:nvPr/>
          </p:nvSpPr>
          <p:spPr>
            <a:xfrm>
              <a:off x="4836108" y="1886039"/>
              <a:ext cx="2507085" cy="45719"/>
            </a:xfrm>
            <a:prstGeom prst="rect">
              <a:avLst/>
            </a:prstGeom>
            <a:gradFill>
              <a:gsLst>
                <a:gs pos="15000">
                  <a:srgbClr val="EBBA6F">
                    <a:alpha val="72941"/>
                  </a:srgbClr>
                </a:gs>
                <a:gs pos="100000">
                  <a:srgbClr val="33CCFF">
                    <a:alpha val="0"/>
                  </a:srgbClr>
                </a:gs>
              </a:gsLst>
              <a:lin ang="0"/>
            </a:gradFill>
            <a:ln>
              <a:prstDash val="solid"/>
              <a:headEnd type="none"/>
              <a:tailEnd type="none"/>
            </a:ln>
          </p:spPr>
        </p:sp>
        <p:sp>
          <p:nvSpPr>
            <p:cNvPr id="5" name="TextBox 5"/>
            <p:cNvSpPr txBox="1"/>
            <p:nvPr/>
          </p:nvSpPr>
          <p:spPr>
            <a:xfrm>
              <a:off x="660400" y="1130300"/>
              <a:ext cx="10858500" cy="666562"/>
            </a:xfrm>
            <a:prstGeom prst="rect">
              <a:avLst/>
            </a:prstGeom>
            <a:ln>
              <a:headEnd type="none"/>
              <a:tailEnd type="none"/>
            </a:ln>
          </p:spPr>
          <p:txBody>
            <a:bodyPr vert="horz" wrap="square" lIns="91440" tIns="45720" rIns="91440" bIns="45720" rtlCol="0" anchor="ctr" anchorCtr="0"/>
            <a:lstStyle/>
            <a:p>
              <a:pPr algn="ctr">
                <a:defRPr/>
              </a:pPr>
              <a:r>
                <a:rPr lang="en-US" sz="3600" b="1" i="0">
                  <a:solidFill>
                    <a:srgbClr val="FFFFFF">
                      <a:alpha val="100000"/>
                    </a:srgbClr>
                  </a:solidFill>
                  <a:latin typeface="汉仪行楷简"/>
                  <a:ea typeface="汉仪行楷简"/>
                  <a:cs typeface="汉仪行楷简"/>
                </a:rPr>
                <a:t>填补市场空白，提供一站式解决方案</a:t>
              </a:r>
              <a:endParaRPr lang="en-US" sz="3600" b="1" i="0">
                <a:solidFill>
                  <a:srgbClr val="FFFFFF">
                    <a:alpha val="100000"/>
                  </a:srgbClr>
                </a:solidFill>
                <a:latin typeface="汉仪行楷简"/>
                <a:ea typeface="汉仪行楷简"/>
                <a:cs typeface="汉仪行楷简"/>
              </a:endParaRPr>
            </a:p>
          </p:txBody>
        </p:sp>
        <p:grpSp>
          <p:nvGrpSpPr>
            <p:cNvPr id="6" name="Group 6"/>
            <p:cNvGrpSpPr/>
            <p:nvPr/>
          </p:nvGrpSpPr>
          <p:grpSpPr>
            <a:xfrm rot="0">
              <a:off x="630316" y="2126893"/>
              <a:ext cx="2609921" cy="3428173"/>
              <a:chOff x="630316" y="2126893"/>
              <a:chExt cx="2609921" cy="3428173"/>
            </a:xfrm>
          </p:grpSpPr>
          <p:sp>
            <p:nvSpPr>
              <p:cNvPr id="7" name="AutoShape 7"/>
              <p:cNvSpPr/>
              <p:nvPr>
                <p:custDataLst>
                  <p:tags r:id="rId2"/>
                </p:custDataLst>
              </p:nvPr>
            </p:nvSpPr>
            <p:spPr>
              <a:xfrm>
                <a:off x="636320" y="2131611"/>
                <a:ext cx="2597914" cy="2347869"/>
              </a:xfrm>
              <a:custGeom>
                <a:avLst/>
                <a:gdLst/>
                <a:ahLst/>
                <a:cxnLst/>
                <a:rect l="l" t="t" r="r" b="b"/>
                <a:pathLst>
                  <a:path w="4078981" h="4690964">
                    <a:moveTo>
                      <a:pt x="181130" y="37996"/>
                    </a:moveTo>
                    <a:lnTo>
                      <a:pt x="37995" y="176199"/>
                    </a:lnTo>
                    <a:lnTo>
                      <a:pt x="37995" y="370671"/>
                    </a:lnTo>
                    <a:lnTo>
                      <a:pt x="38140" y="370671"/>
                    </a:lnTo>
                    <a:lnTo>
                      <a:pt x="38140" y="4308547"/>
                    </a:lnTo>
                    <a:lnTo>
                      <a:pt x="37995" y="4308547"/>
                    </a:lnTo>
                    <a:lnTo>
                      <a:pt x="37995" y="4509690"/>
                    </a:lnTo>
                    <a:lnTo>
                      <a:pt x="176199" y="4652824"/>
                    </a:lnTo>
                    <a:lnTo>
                      <a:pt x="351964" y="4652824"/>
                    </a:lnTo>
                    <a:lnTo>
                      <a:pt x="362840" y="4652824"/>
                    </a:lnTo>
                    <a:lnTo>
                      <a:pt x="3753700" y="4652824"/>
                    </a:lnTo>
                    <a:lnTo>
                      <a:pt x="3759211" y="4652824"/>
                    </a:lnTo>
                    <a:lnTo>
                      <a:pt x="3902781" y="4652824"/>
                    </a:lnTo>
                    <a:lnTo>
                      <a:pt x="4040840" y="4509690"/>
                    </a:lnTo>
                    <a:lnTo>
                      <a:pt x="4040840" y="4346107"/>
                    </a:lnTo>
                    <a:lnTo>
                      <a:pt x="4040840" y="4317248"/>
                    </a:lnTo>
                    <a:lnTo>
                      <a:pt x="4040840" y="633449"/>
                    </a:lnTo>
                    <a:lnTo>
                      <a:pt x="4040841" y="633449"/>
                    </a:lnTo>
                    <a:lnTo>
                      <a:pt x="4040841" y="463920"/>
                    </a:lnTo>
                    <a:lnTo>
                      <a:pt x="3897706" y="325861"/>
                    </a:lnTo>
                    <a:lnTo>
                      <a:pt x="3751380" y="325861"/>
                    </a:lnTo>
                    <a:lnTo>
                      <a:pt x="3742824" y="325861"/>
                    </a:lnTo>
                    <a:lnTo>
                      <a:pt x="2411975" y="325861"/>
                    </a:lnTo>
                    <a:lnTo>
                      <a:pt x="2161815" y="37996"/>
                    </a:lnTo>
                    <a:close/>
                    <a:moveTo>
                      <a:pt x="175184" y="0"/>
                    </a:moveTo>
                    <a:lnTo>
                      <a:pt x="2192269" y="0"/>
                    </a:lnTo>
                    <a:lnTo>
                      <a:pt x="2443299" y="287720"/>
                    </a:lnTo>
                    <a:lnTo>
                      <a:pt x="3742824" y="287720"/>
                    </a:lnTo>
                    <a:lnTo>
                      <a:pt x="3751380" y="287720"/>
                    </a:lnTo>
                    <a:lnTo>
                      <a:pt x="3903796" y="287720"/>
                    </a:lnTo>
                    <a:lnTo>
                      <a:pt x="4078981" y="456668"/>
                    </a:lnTo>
                    <a:lnTo>
                      <a:pt x="4078981" y="469140"/>
                    </a:lnTo>
                    <a:lnTo>
                      <a:pt x="4078981" y="494229"/>
                    </a:lnTo>
                    <a:lnTo>
                      <a:pt x="4078981" y="650706"/>
                    </a:lnTo>
                    <a:lnTo>
                      <a:pt x="4078980" y="650706"/>
                    </a:lnTo>
                    <a:lnTo>
                      <a:pt x="4078980" y="4317248"/>
                    </a:lnTo>
                    <a:lnTo>
                      <a:pt x="4078980" y="4346107"/>
                    </a:lnTo>
                    <a:lnTo>
                      <a:pt x="4078980" y="4515635"/>
                    </a:lnTo>
                    <a:lnTo>
                      <a:pt x="3910032" y="4690819"/>
                    </a:lnTo>
                    <a:lnTo>
                      <a:pt x="3897560" y="4690819"/>
                    </a:lnTo>
                    <a:lnTo>
                      <a:pt x="3872472" y="4690819"/>
                    </a:lnTo>
                    <a:lnTo>
                      <a:pt x="3759211" y="4690819"/>
                    </a:lnTo>
                    <a:lnTo>
                      <a:pt x="3759211" y="4690964"/>
                    </a:lnTo>
                    <a:lnTo>
                      <a:pt x="351964" y="4690964"/>
                    </a:lnTo>
                    <a:lnTo>
                      <a:pt x="351964" y="4690820"/>
                    </a:lnTo>
                    <a:lnTo>
                      <a:pt x="206364" y="4690820"/>
                    </a:lnTo>
                    <a:lnTo>
                      <a:pt x="181420" y="4690820"/>
                    </a:lnTo>
                    <a:lnTo>
                      <a:pt x="168948" y="4690820"/>
                    </a:lnTo>
                    <a:lnTo>
                      <a:pt x="0" y="4515636"/>
                    </a:lnTo>
                    <a:lnTo>
                      <a:pt x="0" y="4308547"/>
                    </a:lnTo>
                    <a:lnTo>
                      <a:pt x="0" y="4279688"/>
                    </a:lnTo>
                    <a:lnTo>
                      <a:pt x="0" y="400401"/>
                    </a:lnTo>
                    <a:lnTo>
                      <a:pt x="0" y="370671"/>
                    </a:lnTo>
                    <a:lnTo>
                      <a:pt x="0" y="206364"/>
                    </a:lnTo>
                    <a:lnTo>
                      <a:pt x="0" y="181420"/>
                    </a:lnTo>
                    <a:lnTo>
                      <a:pt x="0" y="168948"/>
                    </a:lnTo>
                    <a:close/>
                  </a:path>
                </a:pathLst>
              </a:custGeom>
              <a:gradFill>
                <a:gsLst>
                  <a:gs pos="0">
                    <a:srgbClr val="EBBA6F">
                      <a:alpha val="100000"/>
                    </a:srgbClr>
                  </a:gs>
                  <a:gs pos="100000">
                    <a:srgbClr val="33CCFF">
                      <a:alpha val="0"/>
                    </a:srgbClr>
                  </a:gs>
                </a:gsLst>
                <a:lin ang="5400000"/>
              </a:gradFill>
              <a:ln>
                <a:prstDash val="solid"/>
                <a:headEnd type="none"/>
                <a:tailEnd type="none"/>
              </a:ln>
            </p:spPr>
          </p:sp>
          <p:sp>
            <p:nvSpPr>
              <p:cNvPr id="8" name="AutoShape 8"/>
              <p:cNvSpPr/>
              <p:nvPr>
                <p:custDataLst>
                  <p:tags r:id="rId3"/>
                </p:custDataLst>
              </p:nvPr>
            </p:nvSpPr>
            <p:spPr>
              <a:xfrm>
                <a:off x="697372" y="2182782"/>
                <a:ext cx="863693" cy="95157"/>
              </a:xfrm>
              <a:custGeom>
                <a:avLst/>
                <a:gdLst/>
                <a:ahLst/>
                <a:cxnLst/>
                <a:rect l="l" t="t" r="r" b="b"/>
                <a:pathLst>
                  <a:path w="1356083" h="190121">
                    <a:moveTo>
                      <a:pt x="221446" y="0"/>
                    </a:moveTo>
                    <a:lnTo>
                      <a:pt x="226087" y="0"/>
                    </a:lnTo>
                    <a:lnTo>
                      <a:pt x="237833" y="0"/>
                    </a:lnTo>
                    <a:lnTo>
                      <a:pt x="1356083" y="0"/>
                    </a:lnTo>
                    <a:lnTo>
                      <a:pt x="1356083" y="20738"/>
                    </a:lnTo>
                    <a:lnTo>
                      <a:pt x="231307" y="20738"/>
                    </a:lnTo>
                    <a:lnTo>
                      <a:pt x="142700" y="106300"/>
                    </a:lnTo>
                    <a:lnTo>
                      <a:pt x="142700" y="75410"/>
                    </a:lnTo>
                    <a:close/>
                    <a:moveTo>
                      <a:pt x="116741" y="0"/>
                    </a:moveTo>
                    <a:lnTo>
                      <a:pt x="197082" y="0"/>
                    </a:lnTo>
                    <a:lnTo>
                      <a:pt x="0" y="190121"/>
                    </a:lnTo>
                    <a:lnTo>
                      <a:pt x="0" y="109780"/>
                    </a:lnTo>
                    <a:close/>
                  </a:path>
                </a:pathLst>
              </a:custGeom>
              <a:gradFill>
                <a:gsLst>
                  <a:gs pos="0">
                    <a:srgbClr val="EBBA6F">
                      <a:alpha val="100000"/>
                    </a:srgbClr>
                  </a:gs>
                  <a:gs pos="100000">
                    <a:srgbClr val="33CCFF">
                      <a:alpha val="100000"/>
                    </a:srgbClr>
                  </a:gs>
                </a:gsLst>
                <a:lin ang="0"/>
              </a:gradFill>
              <a:ln>
                <a:prstDash val="solid"/>
                <a:headEnd type="none"/>
                <a:tailEnd type="none"/>
              </a:ln>
            </p:spPr>
          </p:sp>
          <p:sp>
            <p:nvSpPr>
              <p:cNvPr id="9" name="AutoShape 9"/>
              <p:cNvSpPr/>
              <p:nvPr>
                <p:custDataLst>
                  <p:tags r:id="rId4"/>
                </p:custDataLst>
              </p:nvPr>
            </p:nvSpPr>
            <p:spPr>
              <a:xfrm>
                <a:off x="2132797" y="2178137"/>
                <a:ext cx="750178" cy="76358"/>
              </a:xfrm>
              <a:custGeom>
                <a:avLst/>
                <a:gdLst/>
                <a:ahLst/>
                <a:cxnLst/>
                <a:rect l="l" t="t" r="r" b="b"/>
                <a:pathLst>
                  <a:path w="1177853" h="152561">
                    <a:moveTo>
                      <a:pt x="964818" y="0"/>
                    </a:moveTo>
                    <a:lnTo>
                      <a:pt x="1041099" y="0"/>
                    </a:lnTo>
                    <a:lnTo>
                      <a:pt x="1177853" y="152561"/>
                    </a:lnTo>
                    <a:lnTo>
                      <a:pt x="1101572" y="152561"/>
                    </a:lnTo>
                    <a:close/>
                    <a:moveTo>
                      <a:pt x="827484" y="0"/>
                    </a:moveTo>
                    <a:lnTo>
                      <a:pt x="903765" y="0"/>
                    </a:lnTo>
                    <a:lnTo>
                      <a:pt x="1040664" y="152561"/>
                    </a:lnTo>
                    <a:lnTo>
                      <a:pt x="964383" y="152561"/>
                    </a:lnTo>
                    <a:close/>
                    <a:moveTo>
                      <a:pt x="690295" y="0"/>
                    </a:moveTo>
                    <a:lnTo>
                      <a:pt x="766576" y="0"/>
                    </a:lnTo>
                    <a:lnTo>
                      <a:pt x="903475" y="152561"/>
                    </a:lnTo>
                    <a:lnTo>
                      <a:pt x="827049" y="152561"/>
                    </a:lnTo>
                    <a:close/>
                    <a:moveTo>
                      <a:pt x="553106" y="0"/>
                    </a:moveTo>
                    <a:lnTo>
                      <a:pt x="629387" y="0"/>
                    </a:lnTo>
                    <a:lnTo>
                      <a:pt x="766141" y="152561"/>
                    </a:lnTo>
                    <a:lnTo>
                      <a:pt x="689860" y="152561"/>
                    </a:lnTo>
                    <a:close/>
                    <a:moveTo>
                      <a:pt x="415917" y="0"/>
                    </a:moveTo>
                    <a:lnTo>
                      <a:pt x="492198" y="0"/>
                    </a:lnTo>
                    <a:lnTo>
                      <a:pt x="628951" y="152561"/>
                    </a:lnTo>
                    <a:lnTo>
                      <a:pt x="552671" y="152561"/>
                    </a:lnTo>
                    <a:close/>
                    <a:moveTo>
                      <a:pt x="0" y="0"/>
                    </a:moveTo>
                    <a:lnTo>
                      <a:pt x="352544" y="0"/>
                    </a:lnTo>
                    <a:lnTo>
                      <a:pt x="489298" y="152561"/>
                    </a:lnTo>
                    <a:lnTo>
                      <a:pt x="136754" y="152561"/>
                    </a:lnTo>
                    <a:close/>
                  </a:path>
                </a:pathLst>
              </a:custGeom>
              <a:gradFill>
                <a:gsLst>
                  <a:gs pos="0">
                    <a:srgbClr val="EBBA6F">
                      <a:alpha val="100000"/>
                    </a:srgbClr>
                  </a:gs>
                  <a:gs pos="100000">
                    <a:srgbClr val="33CCFF">
                      <a:alpha val="100000"/>
                    </a:srgbClr>
                  </a:gs>
                </a:gsLst>
                <a:lin ang="0"/>
              </a:gradFill>
              <a:ln>
                <a:prstDash val="solid"/>
                <a:headEnd type="none"/>
                <a:tailEnd type="none"/>
              </a:ln>
            </p:spPr>
          </p:sp>
          <p:sp>
            <p:nvSpPr>
              <p:cNvPr id="10" name="AutoShape 10"/>
              <p:cNvSpPr/>
              <p:nvPr>
                <p:custDataLst>
                  <p:tags r:id="rId5"/>
                </p:custDataLst>
              </p:nvPr>
            </p:nvSpPr>
            <p:spPr>
              <a:xfrm>
                <a:off x="630316" y="2126893"/>
                <a:ext cx="619760" cy="242793"/>
              </a:xfrm>
              <a:custGeom>
                <a:avLst/>
                <a:gdLst/>
                <a:ahLst/>
                <a:cxnLst/>
                <a:rect l="l" t="t" r="r" b="b"/>
                <a:pathLst>
                  <a:path w="973084" h="485092">
                    <a:moveTo>
                      <a:pt x="973085" y="56848"/>
                    </a:moveTo>
                    <a:lnTo>
                      <a:pt x="973085" y="0"/>
                    </a:lnTo>
                    <a:lnTo>
                      <a:pt x="181420" y="0"/>
                    </a:lnTo>
                    <a:lnTo>
                      <a:pt x="0" y="175184"/>
                    </a:lnTo>
                    <a:lnTo>
                      <a:pt x="0" y="187656"/>
                    </a:lnTo>
                    <a:lnTo>
                      <a:pt x="0" y="212744"/>
                    </a:lnTo>
                    <a:lnTo>
                      <a:pt x="0" y="485092"/>
                    </a:lnTo>
                    <a:lnTo>
                      <a:pt x="56848" y="485092"/>
                    </a:lnTo>
                    <a:lnTo>
                      <a:pt x="56848" y="188671"/>
                    </a:lnTo>
                    <a:lnTo>
                      <a:pt x="193747" y="56848"/>
                    </a:lnTo>
                    <a:close/>
                  </a:path>
                </a:pathLst>
              </a:custGeom>
              <a:gradFill>
                <a:gsLst>
                  <a:gs pos="0">
                    <a:srgbClr val="EBBA6F">
                      <a:alpha val="100000"/>
                      <a:lumMod val="60000"/>
                      <a:lumOff val="40000"/>
                    </a:srgbClr>
                  </a:gs>
                  <a:gs pos="46999">
                    <a:srgbClr val="33CCFF">
                      <a:alpha val="100000"/>
                    </a:srgbClr>
                  </a:gs>
                  <a:gs pos="100000">
                    <a:srgbClr val="33CCFF">
                      <a:alpha val="100000"/>
                    </a:srgbClr>
                  </a:gs>
                </a:gsLst>
                <a:lin ang="5400000"/>
              </a:gradFill>
              <a:ln>
                <a:prstDash val="solid"/>
                <a:headEnd type="none"/>
                <a:tailEnd type="none"/>
              </a:ln>
            </p:spPr>
          </p:sp>
          <p:sp>
            <p:nvSpPr>
              <p:cNvPr id="11" name="AutoShape 11"/>
              <p:cNvSpPr/>
              <p:nvPr>
                <p:custDataLst>
                  <p:tags r:id="rId6"/>
                </p:custDataLst>
              </p:nvPr>
            </p:nvSpPr>
            <p:spPr>
              <a:xfrm>
                <a:off x="2986606" y="2270971"/>
                <a:ext cx="253631" cy="147127"/>
              </a:xfrm>
              <a:custGeom>
                <a:avLst/>
                <a:gdLst/>
                <a:ahLst/>
                <a:cxnLst/>
                <a:rect l="l" t="t" r="r" b="b"/>
                <a:pathLst>
                  <a:path w="398225" h="293955">
                    <a:moveTo>
                      <a:pt x="0" y="56848"/>
                    </a:moveTo>
                    <a:lnTo>
                      <a:pt x="0" y="0"/>
                    </a:lnTo>
                    <a:lnTo>
                      <a:pt x="216805" y="0"/>
                    </a:lnTo>
                    <a:lnTo>
                      <a:pt x="398225" y="175184"/>
                    </a:lnTo>
                    <a:lnTo>
                      <a:pt x="398225" y="187656"/>
                    </a:lnTo>
                    <a:lnTo>
                      <a:pt x="398225" y="212599"/>
                    </a:lnTo>
                    <a:lnTo>
                      <a:pt x="398225" y="293956"/>
                    </a:lnTo>
                    <a:lnTo>
                      <a:pt x="341377" y="293956"/>
                    </a:lnTo>
                    <a:lnTo>
                      <a:pt x="341377" y="188671"/>
                    </a:lnTo>
                    <a:lnTo>
                      <a:pt x="204478" y="56848"/>
                    </a:lnTo>
                    <a:close/>
                  </a:path>
                </a:pathLst>
              </a:custGeom>
              <a:gradFill>
                <a:gsLst>
                  <a:gs pos="0">
                    <a:srgbClr val="33CCFF">
                      <a:alpha val="100000"/>
                      <a:lumMod val="60000"/>
                      <a:lumOff val="40000"/>
                    </a:srgbClr>
                  </a:gs>
                  <a:gs pos="44999">
                    <a:srgbClr val="33CCFF">
                      <a:alpha val="100000"/>
                    </a:srgbClr>
                  </a:gs>
                  <a:gs pos="100000">
                    <a:srgbClr val="EBBA6F">
                      <a:alpha val="100000"/>
                    </a:srgbClr>
                  </a:gs>
                </a:gsLst>
                <a:lin ang="5400000"/>
              </a:gradFill>
              <a:ln>
                <a:prstDash val="solid"/>
                <a:headEnd type="none"/>
                <a:tailEnd type="none"/>
              </a:ln>
            </p:spPr>
          </p:sp>
          <p:grpSp>
            <p:nvGrpSpPr>
              <p:cNvPr id="12" name="Group 12"/>
              <p:cNvGrpSpPr/>
              <p:nvPr/>
            </p:nvGrpSpPr>
            <p:grpSpPr>
              <a:xfrm rot="0">
                <a:off x="642600" y="2137635"/>
                <a:ext cx="2583875" cy="3417431"/>
                <a:chOff x="642600" y="2137635"/>
                <a:chExt cx="2583875" cy="3417431"/>
              </a:xfrm>
            </p:grpSpPr>
            <p:sp>
              <p:nvSpPr>
                <p:cNvPr id="13" name="AutoShape 13"/>
                <p:cNvSpPr/>
                <p:nvPr>
                  <p:custDataLst>
                    <p:tags r:id="rId7"/>
                  </p:custDataLst>
                </p:nvPr>
              </p:nvSpPr>
              <p:spPr>
                <a:xfrm>
                  <a:off x="642600" y="2137635"/>
                  <a:ext cx="2583875" cy="3284095"/>
                </a:xfrm>
                <a:custGeom>
                  <a:avLst/>
                  <a:gdLst/>
                  <a:ahLst/>
                  <a:cxnLst/>
                  <a:rect l="l" t="t" r="r" b="b"/>
                  <a:pathLst>
                    <a:path w="2653684" h="3372822">
                      <a:moveTo>
                        <a:pt x="113736" y="0"/>
                      </a:moveTo>
                      <a:lnTo>
                        <a:pt x="1415393" y="0"/>
                      </a:lnTo>
                      <a:lnTo>
                        <a:pt x="1585950" y="153935"/>
                      </a:lnTo>
                      <a:lnTo>
                        <a:pt x="2540044" y="153935"/>
                      </a:lnTo>
                      <a:lnTo>
                        <a:pt x="2653684" y="233400"/>
                      </a:lnTo>
                      <a:lnTo>
                        <a:pt x="2653684" y="1207219"/>
                      </a:lnTo>
                      <a:lnTo>
                        <a:pt x="2653684" y="2319538"/>
                      </a:lnTo>
                      <a:lnTo>
                        <a:pt x="2653684" y="3293357"/>
                      </a:lnTo>
                      <a:lnTo>
                        <a:pt x="2552659" y="3372822"/>
                      </a:lnTo>
                      <a:lnTo>
                        <a:pt x="107381" y="3372822"/>
                      </a:lnTo>
                      <a:lnTo>
                        <a:pt x="0" y="3288362"/>
                      </a:lnTo>
                      <a:lnTo>
                        <a:pt x="0" y="2314543"/>
                      </a:lnTo>
                      <a:lnTo>
                        <a:pt x="0" y="1053284"/>
                      </a:lnTo>
                      <a:lnTo>
                        <a:pt x="0" y="79465"/>
                      </a:lnTo>
                      <a:close/>
                    </a:path>
                  </a:pathLst>
                </a:custGeom>
                <a:gradFill>
                  <a:gsLst>
                    <a:gs pos="0">
                      <a:srgbClr val="EBBA6F">
                        <a:alpha val="30196"/>
                      </a:srgbClr>
                    </a:gs>
                    <a:gs pos="87999">
                      <a:srgbClr val="EBBA6F">
                        <a:alpha val="0"/>
                      </a:srgbClr>
                    </a:gs>
                  </a:gsLst>
                  <a:lin ang="5400000"/>
                </a:gradFill>
                <a:ln>
                  <a:prstDash val="solid"/>
                  <a:headEnd type="none"/>
                  <a:tailEnd type="none"/>
                </a:ln>
              </p:spPr>
            </p:sp>
            <p:sp>
              <p:nvSpPr>
                <p:cNvPr id="14" name="TextBox 14"/>
                <p:cNvSpPr txBox="1"/>
                <p:nvPr>
                  <p:custDataLst>
                    <p:tags r:id="rId8"/>
                  </p:custDataLst>
                </p:nvPr>
              </p:nvSpPr>
              <p:spPr>
                <a:xfrm>
                  <a:off x="1447651" y="2439028"/>
                  <a:ext cx="975251" cy="823705"/>
                </a:xfrm>
                <a:prstGeom prst="rect">
                  <a:avLst/>
                </a:prstGeom>
                <a:ln>
                  <a:headEnd type="none"/>
                  <a:tailEnd type="none"/>
                </a:ln>
              </p:spPr>
              <p:txBody>
                <a:bodyPr vert="horz" wrap="none" lIns="91440" tIns="45720" rIns="91440" bIns="45720" rtlCol="0" anchor="b" anchorCtr="0"/>
                <a:lstStyle/>
                <a:p>
                  <a:pPr algn="ctr">
                    <a:lnSpc>
                      <a:spcPct val="108000"/>
                    </a:lnSpc>
                    <a:defRPr/>
                  </a:pPr>
                  <a:r>
                    <a:rPr lang="en-US" sz="4600" b="1" i="1">
                      <a:solidFill>
                        <a:srgbClr val="FFFFFF">
                          <a:alpha val="100000"/>
                        </a:srgbClr>
                      </a:solidFill>
                      <a:latin typeface="Arial" panose="020B0604020202020204"/>
                      <a:ea typeface="Arial" panose="020B0604020202020204"/>
                      <a:cs typeface="Arial" panose="020B0604020202020204"/>
                    </a:rPr>
                    <a:t>1</a:t>
                  </a:r>
                  <a:endParaRPr lang="en-US" sz="1100"/>
                </a:p>
              </p:txBody>
            </p:sp>
            <p:sp>
              <p:nvSpPr>
                <p:cNvPr id="15" name="TextBox 15"/>
                <p:cNvSpPr txBox="1"/>
                <p:nvPr>
                  <p:custDataLst>
                    <p:tags r:id="rId9"/>
                  </p:custDataLst>
                </p:nvPr>
              </p:nvSpPr>
              <p:spPr>
                <a:xfrm>
                  <a:off x="709188" y="3385725"/>
                  <a:ext cx="2449859" cy="778646"/>
                </a:xfrm>
                <a:prstGeom prst="rect">
                  <a:avLst/>
                </a:prstGeom>
                <a:ln>
                  <a:headEnd type="none"/>
                  <a:tailEnd type="none"/>
                </a:ln>
              </p:spPr>
              <p:txBody>
                <a:bodyPr vert="horz" wrap="square" lIns="91440" tIns="45720" rIns="91440" bIns="45720" rtlCol="0" anchor="b" anchorCtr="0"/>
                <a:lstStyle/>
                <a:p>
                  <a:pPr algn="l">
                    <a:spcBef>
                      <a:spcPts val="0"/>
                    </a:spcBef>
                    <a:spcAft>
                      <a:spcPts val="0"/>
                    </a:spcAft>
                    <a:defRPr/>
                  </a:pPr>
                  <a:r>
                    <a:rPr lang="en-US" sz="2000" b="1" i="0" strike="noStrike">
                      <a:solidFill>
                        <a:srgbClr val="FFFFFF">
                          <a:alpha val="100000"/>
                        </a:srgbClr>
                      </a:solidFill>
                      <a:latin typeface="汉仪行楷简"/>
                      <a:ea typeface="汉仪行楷简"/>
                      <a:cs typeface="汉仪行楷简"/>
                    </a:rPr>
                    <a:t>数据整合者</a:t>
                  </a:r>
                  <a:endParaRPr lang="en-US" sz="2000" b="1" i="0" strike="noStrike">
                    <a:solidFill>
                      <a:srgbClr val="FFFFFF">
                        <a:alpha val="100000"/>
                      </a:srgbClr>
                    </a:solidFill>
                    <a:latin typeface="汉仪行楷简"/>
                    <a:ea typeface="汉仪行楷简"/>
                    <a:cs typeface="汉仪行楷简"/>
                  </a:endParaRPr>
                </a:p>
              </p:txBody>
            </p:sp>
            <p:sp>
              <p:nvSpPr>
                <p:cNvPr id="16" name="TextBox 16"/>
                <p:cNvSpPr txBox="1"/>
                <p:nvPr>
                  <p:custDataLst>
                    <p:tags r:id="rId10"/>
                  </p:custDataLst>
                </p:nvPr>
              </p:nvSpPr>
              <p:spPr>
                <a:xfrm>
                  <a:off x="709189" y="4278772"/>
                  <a:ext cx="2449859" cy="1276294"/>
                </a:xfrm>
                <a:prstGeom prst="rect">
                  <a:avLst/>
                </a:prstGeom>
                <a:ln>
                  <a:headEnd type="none"/>
                  <a:tailEnd type="none"/>
                </a:ln>
              </p:spPr>
              <p:txBody>
                <a:bodyPr vert="horz" wrap="square" lIns="91440" tIns="45720" rIns="91440" bIns="45720" rtlCol="0" anchor="t" anchorCtr="0"/>
                <a:lstStyle/>
                <a:p>
                  <a:pPr algn="l">
                    <a:lnSpc>
                      <a:spcPct val="120000"/>
                    </a:lnSpc>
                    <a:spcBef>
                      <a:spcPts val="0"/>
                    </a:spcBef>
                    <a:spcAft>
                      <a:spcPts val="0"/>
                    </a:spcAft>
                    <a:defRPr/>
                  </a:pPr>
                  <a:r>
                    <a:rPr lang="en-US" sz="1600" b="0" i="0" strike="noStrike">
                      <a:solidFill>
                        <a:srgbClr val="FFFFFF">
                          <a:alpha val="100000"/>
                        </a:srgbClr>
                      </a:solidFill>
                      <a:latin typeface="思源黑体 CN Regular"/>
                      <a:ea typeface="思源黑体 CN Regular"/>
                      <a:cs typeface="思源黑体 CN Regular"/>
                    </a:rPr>
                    <a:t>打破数据孤岛，首次将多源异构数据进行深度融合与可视化表达，提供一站式数据服务。</a:t>
                  </a:r>
                  <a:endParaRPr lang="en-US" sz="1600" b="0" i="0" strike="noStrike">
                    <a:solidFill>
                      <a:srgbClr val="FFFFFF">
                        <a:alpha val="100000"/>
                      </a:srgbClr>
                    </a:solidFill>
                    <a:latin typeface="思源黑体 CN Regular"/>
                    <a:ea typeface="思源黑体 CN Regular"/>
                    <a:cs typeface="思源黑体 CN Regular"/>
                  </a:endParaRPr>
                </a:p>
              </p:txBody>
            </p:sp>
          </p:grpSp>
        </p:grpSp>
        <p:grpSp>
          <p:nvGrpSpPr>
            <p:cNvPr id="17" name="Group 17"/>
            <p:cNvGrpSpPr/>
            <p:nvPr/>
          </p:nvGrpSpPr>
          <p:grpSpPr>
            <a:xfrm rot="0">
              <a:off x="3399899" y="2596435"/>
              <a:ext cx="2609921" cy="3373911"/>
              <a:chOff x="3399899" y="2596435"/>
              <a:chExt cx="2609921" cy="3373911"/>
            </a:xfrm>
          </p:grpSpPr>
          <p:sp>
            <p:nvSpPr>
              <p:cNvPr id="18" name="AutoShape 18"/>
              <p:cNvSpPr/>
              <p:nvPr>
                <p:custDataLst>
                  <p:tags r:id="rId11"/>
                </p:custDataLst>
              </p:nvPr>
            </p:nvSpPr>
            <p:spPr>
              <a:xfrm>
                <a:off x="3405903" y="2601153"/>
                <a:ext cx="2597914" cy="2347869"/>
              </a:xfrm>
              <a:custGeom>
                <a:avLst/>
                <a:gdLst/>
                <a:ahLst/>
                <a:cxnLst/>
                <a:rect l="l" t="t" r="r" b="b"/>
                <a:pathLst>
                  <a:path w="4078981" h="4690964">
                    <a:moveTo>
                      <a:pt x="181130" y="37996"/>
                    </a:moveTo>
                    <a:lnTo>
                      <a:pt x="37995" y="176199"/>
                    </a:lnTo>
                    <a:lnTo>
                      <a:pt x="37995" y="370671"/>
                    </a:lnTo>
                    <a:lnTo>
                      <a:pt x="38140" y="370671"/>
                    </a:lnTo>
                    <a:lnTo>
                      <a:pt x="38140" y="4308547"/>
                    </a:lnTo>
                    <a:lnTo>
                      <a:pt x="37995" y="4308547"/>
                    </a:lnTo>
                    <a:lnTo>
                      <a:pt x="37995" y="4509690"/>
                    </a:lnTo>
                    <a:lnTo>
                      <a:pt x="176199" y="4652824"/>
                    </a:lnTo>
                    <a:lnTo>
                      <a:pt x="351964" y="4652824"/>
                    </a:lnTo>
                    <a:lnTo>
                      <a:pt x="362840" y="4652824"/>
                    </a:lnTo>
                    <a:lnTo>
                      <a:pt x="3753700" y="4652824"/>
                    </a:lnTo>
                    <a:lnTo>
                      <a:pt x="3759211" y="4652824"/>
                    </a:lnTo>
                    <a:lnTo>
                      <a:pt x="3902781" y="4652824"/>
                    </a:lnTo>
                    <a:lnTo>
                      <a:pt x="4040840" y="4509690"/>
                    </a:lnTo>
                    <a:lnTo>
                      <a:pt x="4040840" y="4346107"/>
                    </a:lnTo>
                    <a:lnTo>
                      <a:pt x="4040840" y="4317248"/>
                    </a:lnTo>
                    <a:lnTo>
                      <a:pt x="4040840" y="633449"/>
                    </a:lnTo>
                    <a:lnTo>
                      <a:pt x="4040841" y="633449"/>
                    </a:lnTo>
                    <a:lnTo>
                      <a:pt x="4040841" y="463920"/>
                    </a:lnTo>
                    <a:lnTo>
                      <a:pt x="3897706" y="325861"/>
                    </a:lnTo>
                    <a:lnTo>
                      <a:pt x="3751380" y="325861"/>
                    </a:lnTo>
                    <a:lnTo>
                      <a:pt x="3742824" y="325861"/>
                    </a:lnTo>
                    <a:lnTo>
                      <a:pt x="2411975" y="325861"/>
                    </a:lnTo>
                    <a:lnTo>
                      <a:pt x="2161815" y="37996"/>
                    </a:lnTo>
                    <a:close/>
                    <a:moveTo>
                      <a:pt x="175184" y="0"/>
                    </a:moveTo>
                    <a:lnTo>
                      <a:pt x="2192269" y="0"/>
                    </a:lnTo>
                    <a:lnTo>
                      <a:pt x="2443299" y="287720"/>
                    </a:lnTo>
                    <a:lnTo>
                      <a:pt x="3742824" y="287720"/>
                    </a:lnTo>
                    <a:lnTo>
                      <a:pt x="3751380" y="287720"/>
                    </a:lnTo>
                    <a:lnTo>
                      <a:pt x="3903796" y="287720"/>
                    </a:lnTo>
                    <a:lnTo>
                      <a:pt x="4078981" y="456668"/>
                    </a:lnTo>
                    <a:lnTo>
                      <a:pt x="4078981" y="469140"/>
                    </a:lnTo>
                    <a:lnTo>
                      <a:pt x="4078981" y="494229"/>
                    </a:lnTo>
                    <a:lnTo>
                      <a:pt x="4078981" y="650706"/>
                    </a:lnTo>
                    <a:lnTo>
                      <a:pt x="4078980" y="650706"/>
                    </a:lnTo>
                    <a:lnTo>
                      <a:pt x="4078980" y="4317248"/>
                    </a:lnTo>
                    <a:lnTo>
                      <a:pt x="4078980" y="4346107"/>
                    </a:lnTo>
                    <a:lnTo>
                      <a:pt x="4078980" y="4515635"/>
                    </a:lnTo>
                    <a:lnTo>
                      <a:pt x="3910032" y="4690819"/>
                    </a:lnTo>
                    <a:lnTo>
                      <a:pt x="3897560" y="4690819"/>
                    </a:lnTo>
                    <a:lnTo>
                      <a:pt x="3872472" y="4690819"/>
                    </a:lnTo>
                    <a:lnTo>
                      <a:pt x="3759211" y="4690819"/>
                    </a:lnTo>
                    <a:lnTo>
                      <a:pt x="3759211" y="4690964"/>
                    </a:lnTo>
                    <a:lnTo>
                      <a:pt x="351964" y="4690964"/>
                    </a:lnTo>
                    <a:lnTo>
                      <a:pt x="351964" y="4690820"/>
                    </a:lnTo>
                    <a:lnTo>
                      <a:pt x="206364" y="4690820"/>
                    </a:lnTo>
                    <a:lnTo>
                      <a:pt x="181420" y="4690820"/>
                    </a:lnTo>
                    <a:lnTo>
                      <a:pt x="168948" y="4690820"/>
                    </a:lnTo>
                    <a:lnTo>
                      <a:pt x="0" y="4515636"/>
                    </a:lnTo>
                    <a:lnTo>
                      <a:pt x="0" y="4308547"/>
                    </a:lnTo>
                    <a:lnTo>
                      <a:pt x="0" y="4279688"/>
                    </a:lnTo>
                    <a:lnTo>
                      <a:pt x="0" y="400401"/>
                    </a:lnTo>
                    <a:lnTo>
                      <a:pt x="0" y="370671"/>
                    </a:lnTo>
                    <a:lnTo>
                      <a:pt x="0" y="206364"/>
                    </a:lnTo>
                    <a:lnTo>
                      <a:pt x="0" y="181420"/>
                    </a:lnTo>
                    <a:lnTo>
                      <a:pt x="0" y="168948"/>
                    </a:lnTo>
                    <a:close/>
                  </a:path>
                </a:pathLst>
              </a:custGeom>
              <a:gradFill>
                <a:gsLst>
                  <a:gs pos="0">
                    <a:srgbClr val="EBBA6F">
                      <a:alpha val="100000"/>
                    </a:srgbClr>
                  </a:gs>
                  <a:gs pos="100000">
                    <a:srgbClr val="33CCFF">
                      <a:alpha val="0"/>
                    </a:srgbClr>
                  </a:gs>
                </a:gsLst>
                <a:lin ang="5400000"/>
              </a:gradFill>
              <a:ln>
                <a:prstDash val="solid"/>
                <a:headEnd type="none"/>
                <a:tailEnd type="none"/>
              </a:ln>
            </p:spPr>
          </p:sp>
          <p:sp>
            <p:nvSpPr>
              <p:cNvPr id="19" name="AutoShape 19"/>
              <p:cNvSpPr/>
              <p:nvPr>
                <p:custDataLst>
                  <p:tags r:id="rId12"/>
                </p:custDataLst>
              </p:nvPr>
            </p:nvSpPr>
            <p:spPr>
              <a:xfrm>
                <a:off x="3466955" y="2652324"/>
                <a:ext cx="863693" cy="95157"/>
              </a:xfrm>
              <a:custGeom>
                <a:avLst/>
                <a:gdLst/>
                <a:ahLst/>
                <a:cxnLst/>
                <a:rect l="l" t="t" r="r" b="b"/>
                <a:pathLst>
                  <a:path w="1356083" h="190121">
                    <a:moveTo>
                      <a:pt x="221446" y="0"/>
                    </a:moveTo>
                    <a:lnTo>
                      <a:pt x="226087" y="0"/>
                    </a:lnTo>
                    <a:lnTo>
                      <a:pt x="237833" y="0"/>
                    </a:lnTo>
                    <a:lnTo>
                      <a:pt x="1356083" y="0"/>
                    </a:lnTo>
                    <a:lnTo>
                      <a:pt x="1356083" y="20738"/>
                    </a:lnTo>
                    <a:lnTo>
                      <a:pt x="231307" y="20738"/>
                    </a:lnTo>
                    <a:lnTo>
                      <a:pt x="142700" y="106300"/>
                    </a:lnTo>
                    <a:lnTo>
                      <a:pt x="142700" y="75410"/>
                    </a:lnTo>
                    <a:close/>
                    <a:moveTo>
                      <a:pt x="116741" y="0"/>
                    </a:moveTo>
                    <a:lnTo>
                      <a:pt x="197082" y="0"/>
                    </a:lnTo>
                    <a:lnTo>
                      <a:pt x="0" y="190121"/>
                    </a:lnTo>
                    <a:lnTo>
                      <a:pt x="0" y="109780"/>
                    </a:lnTo>
                    <a:close/>
                  </a:path>
                </a:pathLst>
              </a:custGeom>
              <a:gradFill>
                <a:gsLst>
                  <a:gs pos="0">
                    <a:srgbClr val="EBBA6F">
                      <a:alpha val="100000"/>
                    </a:srgbClr>
                  </a:gs>
                  <a:gs pos="100000">
                    <a:srgbClr val="33CCFF">
                      <a:alpha val="100000"/>
                    </a:srgbClr>
                  </a:gs>
                </a:gsLst>
                <a:lin ang="0"/>
              </a:gradFill>
              <a:ln>
                <a:prstDash val="solid"/>
                <a:headEnd type="none"/>
                <a:tailEnd type="none"/>
              </a:ln>
            </p:spPr>
          </p:sp>
          <p:sp>
            <p:nvSpPr>
              <p:cNvPr id="20" name="AutoShape 20"/>
              <p:cNvSpPr/>
              <p:nvPr>
                <p:custDataLst>
                  <p:tags r:id="rId13"/>
                </p:custDataLst>
              </p:nvPr>
            </p:nvSpPr>
            <p:spPr>
              <a:xfrm>
                <a:off x="4902380" y="2647679"/>
                <a:ext cx="750178" cy="76358"/>
              </a:xfrm>
              <a:custGeom>
                <a:avLst/>
                <a:gdLst/>
                <a:ahLst/>
                <a:cxnLst/>
                <a:rect l="l" t="t" r="r" b="b"/>
                <a:pathLst>
                  <a:path w="1177853" h="152561">
                    <a:moveTo>
                      <a:pt x="964818" y="0"/>
                    </a:moveTo>
                    <a:lnTo>
                      <a:pt x="1041099" y="0"/>
                    </a:lnTo>
                    <a:lnTo>
                      <a:pt x="1177853" y="152561"/>
                    </a:lnTo>
                    <a:lnTo>
                      <a:pt x="1101572" y="152561"/>
                    </a:lnTo>
                    <a:close/>
                    <a:moveTo>
                      <a:pt x="827484" y="0"/>
                    </a:moveTo>
                    <a:lnTo>
                      <a:pt x="903765" y="0"/>
                    </a:lnTo>
                    <a:lnTo>
                      <a:pt x="1040664" y="152561"/>
                    </a:lnTo>
                    <a:lnTo>
                      <a:pt x="964383" y="152561"/>
                    </a:lnTo>
                    <a:close/>
                    <a:moveTo>
                      <a:pt x="690295" y="0"/>
                    </a:moveTo>
                    <a:lnTo>
                      <a:pt x="766576" y="0"/>
                    </a:lnTo>
                    <a:lnTo>
                      <a:pt x="903475" y="152561"/>
                    </a:lnTo>
                    <a:lnTo>
                      <a:pt x="827049" y="152561"/>
                    </a:lnTo>
                    <a:close/>
                    <a:moveTo>
                      <a:pt x="553106" y="0"/>
                    </a:moveTo>
                    <a:lnTo>
                      <a:pt x="629387" y="0"/>
                    </a:lnTo>
                    <a:lnTo>
                      <a:pt x="766141" y="152561"/>
                    </a:lnTo>
                    <a:lnTo>
                      <a:pt x="689860" y="152561"/>
                    </a:lnTo>
                    <a:close/>
                    <a:moveTo>
                      <a:pt x="415917" y="0"/>
                    </a:moveTo>
                    <a:lnTo>
                      <a:pt x="492198" y="0"/>
                    </a:lnTo>
                    <a:lnTo>
                      <a:pt x="628951" y="152561"/>
                    </a:lnTo>
                    <a:lnTo>
                      <a:pt x="552671" y="152561"/>
                    </a:lnTo>
                    <a:close/>
                    <a:moveTo>
                      <a:pt x="0" y="0"/>
                    </a:moveTo>
                    <a:lnTo>
                      <a:pt x="352544" y="0"/>
                    </a:lnTo>
                    <a:lnTo>
                      <a:pt x="489298" y="152561"/>
                    </a:lnTo>
                    <a:lnTo>
                      <a:pt x="136754" y="152561"/>
                    </a:lnTo>
                    <a:close/>
                  </a:path>
                </a:pathLst>
              </a:custGeom>
              <a:gradFill>
                <a:gsLst>
                  <a:gs pos="0">
                    <a:srgbClr val="EBBA6F">
                      <a:alpha val="100000"/>
                    </a:srgbClr>
                  </a:gs>
                  <a:gs pos="100000">
                    <a:srgbClr val="33CCFF">
                      <a:alpha val="100000"/>
                    </a:srgbClr>
                  </a:gs>
                </a:gsLst>
                <a:lin ang="0"/>
              </a:gradFill>
              <a:ln>
                <a:prstDash val="solid"/>
                <a:headEnd type="none"/>
                <a:tailEnd type="none"/>
              </a:ln>
            </p:spPr>
          </p:sp>
          <p:sp>
            <p:nvSpPr>
              <p:cNvPr id="21" name="AutoShape 21"/>
              <p:cNvSpPr/>
              <p:nvPr>
                <p:custDataLst>
                  <p:tags r:id="rId14"/>
                </p:custDataLst>
              </p:nvPr>
            </p:nvSpPr>
            <p:spPr>
              <a:xfrm>
                <a:off x="3399899" y="2596435"/>
                <a:ext cx="619760" cy="242793"/>
              </a:xfrm>
              <a:custGeom>
                <a:avLst/>
                <a:gdLst/>
                <a:ahLst/>
                <a:cxnLst/>
                <a:rect l="l" t="t" r="r" b="b"/>
                <a:pathLst>
                  <a:path w="973084" h="485092">
                    <a:moveTo>
                      <a:pt x="973085" y="56848"/>
                    </a:moveTo>
                    <a:lnTo>
                      <a:pt x="973085" y="0"/>
                    </a:lnTo>
                    <a:lnTo>
                      <a:pt x="181420" y="0"/>
                    </a:lnTo>
                    <a:lnTo>
                      <a:pt x="0" y="175184"/>
                    </a:lnTo>
                    <a:lnTo>
                      <a:pt x="0" y="187656"/>
                    </a:lnTo>
                    <a:lnTo>
                      <a:pt x="0" y="212744"/>
                    </a:lnTo>
                    <a:lnTo>
                      <a:pt x="0" y="485092"/>
                    </a:lnTo>
                    <a:lnTo>
                      <a:pt x="56848" y="485092"/>
                    </a:lnTo>
                    <a:lnTo>
                      <a:pt x="56848" y="188671"/>
                    </a:lnTo>
                    <a:lnTo>
                      <a:pt x="193747" y="56848"/>
                    </a:lnTo>
                    <a:close/>
                  </a:path>
                </a:pathLst>
              </a:custGeom>
              <a:gradFill>
                <a:gsLst>
                  <a:gs pos="0">
                    <a:srgbClr val="EBBA6F">
                      <a:alpha val="100000"/>
                      <a:lumMod val="60000"/>
                      <a:lumOff val="40000"/>
                    </a:srgbClr>
                  </a:gs>
                  <a:gs pos="46999">
                    <a:srgbClr val="33CCFF">
                      <a:alpha val="100000"/>
                    </a:srgbClr>
                  </a:gs>
                  <a:gs pos="100000">
                    <a:srgbClr val="33CCFF">
                      <a:alpha val="100000"/>
                    </a:srgbClr>
                  </a:gs>
                </a:gsLst>
                <a:lin ang="5400000"/>
              </a:gradFill>
              <a:ln>
                <a:prstDash val="solid"/>
                <a:headEnd type="none"/>
                <a:tailEnd type="none"/>
              </a:ln>
            </p:spPr>
          </p:sp>
          <p:sp>
            <p:nvSpPr>
              <p:cNvPr id="22" name="AutoShape 22"/>
              <p:cNvSpPr/>
              <p:nvPr>
                <p:custDataLst>
                  <p:tags r:id="rId15"/>
                </p:custDataLst>
              </p:nvPr>
            </p:nvSpPr>
            <p:spPr>
              <a:xfrm>
                <a:off x="5756189" y="2740513"/>
                <a:ext cx="253631" cy="147127"/>
              </a:xfrm>
              <a:custGeom>
                <a:avLst/>
                <a:gdLst/>
                <a:ahLst/>
                <a:cxnLst/>
                <a:rect l="l" t="t" r="r" b="b"/>
                <a:pathLst>
                  <a:path w="398225" h="293955">
                    <a:moveTo>
                      <a:pt x="0" y="56848"/>
                    </a:moveTo>
                    <a:lnTo>
                      <a:pt x="0" y="0"/>
                    </a:lnTo>
                    <a:lnTo>
                      <a:pt x="216805" y="0"/>
                    </a:lnTo>
                    <a:lnTo>
                      <a:pt x="398225" y="175184"/>
                    </a:lnTo>
                    <a:lnTo>
                      <a:pt x="398225" y="187656"/>
                    </a:lnTo>
                    <a:lnTo>
                      <a:pt x="398225" y="212599"/>
                    </a:lnTo>
                    <a:lnTo>
                      <a:pt x="398225" y="293956"/>
                    </a:lnTo>
                    <a:lnTo>
                      <a:pt x="341377" y="293956"/>
                    </a:lnTo>
                    <a:lnTo>
                      <a:pt x="341377" y="188671"/>
                    </a:lnTo>
                    <a:lnTo>
                      <a:pt x="204478" y="56848"/>
                    </a:lnTo>
                    <a:close/>
                  </a:path>
                </a:pathLst>
              </a:custGeom>
              <a:gradFill>
                <a:gsLst>
                  <a:gs pos="0">
                    <a:srgbClr val="33CCFF">
                      <a:alpha val="100000"/>
                      <a:lumMod val="60000"/>
                      <a:lumOff val="40000"/>
                    </a:srgbClr>
                  </a:gs>
                  <a:gs pos="44999">
                    <a:srgbClr val="33CCFF">
                      <a:alpha val="100000"/>
                    </a:srgbClr>
                  </a:gs>
                  <a:gs pos="100000">
                    <a:srgbClr val="EBBA6F">
                      <a:alpha val="100000"/>
                    </a:srgbClr>
                  </a:gs>
                </a:gsLst>
                <a:lin ang="5400000"/>
              </a:gradFill>
              <a:ln>
                <a:prstDash val="solid"/>
                <a:headEnd type="none"/>
                <a:tailEnd type="none"/>
              </a:ln>
            </p:spPr>
          </p:sp>
          <p:grpSp>
            <p:nvGrpSpPr>
              <p:cNvPr id="23" name="Group 23"/>
              <p:cNvGrpSpPr/>
              <p:nvPr/>
            </p:nvGrpSpPr>
            <p:grpSpPr>
              <a:xfrm rot="0">
                <a:off x="3412183" y="2607177"/>
                <a:ext cx="2583875" cy="3363169"/>
                <a:chOff x="3412183" y="2607177"/>
                <a:chExt cx="2583875" cy="3363169"/>
              </a:xfrm>
            </p:grpSpPr>
            <p:sp>
              <p:nvSpPr>
                <p:cNvPr id="24" name="AutoShape 24"/>
                <p:cNvSpPr/>
                <p:nvPr>
                  <p:custDataLst>
                    <p:tags r:id="rId16"/>
                  </p:custDataLst>
                </p:nvPr>
              </p:nvSpPr>
              <p:spPr>
                <a:xfrm>
                  <a:off x="3412183" y="2607177"/>
                  <a:ext cx="2583875" cy="3284095"/>
                </a:xfrm>
                <a:custGeom>
                  <a:avLst/>
                  <a:gdLst/>
                  <a:ahLst/>
                  <a:cxnLst/>
                  <a:rect l="l" t="t" r="r" b="b"/>
                  <a:pathLst>
                    <a:path w="2653684" h="3372822">
                      <a:moveTo>
                        <a:pt x="113736" y="0"/>
                      </a:moveTo>
                      <a:lnTo>
                        <a:pt x="1415393" y="0"/>
                      </a:lnTo>
                      <a:lnTo>
                        <a:pt x="1585950" y="153935"/>
                      </a:lnTo>
                      <a:lnTo>
                        <a:pt x="2540044" y="153935"/>
                      </a:lnTo>
                      <a:lnTo>
                        <a:pt x="2653684" y="233400"/>
                      </a:lnTo>
                      <a:lnTo>
                        <a:pt x="2653684" y="1207219"/>
                      </a:lnTo>
                      <a:lnTo>
                        <a:pt x="2653684" y="2319538"/>
                      </a:lnTo>
                      <a:lnTo>
                        <a:pt x="2653684" y="3293357"/>
                      </a:lnTo>
                      <a:lnTo>
                        <a:pt x="2552659" y="3372822"/>
                      </a:lnTo>
                      <a:lnTo>
                        <a:pt x="107381" y="3372822"/>
                      </a:lnTo>
                      <a:lnTo>
                        <a:pt x="0" y="3288362"/>
                      </a:lnTo>
                      <a:lnTo>
                        <a:pt x="0" y="2314543"/>
                      </a:lnTo>
                      <a:lnTo>
                        <a:pt x="0" y="1053284"/>
                      </a:lnTo>
                      <a:lnTo>
                        <a:pt x="0" y="79465"/>
                      </a:lnTo>
                      <a:close/>
                    </a:path>
                  </a:pathLst>
                </a:custGeom>
                <a:gradFill>
                  <a:gsLst>
                    <a:gs pos="0">
                      <a:srgbClr val="EBBA6F">
                        <a:alpha val="30196"/>
                      </a:srgbClr>
                    </a:gs>
                    <a:gs pos="87999">
                      <a:srgbClr val="EBBA6F">
                        <a:alpha val="0"/>
                      </a:srgbClr>
                    </a:gs>
                  </a:gsLst>
                  <a:lin ang="5400000"/>
                </a:gradFill>
                <a:ln>
                  <a:prstDash val="solid"/>
                  <a:headEnd type="none"/>
                  <a:tailEnd type="none"/>
                </a:ln>
              </p:spPr>
            </p:sp>
            <p:sp>
              <p:nvSpPr>
                <p:cNvPr id="25" name="TextBox 25"/>
                <p:cNvSpPr txBox="1"/>
                <p:nvPr>
                  <p:custDataLst>
                    <p:tags r:id="rId17"/>
                  </p:custDataLst>
                </p:nvPr>
              </p:nvSpPr>
              <p:spPr>
                <a:xfrm>
                  <a:off x="4217234" y="2908570"/>
                  <a:ext cx="975251" cy="823705"/>
                </a:xfrm>
                <a:prstGeom prst="rect">
                  <a:avLst/>
                </a:prstGeom>
                <a:ln>
                  <a:headEnd type="none"/>
                  <a:tailEnd type="none"/>
                </a:ln>
              </p:spPr>
              <p:txBody>
                <a:bodyPr vert="horz" wrap="none" lIns="91440" tIns="45720" rIns="91440" bIns="45720" rtlCol="0" anchor="b" anchorCtr="0"/>
                <a:lstStyle/>
                <a:p>
                  <a:pPr algn="ctr">
                    <a:lnSpc>
                      <a:spcPct val="108000"/>
                    </a:lnSpc>
                    <a:defRPr/>
                  </a:pPr>
                  <a:r>
                    <a:rPr lang="en-US" sz="4600" b="1" i="1">
                      <a:solidFill>
                        <a:srgbClr val="FFFFFF">
                          <a:alpha val="100000"/>
                        </a:srgbClr>
                      </a:solidFill>
                      <a:latin typeface="Arial" panose="020B0604020202020204"/>
                      <a:ea typeface="Arial" panose="020B0604020202020204"/>
                      <a:cs typeface="Arial" panose="020B0604020202020204"/>
                    </a:rPr>
                    <a:t>2</a:t>
                  </a:r>
                  <a:endParaRPr lang="en-US" sz="1100"/>
                </a:p>
              </p:txBody>
            </p:sp>
            <p:sp>
              <p:nvSpPr>
                <p:cNvPr id="26" name="TextBox 26"/>
                <p:cNvSpPr txBox="1"/>
                <p:nvPr>
                  <p:custDataLst>
                    <p:tags r:id="rId18"/>
                  </p:custDataLst>
                </p:nvPr>
              </p:nvSpPr>
              <p:spPr>
                <a:xfrm>
                  <a:off x="3479929" y="3801006"/>
                  <a:ext cx="2449859" cy="778648"/>
                </a:xfrm>
                <a:prstGeom prst="rect">
                  <a:avLst/>
                </a:prstGeom>
                <a:ln>
                  <a:headEnd type="none"/>
                  <a:tailEnd type="none"/>
                </a:ln>
              </p:spPr>
              <p:txBody>
                <a:bodyPr vert="horz" wrap="square" lIns="91440" tIns="45720" rIns="91440" bIns="45720" rtlCol="0" anchor="b" anchorCtr="0"/>
                <a:lstStyle/>
                <a:p>
                  <a:pPr algn="l">
                    <a:spcBef>
                      <a:spcPts val="0"/>
                    </a:spcBef>
                    <a:spcAft>
                      <a:spcPts val="0"/>
                    </a:spcAft>
                    <a:buClrTx/>
                    <a:buSzTx/>
                    <a:buFontTx/>
                    <a:defRPr/>
                  </a:pPr>
                  <a:r>
                    <a:rPr lang="en-US" sz="2000" b="1" i="0" strike="noStrike">
                      <a:solidFill>
                        <a:srgbClr val="FFFFFF">
                          <a:alpha val="100000"/>
                        </a:srgbClr>
                      </a:solidFill>
                      <a:latin typeface="汉仪行楷简"/>
                      <a:ea typeface="汉仪行楷简"/>
                      <a:cs typeface="汉仪行楷简"/>
                    </a:rPr>
                    <a:t>知识转化器</a:t>
                  </a:r>
                  <a:endParaRPr lang="en-US" sz="2000" b="1">
                    <a:solidFill>
                      <a:srgbClr val="FFFFFF">
                        <a:alpha val="100000"/>
                      </a:srgbClr>
                    </a:solidFill>
                    <a:latin typeface="汉仪行楷简"/>
                    <a:ea typeface="汉仪行楷简"/>
                    <a:cs typeface="汉仪行楷简"/>
                  </a:endParaRPr>
                </a:p>
              </p:txBody>
            </p:sp>
            <p:sp>
              <p:nvSpPr>
                <p:cNvPr id="27" name="TextBox 27"/>
                <p:cNvSpPr txBox="1"/>
                <p:nvPr>
                  <p:custDataLst>
                    <p:tags r:id="rId19"/>
                  </p:custDataLst>
                </p:nvPr>
              </p:nvSpPr>
              <p:spPr>
                <a:xfrm>
                  <a:off x="3479930" y="4694053"/>
                  <a:ext cx="2449859" cy="1276293"/>
                </a:xfrm>
                <a:prstGeom prst="rect">
                  <a:avLst/>
                </a:prstGeom>
                <a:ln>
                  <a:headEnd type="none"/>
                  <a:tailEnd type="none"/>
                </a:ln>
              </p:spPr>
              <p:txBody>
                <a:bodyPr vert="horz" wrap="square" lIns="91440" tIns="45720" rIns="91440" bIns="45720" rtlCol="0" anchor="t" anchorCtr="0"/>
                <a:lstStyle/>
                <a:p>
                  <a:pPr algn="l">
                    <a:lnSpc>
                      <a:spcPct val="120000"/>
                    </a:lnSpc>
                    <a:spcBef>
                      <a:spcPts val="0"/>
                    </a:spcBef>
                    <a:spcAft>
                      <a:spcPts val="0"/>
                    </a:spcAft>
                    <a:buClrTx/>
                    <a:buSzTx/>
                    <a:buFontTx/>
                    <a:defRPr/>
                  </a:pPr>
                  <a:r>
                    <a:rPr lang="en-US" sz="1600" b="0" i="0" strike="noStrike">
                      <a:solidFill>
                        <a:srgbClr val="FFFFFF">
                          <a:alpha val="100000"/>
                        </a:srgbClr>
                      </a:solidFill>
                      <a:latin typeface="思源黑体 CN Regular"/>
                      <a:ea typeface="思源黑体 CN Regular"/>
                      <a:cs typeface="思源黑体 CN Regular"/>
                    </a:rPr>
                    <a:t>通过先进的可视化技术，将冰冷的数据转化为具有洞察力的环境知识，降低专业门槛。</a:t>
                  </a:r>
                  <a:endParaRPr lang="en-US" sz="1600">
                    <a:solidFill>
                      <a:srgbClr val="FFFFFF">
                        <a:alpha val="100000"/>
                      </a:srgbClr>
                    </a:solidFill>
                    <a:latin typeface="思源黑体 CN Regular"/>
                    <a:ea typeface="思源黑体 CN Regular"/>
                    <a:cs typeface="思源黑体 CN Regular"/>
                  </a:endParaRPr>
                </a:p>
              </p:txBody>
            </p:sp>
          </p:grpSp>
        </p:grpSp>
        <p:grpSp>
          <p:nvGrpSpPr>
            <p:cNvPr id="28" name="Group 28"/>
            <p:cNvGrpSpPr/>
            <p:nvPr/>
          </p:nvGrpSpPr>
          <p:grpSpPr>
            <a:xfrm rot="0">
              <a:off x="6169482" y="2596435"/>
              <a:ext cx="2609921" cy="3373911"/>
              <a:chOff x="6169482" y="2596435"/>
              <a:chExt cx="2609921" cy="3373911"/>
            </a:xfrm>
          </p:grpSpPr>
          <p:sp>
            <p:nvSpPr>
              <p:cNvPr id="29" name="AutoShape 29"/>
              <p:cNvSpPr/>
              <p:nvPr>
                <p:custDataLst>
                  <p:tags r:id="rId20"/>
                </p:custDataLst>
              </p:nvPr>
            </p:nvSpPr>
            <p:spPr>
              <a:xfrm flipH="1">
                <a:off x="6175485" y="2601153"/>
                <a:ext cx="2597914" cy="2347869"/>
              </a:xfrm>
              <a:custGeom>
                <a:avLst/>
                <a:gdLst/>
                <a:ahLst/>
                <a:cxnLst/>
                <a:rect l="l" t="t" r="r" b="b"/>
                <a:pathLst>
                  <a:path w="4078981" h="4690964">
                    <a:moveTo>
                      <a:pt x="181130" y="37996"/>
                    </a:moveTo>
                    <a:lnTo>
                      <a:pt x="37995" y="176199"/>
                    </a:lnTo>
                    <a:lnTo>
                      <a:pt x="37995" y="370671"/>
                    </a:lnTo>
                    <a:lnTo>
                      <a:pt x="38140" y="370671"/>
                    </a:lnTo>
                    <a:lnTo>
                      <a:pt x="38140" y="4308547"/>
                    </a:lnTo>
                    <a:lnTo>
                      <a:pt x="37995" y="4308547"/>
                    </a:lnTo>
                    <a:lnTo>
                      <a:pt x="37995" y="4509690"/>
                    </a:lnTo>
                    <a:lnTo>
                      <a:pt x="176199" y="4652824"/>
                    </a:lnTo>
                    <a:lnTo>
                      <a:pt x="351964" y="4652824"/>
                    </a:lnTo>
                    <a:lnTo>
                      <a:pt x="362840" y="4652824"/>
                    </a:lnTo>
                    <a:lnTo>
                      <a:pt x="3753700" y="4652824"/>
                    </a:lnTo>
                    <a:lnTo>
                      <a:pt x="3759211" y="4652824"/>
                    </a:lnTo>
                    <a:lnTo>
                      <a:pt x="3902781" y="4652824"/>
                    </a:lnTo>
                    <a:lnTo>
                      <a:pt x="4040840" y="4509690"/>
                    </a:lnTo>
                    <a:lnTo>
                      <a:pt x="4040840" y="4346107"/>
                    </a:lnTo>
                    <a:lnTo>
                      <a:pt x="4040840" y="4317248"/>
                    </a:lnTo>
                    <a:lnTo>
                      <a:pt x="4040840" y="633449"/>
                    </a:lnTo>
                    <a:lnTo>
                      <a:pt x="4040841" y="633449"/>
                    </a:lnTo>
                    <a:lnTo>
                      <a:pt x="4040841" y="463920"/>
                    </a:lnTo>
                    <a:lnTo>
                      <a:pt x="3897706" y="325861"/>
                    </a:lnTo>
                    <a:lnTo>
                      <a:pt x="3751380" y="325861"/>
                    </a:lnTo>
                    <a:lnTo>
                      <a:pt x="3742824" y="325861"/>
                    </a:lnTo>
                    <a:lnTo>
                      <a:pt x="2411975" y="325861"/>
                    </a:lnTo>
                    <a:lnTo>
                      <a:pt x="2161815" y="37996"/>
                    </a:lnTo>
                    <a:close/>
                    <a:moveTo>
                      <a:pt x="175184" y="0"/>
                    </a:moveTo>
                    <a:lnTo>
                      <a:pt x="2192269" y="0"/>
                    </a:lnTo>
                    <a:lnTo>
                      <a:pt x="2443299" y="287720"/>
                    </a:lnTo>
                    <a:lnTo>
                      <a:pt x="3742824" y="287720"/>
                    </a:lnTo>
                    <a:lnTo>
                      <a:pt x="3751380" y="287720"/>
                    </a:lnTo>
                    <a:lnTo>
                      <a:pt x="3903796" y="287720"/>
                    </a:lnTo>
                    <a:lnTo>
                      <a:pt x="4078981" y="456668"/>
                    </a:lnTo>
                    <a:lnTo>
                      <a:pt x="4078981" y="469140"/>
                    </a:lnTo>
                    <a:lnTo>
                      <a:pt x="4078981" y="494229"/>
                    </a:lnTo>
                    <a:lnTo>
                      <a:pt x="4078981" y="650706"/>
                    </a:lnTo>
                    <a:lnTo>
                      <a:pt x="4078980" y="650706"/>
                    </a:lnTo>
                    <a:lnTo>
                      <a:pt x="4078980" y="4317248"/>
                    </a:lnTo>
                    <a:lnTo>
                      <a:pt x="4078980" y="4346107"/>
                    </a:lnTo>
                    <a:lnTo>
                      <a:pt x="4078980" y="4515635"/>
                    </a:lnTo>
                    <a:lnTo>
                      <a:pt x="3910032" y="4690819"/>
                    </a:lnTo>
                    <a:lnTo>
                      <a:pt x="3897560" y="4690819"/>
                    </a:lnTo>
                    <a:lnTo>
                      <a:pt x="3872472" y="4690819"/>
                    </a:lnTo>
                    <a:lnTo>
                      <a:pt x="3759211" y="4690819"/>
                    </a:lnTo>
                    <a:lnTo>
                      <a:pt x="3759211" y="4690964"/>
                    </a:lnTo>
                    <a:lnTo>
                      <a:pt x="351964" y="4690964"/>
                    </a:lnTo>
                    <a:lnTo>
                      <a:pt x="351964" y="4690820"/>
                    </a:lnTo>
                    <a:lnTo>
                      <a:pt x="206364" y="4690820"/>
                    </a:lnTo>
                    <a:lnTo>
                      <a:pt x="181420" y="4690820"/>
                    </a:lnTo>
                    <a:lnTo>
                      <a:pt x="168948" y="4690820"/>
                    </a:lnTo>
                    <a:lnTo>
                      <a:pt x="0" y="4515636"/>
                    </a:lnTo>
                    <a:lnTo>
                      <a:pt x="0" y="4308547"/>
                    </a:lnTo>
                    <a:lnTo>
                      <a:pt x="0" y="4279688"/>
                    </a:lnTo>
                    <a:lnTo>
                      <a:pt x="0" y="400401"/>
                    </a:lnTo>
                    <a:lnTo>
                      <a:pt x="0" y="370671"/>
                    </a:lnTo>
                    <a:lnTo>
                      <a:pt x="0" y="206364"/>
                    </a:lnTo>
                    <a:lnTo>
                      <a:pt x="0" y="181420"/>
                    </a:lnTo>
                    <a:lnTo>
                      <a:pt x="0" y="168948"/>
                    </a:lnTo>
                    <a:close/>
                  </a:path>
                </a:pathLst>
              </a:custGeom>
              <a:gradFill>
                <a:gsLst>
                  <a:gs pos="0">
                    <a:srgbClr val="EBBA6F">
                      <a:alpha val="100000"/>
                    </a:srgbClr>
                  </a:gs>
                  <a:gs pos="100000">
                    <a:srgbClr val="33CCFF">
                      <a:alpha val="0"/>
                    </a:srgbClr>
                  </a:gs>
                </a:gsLst>
                <a:lin ang="5400000"/>
              </a:gradFill>
              <a:ln>
                <a:prstDash val="solid"/>
                <a:headEnd type="none"/>
                <a:tailEnd type="none"/>
              </a:ln>
            </p:spPr>
          </p:sp>
          <p:sp>
            <p:nvSpPr>
              <p:cNvPr id="30" name="AutoShape 30"/>
              <p:cNvSpPr/>
              <p:nvPr>
                <p:custDataLst>
                  <p:tags r:id="rId21"/>
                </p:custDataLst>
              </p:nvPr>
            </p:nvSpPr>
            <p:spPr>
              <a:xfrm flipH="1">
                <a:off x="7848653" y="2652324"/>
                <a:ext cx="863693" cy="95157"/>
              </a:xfrm>
              <a:custGeom>
                <a:avLst/>
                <a:gdLst/>
                <a:ahLst/>
                <a:cxnLst/>
                <a:rect l="l" t="t" r="r" b="b"/>
                <a:pathLst>
                  <a:path w="1356083" h="190121">
                    <a:moveTo>
                      <a:pt x="221446" y="0"/>
                    </a:moveTo>
                    <a:lnTo>
                      <a:pt x="226087" y="0"/>
                    </a:lnTo>
                    <a:lnTo>
                      <a:pt x="237833" y="0"/>
                    </a:lnTo>
                    <a:lnTo>
                      <a:pt x="1356083" y="0"/>
                    </a:lnTo>
                    <a:lnTo>
                      <a:pt x="1356083" y="20738"/>
                    </a:lnTo>
                    <a:lnTo>
                      <a:pt x="231307" y="20738"/>
                    </a:lnTo>
                    <a:lnTo>
                      <a:pt x="142700" y="106300"/>
                    </a:lnTo>
                    <a:lnTo>
                      <a:pt x="142700" y="75410"/>
                    </a:lnTo>
                    <a:close/>
                    <a:moveTo>
                      <a:pt x="116741" y="0"/>
                    </a:moveTo>
                    <a:lnTo>
                      <a:pt x="197082" y="0"/>
                    </a:lnTo>
                    <a:lnTo>
                      <a:pt x="0" y="190121"/>
                    </a:lnTo>
                    <a:lnTo>
                      <a:pt x="0" y="109780"/>
                    </a:lnTo>
                    <a:close/>
                  </a:path>
                </a:pathLst>
              </a:custGeom>
              <a:gradFill>
                <a:gsLst>
                  <a:gs pos="0">
                    <a:srgbClr val="EBBA6F">
                      <a:alpha val="100000"/>
                    </a:srgbClr>
                  </a:gs>
                  <a:gs pos="100000">
                    <a:srgbClr val="33CCFF">
                      <a:alpha val="100000"/>
                    </a:srgbClr>
                  </a:gs>
                </a:gsLst>
                <a:lin ang="0"/>
              </a:gradFill>
              <a:ln>
                <a:prstDash val="solid"/>
                <a:headEnd type="none"/>
                <a:tailEnd type="none"/>
              </a:ln>
            </p:spPr>
          </p:sp>
          <p:sp>
            <p:nvSpPr>
              <p:cNvPr id="31" name="AutoShape 31"/>
              <p:cNvSpPr/>
              <p:nvPr>
                <p:custDataLst>
                  <p:tags r:id="rId22"/>
                </p:custDataLst>
              </p:nvPr>
            </p:nvSpPr>
            <p:spPr>
              <a:xfrm flipH="1">
                <a:off x="6526744" y="2647679"/>
                <a:ext cx="750178" cy="76358"/>
              </a:xfrm>
              <a:custGeom>
                <a:avLst/>
                <a:gdLst/>
                <a:ahLst/>
                <a:cxnLst/>
                <a:rect l="l" t="t" r="r" b="b"/>
                <a:pathLst>
                  <a:path w="1177853" h="152561">
                    <a:moveTo>
                      <a:pt x="964818" y="0"/>
                    </a:moveTo>
                    <a:lnTo>
                      <a:pt x="1041099" y="0"/>
                    </a:lnTo>
                    <a:lnTo>
                      <a:pt x="1177853" y="152561"/>
                    </a:lnTo>
                    <a:lnTo>
                      <a:pt x="1101572" y="152561"/>
                    </a:lnTo>
                    <a:close/>
                    <a:moveTo>
                      <a:pt x="827484" y="0"/>
                    </a:moveTo>
                    <a:lnTo>
                      <a:pt x="903765" y="0"/>
                    </a:lnTo>
                    <a:lnTo>
                      <a:pt x="1040664" y="152561"/>
                    </a:lnTo>
                    <a:lnTo>
                      <a:pt x="964383" y="152561"/>
                    </a:lnTo>
                    <a:close/>
                    <a:moveTo>
                      <a:pt x="690295" y="0"/>
                    </a:moveTo>
                    <a:lnTo>
                      <a:pt x="766576" y="0"/>
                    </a:lnTo>
                    <a:lnTo>
                      <a:pt x="903475" y="152561"/>
                    </a:lnTo>
                    <a:lnTo>
                      <a:pt x="827049" y="152561"/>
                    </a:lnTo>
                    <a:close/>
                    <a:moveTo>
                      <a:pt x="553106" y="0"/>
                    </a:moveTo>
                    <a:lnTo>
                      <a:pt x="629387" y="0"/>
                    </a:lnTo>
                    <a:lnTo>
                      <a:pt x="766141" y="152561"/>
                    </a:lnTo>
                    <a:lnTo>
                      <a:pt x="689860" y="152561"/>
                    </a:lnTo>
                    <a:close/>
                    <a:moveTo>
                      <a:pt x="415917" y="0"/>
                    </a:moveTo>
                    <a:lnTo>
                      <a:pt x="492198" y="0"/>
                    </a:lnTo>
                    <a:lnTo>
                      <a:pt x="628951" y="152561"/>
                    </a:lnTo>
                    <a:lnTo>
                      <a:pt x="552671" y="152561"/>
                    </a:lnTo>
                    <a:close/>
                    <a:moveTo>
                      <a:pt x="0" y="0"/>
                    </a:moveTo>
                    <a:lnTo>
                      <a:pt x="352544" y="0"/>
                    </a:lnTo>
                    <a:lnTo>
                      <a:pt x="489298" y="152561"/>
                    </a:lnTo>
                    <a:lnTo>
                      <a:pt x="136754" y="152561"/>
                    </a:lnTo>
                    <a:close/>
                  </a:path>
                </a:pathLst>
              </a:custGeom>
              <a:gradFill>
                <a:gsLst>
                  <a:gs pos="0">
                    <a:srgbClr val="EBBA6F">
                      <a:alpha val="100000"/>
                    </a:srgbClr>
                  </a:gs>
                  <a:gs pos="100000">
                    <a:srgbClr val="33CCFF">
                      <a:alpha val="100000"/>
                    </a:srgbClr>
                  </a:gs>
                </a:gsLst>
                <a:lin ang="0"/>
              </a:gradFill>
              <a:ln>
                <a:prstDash val="solid"/>
                <a:headEnd type="none"/>
                <a:tailEnd type="none"/>
              </a:ln>
            </p:spPr>
          </p:sp>
          <p:sp>
            <p:nvSpPr>
              <p:cNvPr id="32" name="AutoShape 32"/>
              <p:cNvSpPr/>
              <p:nvPr>
                <p:custDataLst>
                  <p:tags r:id="rId23"/>
                </p:custDataLst>
              </p:nvPr>
            </p:nvSpPr>
            <p:spPr>
              <a:xfrm flipH="1">
                <a:off x="8159643" y="2596435"/>
                <a:ext cx="619760" cy="242793"/>
              </a:xfrm>
              <a:custGeom>
                <a:avLst/>
                <a:gdLst/>
                <a:ahLst/>
                <a:cxnLst/>
                <a:rect l="l" t="t" r="r" b="b"/>
                <a:pathLst>
                  <a:path w="973084" h="485092">
                    <a:moveTo>
                      <a:pt x="973085" y="56848"/>
                    </a:moveTo>
                    <a:lnTo>
                      <a:pt x="973085" y="0"/>
                    </a:lnTo>
                    <a:lnTo>
                      <a:pt x="181420" y="0"/>
                    </a:lnTo>
                    <a:lnTo>
                      <a:pt x="0" y="175184"/>
                    </a:lnTo>
                    <a:lnTo>
                      <a:pt x="0" y="187656"/>
                    </a:lnTo>
                    <a:lnTo>
                      <a:pt x="0" y="212744"/>
                    </a:lnTo>
                    <a:lnTo>
                      <a:pt x="0" y="485092"/>
                    </a:lnTo>
                    <a:lnTo>
                      <a:pt x="56848" y="485092"/>
                    </a:lnTo>
                    <a:lnTo>
                      <a:pt x="56848" y="188671"/>
                    </a:lnTo>
                    <a:lnTo>
                      <a:pt x="193747" y="56848"/>
                    </a:lnTo>
                    <a:close/>
                  </a:path>
                </a:pathLst>
              </a:custGeom>
              <a:gradFill>
                <a:gsLst>
                  <a:gs pos="0">
                    <a:srgbClr val="EBBA6F">
                      <a:alpha val="100000"/>
                      <a:lumMod val="60000"/>
                      <a:lumOff val="40000"/>
                    </a:srgbClr>
                  </a:gs>
                  <a:gs pos="46999">
                    <a:srgbClr val="33CCFF">
                      <a:alpha val="100000"/>
                    </a:srgbClr>
                  </a:gs>
                  <a:gs pos="100000">
                    <a:srgbClr val="33CCFF">
                      <a:alpha val="100000"/>
                    </a:srgbClr>
                  </a:gs>
                </a:gsLst>
                <a:lin ang="5400000"/>
              </a:gradFill>
              <a:ln>
                <a:prstDash val="solid"/>
                <a:headEnd type="none"/>
                <a:tailEnd type="none"/>
              </a:ln>
            </p:spPr>
          </p:sp>
          <p:sp>
            <p:nvSpPr>
              <p:cNvPr id="33" name="AutoShape 33"/>
              <p:cNvSpPr/>
              <p:nvPr>
                <p:custDataLst>
                  <p:tags r:id="rId24"/>
                </p:custDataLst>
              </p:nvPr>
            </p:nvSpPr>
            <p:spPr>
              <a:xfrm flipH="1">
                <a:off x="6169482" y="2740513"/>
                <a:ext cx="253631" cy="147127"/>
              </a:xfrm>
              <a:custGeom>
                <a:avLst/>
                <a:gdLst/>
                <a:ahLst/>
                <a:cxnLst/>
                <a:rect l="l" t="t" r="r" b="b"/>
                <a:pathLst>
                  <a:path w="398225" h="293955">
                    <a:moveTo>
                      <a:pt x="0" y="56848"/>
                    </a:moveTo>
                    <a:lnTo>
                      <a:pt x="0" y="0"/>
                    </a:lnTo>
                    <a:lnTo>
                      <a:pt x="216805" y="0"/>
                    </a:lnTo>
                    <a:lnTo>
                      <a:pt x="398225" y="175184"/>
                    </a:lnTo>
                    <a:lnTo>
                      <a:pt x="398225" y="187656"/>
                    </a:lnTo>
                    <a:lnTo>
                      <a:pt x="398225" y="212599"/>
                    </a:lnTo>
                    <a:lnTo>
                      <a:pt x="398225" y="293956"/>
                    </a:lnTo>
                    <a:lnTo>
                      <a:pt x="341377" y="293956"/>
                    </a:lnTo>
                    <a:lnTo>
                      <a:pt x="341377" y="188671"/>
                    </a:lnTo>
                    <a:lnTo>
                      <a:pt x="204478" y="56848"/>
                    </a:lnTo>
                    <a:close/>
                  </a:path>
                </a:pathLst>
              </a:custGeom>
              <a:gradFill>
                <a:gsLst>
                  <a:gs pos="0">
                    <a:srgbClr val="33CCFF">
                      <a:alpha val="100000"/>
                      <a:lumMod val="60000"/>
                      <a:lumOff val="40000"/>
                    </a:srgbClr>
                  </a:gs>
                  <a:gs pos="44999">
                    <a:srgbClr val="33CCFF">
                      <a:alpha val="100000"/>
                    </a:srgbClr>
                  </a:gs>
                  <a:gs pos="100000">
                    <a:srgbClr val="EBBA6F">
                      <a:alpha val="100000"/>
                    </a:srgbClr>
                  </a:gs>
                </a:gsLst>
                <a:lin ang="5400000"/>
              </a:gradFill>
              <a:ln>
                <a:prstDash val="solid"/>
                <a:headEnd type="none"/>
                <a:tailEnd type="none"/>
              </a:ln>
            </p:spPr>
          </p:sp>
          <p:grpSp>
            <p:nvGrpSpPr>
              <p:cNvPr id="34" name="Group 34"/>
              <p:cNvGrpSpPr/>
              <p:nvPr/>
            </p:nvGrpSpPr>
            <p:grpSpPr>
              <a:xfrm rot="0">
                <a:off x="6183244" y="2607177"/>
                <a:ext cx="2583875" cy="3363169"/>
                <a:chOff x="6183244" y="2607177"/>
                <a:chExt cx="2583875" cy="3363169"/>
              </a:xfrm>
            </p:grpSpPr>
            <p:sp>
              <p:nvSpPr>
                <p:cNvPr id="35" name="AutoShape 35"/>
                <p:cNvSpPr/>
                <p:nvPr>
                  <p:custDataLst>
                    <p:tags r:id="rId25"/>
                  </p:custDataLst>
                </p:nvPr>
              </p:nvSpPr>
              <p:spPr>
                <a:xfrm flipH="1">
                  <a:off x="6183244" y="2607177"/>
                  <a:ext cx="2583875" cy="3284095"/>
                </a:xfrm>
                <a:custGeom>
                  <a:avLst/>
                  <a:gdLst/>
                  <a:ahLst/>
                  <a:cxnLst/>
                  <a:rect l="l" t="t" r="r" b="b"/>
                  <a:pathLst>
                    <a:path w="2653684" h="3372822">
                      <a:moveTo>
                        <a:pt x="113736" y="0"/>
                      </a:moveTo>
                      <a:lnTo>
                        <a:pt x="1415393" y="0"/>
                      </a:lnTo>
                      <a:lnTo>
                        <a:pt x="1585950" y="153935"/>
                      </a:lnTo>
                      <a:lnTo>
                        <a:pt x="2540044" y="153935"/>
                      </a:lnTo>
                      <a:lnTo>
                        <a:pt x="2653684" y="233400"/>
                      </a:lnTo>
                      <a:lnTo>
                        <a:pt x="2653684" y="1207219"/>
                      </a:lnTo>
                      <a:lnTo>
                        <a:pt x="2653684" y="2319538"/>
                      </a:lnTo>
                      <a:lnTo>
                        <a:pt x="2653684" y="3293357"/>
                      </a:lnTo>
                      <a:lnTo>
                        <a:pt x="2552659" y="3372822"/>
                      </a:lnTo>
                      <a:lnTo>
                        <a:pt x="107381" y="3372822"/>
                      </a:lnTo>
                      <a:lnTo>
                        <a:pt x="0" y="3288362"/>
                      </a:lnTo>
                      <a:lnTo>
                        <a:pt x="0" y="2314543"/>
                      </a:lnTo>
                      <a:lnTo>
                        <a:pt x="0" y="1053284"/>
                      </a:lnTo>
                      <a:lnTo>
                        <a:pt x="0" y="79465"/>
                      </a:lnTo>
                      <a:close/>
                    </a:path>
                  </a:pathLst>
                </a:custGeom>
                <a:gradFill>
                  <a:gsLst>
                    <a:gs pos="0">
                      <a:srgbClr val="EBBA6F">
                        <a:alpha val="30196"/>
                      </a:srgbClr>
                    </a:gs>
                    <a:gs pos="87999">
                      <a:srgbClr val="EBBA6F">
                        <a:alpha val="0"/>
                      </a:srgbClr>
                    </a:gs>
                  </a:gsLst>
                  <a:lin ang="5400000"/>
                </a:gradFill>
                <a:ln>
                  <a:prstDash val="solid"/>
                  <a:headEnd type="none"/>
                  <a:tailEnd type="none"/>
                </a:ln>
              </p:spPr>
            </p:sp>
            <p:sp>
              <p:nvSpPr>
                <p:cNvPr id="36" name="TextBox 36"/>
                <p:cNvSpPr txBox="1"/>
                <p:nvPr>
                  <p:custDataLst>
                    <p:tags r:id="rId26"/>
                  </p:custDataLst>
                </p:nvPr>
              </p:nvSpPr>
              <p:spPr>
                <a:xfrm flipH="1">
                  <a:off x="6986816" y="2908570"/>
                  <a:ext cx="975251" cy="823705"/>
                </a:xfrm>
                <a:prstGeom prst="rect">
                  <a:avLst/>
                </a:prstGeom>
                <a:ln>
                  <a:headEnd type="none"/>
                  <a:tailEnd type="none"/>
                </a:ln>
              </p:spPr>
              <p:txBody>
                <a:bodyPr vert="horz" wrap="none" lIns="91440" tIns="45720" rIns="91440" bIns="45720" rtlCol="0" anchor="b" anchorCtr="0"/>
                <a:lstStyle/>
                <a:p>
                  <a:pPr algn="ctr">
                    <a:lnSpc>
                      <a:spcPct val="108000"/>
                    </a:lnSpc>
                    <a:defRPr/>
                  </a:pPr>
                  <a:r>
                    <a:rPr lang="en-US" sz="4600" b="1" i="1">
                      <a:solidFill>
                        <a:srgbClr val="FFFFFF">
                          <a:alpha val="100000"/>
                        </a:srgbClr>
                      </a:solidFill>
                      <a:latin typeface="Arial" panose="020B0604020202020204"/>
                      <a:ea typeface="Arial" panose="020B0604020202020204"/>
                      <a:cs typeface="Arial" panose="020B0604020202020204"/>
                    </a:rPr>
                    <a:t>3</a:t>
                  </a:r>
                  <a:endParaRPr lang="en-US" sz="1100"/>
                </a:p>
              </p:txBody>
            </p:sp>
            <p:sp>
              <p:nvSpPr>
                <p:cNvPr id="37" name="TextBox 37"/>
                <p:cNvSpPr txBox="1"/>
                <p:nvPr>
                  <p:custDataLst>
                    <p:tags r:id="rId27"/>
                  </p:custDataLst>
                </p:nvPr>
              </p:nvSpPr>
              <p:spPr>
                <a:xfrm flipH="1">
                  <a:off x="6249512" y="3801006"/>
                  <a:ext cx="2449859" cy="778648"/>
                </a:xfrm>
                <a:prstGeom prst="rect">
                  <a:avLst/>
                </a:prstGeom>
                <a:ln>
                  <a:headEnd type="none"/>
                  <a:tailEnd type="none"/>
                </a:ln>
              </p:spPr>
              <p:txBody>
                <a:bodyPr vert="horz" wrap="square" lIns="91440" tIns="45720" rIns="91440" bIns="45720" rtlCol="0" anchor="b" anchorCtr="0"/>
                <a:lstStyle/>
                <a:p>
                  <a:pPr algn="l">
                    <a:spcBef>
                      <a:spcPts val="0"/>
                    </a:spcBef>
                    <a:spcAft>
                      <a:spcPts val="0"/>
                    </a:spcAft>
                    <a:buClrTx/>
                    <a:buSzTx/>
                    <a:buFontTx/>
                    <a:defRPr/>
                  </a:pPr>
                  <a:r>
                    <a:rPr lang="en-US" sz="2000" b="1" i="0" strike="noStrike">
                      <a:solidFill>
                        <a:srgbClr val="FFFFFF">
                          <a:alpha val="100000"/>
                        </a:srgbClr>
                      </a:solidFill>
                      <a:latin typeface="汉仪行楷简"/>
                      <a:ea typeface="汉仪行楷简"/>
                      <a:cs typeface="汉仪行楷简"/>
                    </a:rPr>
                    <a:t>决策加速器</a:t>
                  </a:r>
                  <a:endParaRPr lang="en-US" sz="2000" b="1">
                    <a:solidFill>
                      <a:srgbClr val="FFFFFF">
                        <a:alpha val="100000"/>
                      </a:srgbClr>
                    </a:solidFill>
                    <a:latin typeface="汉仪行楷简"/>
                    <a:ea typeface="汉仪行楷简"/>
                    <a:cs typeface="汉仪行楷简"/>
                  </a:endParaRPr>
                </a:p>
              </p:txBody>
            </p:sp>
            <p:sp>
              <p:nvSpPr>
                <p:cNvPr id="38" name="TextBox 38"/>
                <p:cNvSpPr txBox="1"/>
                <p:nvPr>
                  <p:custDataLst>
                    <p:tags r:id="rId28"/>
                  </p:custDataLst>
                </p:nvPr>
              </p:nvSpPr>
              <p:spPr>
                <a:xfrm flipH="1">
                  <a:off x="6249510" y="4694053"/>
                  <a:ext cx="2449859" cy="1276293"/>
                </a:xfrm>
                <a:prstGeom prst="rect">
                  <a:avLst/>
                </a:prstGeom>
                <a:ln>
                  <a:headEnd type="none"/>
                  <a:tailEnd type="none"/>
                </a:ln>
              </p:spPr>
              <p:txBody>
                <a:bodyPr vert="horz" wrap="square" lIns="91440" tIns="45720" rIns="91440" bIns="45720" rtlCol="0" anchor="t" anchorCtr="0"/>
                <a:lstStyle/>
                <a:p>
                  <a:pPr algn="l">
                    <a:lnSpc>
                      <a:spcPct val="120000"/>
                    </a:lnSpc>
                    <a:spcBef>
                      <a:spcPts val="0"/>
                    </a:spcBef>
                    <a:spcAft>
                      <a:spcPts val="0"/>
                    </a:spcAft>
                    <a:buClrTx/>
                    <a:buSzTx/>
                    <a:buFontTx/>
                    <a:defRPr/>
                  </a:pPr>
                  <a:r>
                    <a:rPr lang="en-US" sz="1600" b="0" i="0" strike="noStrike">
                      <a:solidFill>
                        <a:srgbClr val="FFFFFF">
                          <a:alpha val="100000"/>
                        </a:srgbClr>
                      </a:solidFill>
                      <a:latin typeface="思源黑体 CN Regular"/>
                      <a:ea typeface="思源黑体 CN Regular"/>
                      <a:cs typeface="思源黑体 CN Regular"/>
                    </a:rPr>
                    <a:t>提供实时、动态、交互的分析能力，极大缩短决策周期，提升环境管理和治理的科学性与精准性。</a:t>
                  </a:r>
                  <a:endParaRPr lang="en-US" sz="1600">
                    <a:solidFill>
                      <a:srgbClr val="FFFFFF">
                        <a:alpha val="100000"/>
                      </a:srgbClr>
                    </a:solidFill>
                    <a:latin typeface="思源黑体 CN Regular"/>
                    <a:ea typeface="思源黑体 CN Regular"/>
                    <a:cs typeface="思源黑体 CN Regular"/>
                  </a:endParaRPr>
                </a:p>
              </p:txBody>
            </p:sp>
          </p:grpSp>
        </p:grpSp>
        <p:grpSp>
          <p:nvGrpSpPr>
            <p:cNvPr id="39" name="Group 39"/>
            <p:cNvGrpSpPr/>
            <p:nvPr/>
          </p:nvGrpSpPr>
          <p:grpSpPr>
            <a:xfrm rot="0">
              <a:off x="8939064" y="2126893"/>
              <a:ext cx="2609921" cy="3428173"/>
              <a:chOff x="8939064" y="2126893"/>
              <a:chExt cx="2609921" cy="3428173"/>
            </a:xfrm>
          </p:grpSpPr>
          <p:sp>
            <p:nvSpPr>
              <p:cNvPr id="40" name="AutoShape 40"/>
              <p:cNvSpPr/>
              <p:nvPr>
                <p:custDataLst>
                  <p:tags r:id="rId29"/>
                </p:custDataLst>
              </p:nvPr>
            </p:nvSpPr>
            <p:spPr>
              <a:xfrm flipH="1">
                <a:off x="8945067" y="2131611"/>
                <a:ext cx="2597914" cy="2347869"/>
              </a:xfrm>
              <a:custGeom>
                <a:avLst/>
                <a:gdLst/>
                <a:ahLst/>
                <a:cxnLst/>
                <a:rect l="l" t="t" r="r" b="b"/>
                <a:pathLst>
                  <a:path w="4078981" h="4690964">
                    <a:moveTo>
                      <a:pt x="181130" y="37996"/>
                    </a:moveTo>
                    <a:lnTo>
                      <a:pt x="37995" y="176199"/>
                    </a:lnTo>
                    <a:lnTo>
                      <a:pt x="37995" y="370671"/>
                    </a:lnTo>
                    <a:lnTo>
                      <a:pt x="38140" y="370671"/>
                    </a:lnTo>
                    <a:lnTo>
                      <a:pt x="38140" y="4308547"/>
                    </a:lnTo>
                    <a:lnTo>
                      <a:pt x="37995" y="4308547"/>
                    </a:lnTo>
                    <a:lnTo>
                      <a:pt x="37995" y="4509690"/>
                    </a:lnTo>
                    <a:lnTo>
                      <a:pt x="176199" y="4652824"/>
                    </a:lnTo>
                    <a:lnTo>
                      <a:pt x="351964" y="4652824"/>
                    </a:lnTo>
                    <a:lnTo>
                      <a:pt x="362840" y="4652824"/>
                    </a:lnTo>
                    <a:lnTo>
                      <a:pt x="3753700" y="4652824"/>
                    </a:lnTo>
                    <a:lnTo>
                      <a:pt x="3759211" y="4652824"/>
                    </a:lnTo>
                    <a:lnTo>
                      <a:pt x="3902781" y="4652824"/>
                    </a:lnTo>
                    <a:lnTo>
                      <a:pt x="4040840" y="4509690"/>
                    </a:lnTo>
                    <a:lnTo>
                      <a:pt x="4040840" y="4346107"/>
                    </a:lnTo>
                    <a:lnTo>
                      <a:pt x="4040840" y="4317248"/>
                    </a:lnTo>
                    <a:lnTo>
                      <a:pt x="4040840" y="633449"/>
                    </a:lnTo>
                    <a:lnTo>
                      <a:pt x="4040841" y="633449"/>
                    </a:lnTo>
                    <a:lnTo>
                      <a:pt x="4040841" y="463920"/>
                    </a:lnTo>
                    <a:lnTo>
                      <a:pt x="3897706" y="325861"/>
                    </a:lnTo>
                    <a:lnTo>
                      <a:pt x="3751380" y="325861"/>
                    </a:lnTo>
                    <a:lnTo>
                      <a:pt x="3742824" y="325861"/>
                    </a:lnTo>
                    <a:lnTo>
                      <a:pt x="2411975" y="325861"/>
                    </a:lnTo>
                    <a:lnTo>
                      <a:pt x="2161815" y="37996"/>
                    </a:lnTo>
                    <a:close/>
                    <a:moveTo>
                      <a:pt x="175184" y="0"/>
                    </a:moveTo>
                    <a:lnTo>
                      <a:pt x="2192269" y="0"/>
                    </a:lnTo>
                    <a:lnTo>
                      <a:pt x="2443299" y="287720"/>
                    </a:lnTo>
                    <a:lnTo>
                      <a:pt x="3742824" y="287720"/>
                    </a:lnTo>
                    <a:lnTo>
                      <a:pt x="3751380" y="287720"/>
                    </a:lnTo>
                    <a:lnTo>
                      <a:pt x="3903796" y="287720"/>
                    </a:lnTo>
                    <a:lnTo>
                      <a:pt x="4078981" y="456668"/>
                    </a:lnTo>
                    <a:lnTo>
                      <a:pt x="4078981" y="469140"/>
                    </a:lnTo>
                    <a:lnTo>
                      <a:pt x="4078981" y="494229"/>
                    </a:lnTo>
                    <a:lnTo>
                      <a:pt x="4078981" y="650706"/>
                    </a:lnTo>
                    <a:lnTo>
                      <a:pt x="4078980" y="650706"/>
                    </a:lnTo>
                    <a:lnTo>
                      <a:pt x="4078980" y="4317248"/>
                    </a:lnTo>
                    <a:lnTo>
                      <a:pt x="4078980" y="4346107"/>
                    </a:lnTo>
                    <a:lnTo>
                      <a:pt x="4078980" y="4515635"/>
                    </a:lnTo>
                    <a:lnTo>
                      <a:pt x="3910032" y="4690819"/>
                    </a:lnTo>
                    <a:lnTo>
                      <a:pt x="3897560" y="4690819"/>
                    </a:lnTo>
                    <a:lnTo>
                      <a:pt x="3872472" y="4690819"/>
                    </a:lnTo>
                    <a:lnTo>
                      <a:pt x="3759211" y="4690819"/>
                    </a:lnTo>
                    <a:lnTo>
                      <a:pt x="3759211" y="4690964"/>
                    </a:lnTo>
                    <a:lnTo>
                      <a:pt x="351964" y="4690964"/>
                    </a:lnTo>
                    <a:lnTo>
                      <a:pt x="351964" y="4690820"/>
                    </a:lnTo>
                    <a:lnTo>
                      <a:pt x="206364" y="4690820"/>
                    </a:lnTo>
                    <a:lnTo>
                      <a:pt x="181420" y="4690820"/>
                    </a:lnTo>
                    <a:lnTo>
                      <a:pt x="168948" y="4690820"/>
                    </a:lnTo>
                    <a:lnTo>
                      <a:pt x="0" y="4515636"/>
                    </a:lnTo>
                    <a:lnTo>
                      <a:pt x="0" y="4308547"/>
                    </a:lnTo>
                    <a:lnTo>
                      <a:pt x="0" y="4279688"/>
                    </a:lnTo>
                    <a:lnTo>
                      <a:pt x="0" y="400401"/>
                    </a:lnTo>
                    <a:lnTo>
                      <a:pt x="0" y="370671"/>
                    </a:lnTo>
                    <a:lnTo>
                      <a:pt x="0" y="206364"/>
                    </a:lnTo>
                    <a:lnTo>
                      <a:pt x="0" y="181420"/>
                    </a:lnTo>
                    <a:lnTo>
                      <a:pt x="0" y="168948"/>
                    </a:lnTo>
                    <a:close/>
                  </a:path>
                </a:pathLst>
              </a:custGeom>
              <a:gradFill>
                <a:gsLst>
                  <a:gs pos="0">
                    <a:srgbClr val="EBBA6F">
                      <a:alpha val="100000"/>
                    </a:srgbClr>
                  </a:gs>
                  <a:gs pos="100000">
                    <a:srgbClr val="33CCFF">
                      <a:alpha val="0"/>
                    </a:srgbClr>
                  </a:gs>
                </a:gsLst>
                <a:lin ang="5400000"/>
              </a:gradFill>
              <a:ln>
                <a:prstDash val="solid"/>
                <a:headEnd type="none"/>
                <a:tailEnd type="none"/>
              </a:ln>
            </p:spPr>
          </p:sp>
          <p:sp>
            <p:nvSpPr>
              <p:cNvPr id="41" name="AutoShape 41"/>
              <p:cNvSpPr/>
              <p:nvPr>
                <p:custDataLst>
                  <p:tags r:id="rId30"/>
                </p:custDataLst>
              </p:nvPr>
            </p:nvSpPr>
            <p:spPr>
              <a:xfrm flipH="1">
                <a:off x="10618235" y="2182782"/>
                <a:ext cx="863693" cy="95157"/>
              </a:xfrm>
              <a:custGeom>
                <a:avLst/>
                <a:gdLst/>
                <a:ahLst/>
                <a:cxnLst/>
                <a:rect l="l" t="t" r="r" b="b"/>
                <a:pathLst>
                  <a:path w="1356083" h="190121">
                    <a:moveTo>
                      <a:pt x="221446" y="0"/>
                    </a:moveTo>
                    <a:lnTo>
                      <a:pt x="226087" y="0"/>
                    </a:lnTo>
                    <a:lnTo>
                      <a:pt x="237833" y="0"/>
                    </a:lnTo>
                    <a:lnTo>
                      <a:pt x="1356083" y="0"/>
                    </a:lnTo>
                    <a:lnTo>
                      <a:pt x="1356083" y="20738"/>
                    </a:lnTo>
                    <a:lnTo>
                      <a:pt x="231307" y="20738"/>
                    </a:lnTo>
                    <a:lnTo>
                      <a:pt x="142700" y="106300"/>
                    </a:lnTo>
                    <a:lnTo>
                      <a:pt x="142700" y="75410"/>
                    </a:lnTo>
                    <a:close/>
                    <a:moveTo>
                      <a:pt x="116741" y="0"/>
                    </a:moveTo>
                    <a:lnTo>
                      <a:pt x="197082" y="0"/>
                    </a:lnTo>
                    <a:lnTo>
                      <a:pt x="0" y="190121"/>
                    </a:lnTo>
                    <a:lnTo>
                      <a:pt x="0" y="109780"/>
                    </a:lnTo>
                    <a:close/>
                  </a:path>
                </a:pathLst>
              </a:custGeom>
              <a:gradFill>
                <a:gsLst>
                  <a:gs pos="0">
                    <a:srgbClr val="EBBA6F">
                      <a:alpha val="100000"/>
                    </a:srgbClr>
                  </a:gs>
                  <a:gs pos="100000">
                    <a:srgbClr val="33CCFF">
                      <a:alpha val="100000"/>
                    </a:srgbClr>
                  </a:gs>
                </a:gsLst>
                <a:lin ang="0"/>
              </a:gradFill>
              <a:ln>
                <a:prstDash val="solid"/>
                <a:headEnd type="none"/>
                <a:tailEnd type="none"/>
              </a:ln>
            </p:spPr>
          </p:sp>
          <p:sp>
            <p:nvSpPr>
              <p:cNvPr id="42" name="AutoShape 42"/>
              <p:cNvSpPr/>
              <p:nvPr>
                <p:custDataLst>
                  <p:tags r:id="rId31"/>
                </p:custDataLst>
              </p:nvPr>
            </p:nvSpPr>
            <p:spPr>
              <a:xfrm flipH="1">
                <a:off x="9296326" y="2178137"/>
                <a:ext cx="750178" cy="76358"/>
              </a:xfrm>
              <a:custGeom>
                <a:avLst/>
                <a:gdLst/>
                <a:ahLst/>
                <a:cxnLst/>
                <a:rect l="l" t="t" r="r" b="b"/>
                <a:pathLst>
                  <a:path w="1177853" h="152561">
                    <a:moveTo>
                      <a:pt x="964818" y="0"/>
                    </a:moveTo>
                    <a:lnTo>
                      <a:pt x="1041099" y="0"/>
                    </a:lnTo>
                    <a:lnTo>
                      <a:pt x="1177853" y="152561"/>
                    </a:lnTo>
                    <a:lnTo>
                      <a:pt x="1101572" y="152561"/>
                    </a:lnTo>
                    <a:close/>
                    <a:moveTo>
                      <a:pt x="827484" y="0"/>
                    </a:moveTo>
                    <a:lnTo>
                      <a:pt x="903765" y="0"/>
                    </a:lnTo>
                    <a:lnTo>
                      <a:pt x="1040664" y="152561"/>
                    </a:lnTo>
                    <a:lnTo>
                      <a:pt x="964383" y="152561"/>
                    </a:lnTo>
                    <a:close/>
                    <a:moveTo>
                      <a:pt x="690295" y="0"/>
                    </a:moveTo>
                    <a:lnTo>
                      <a:pt x="766576" y="0"/>
                    </a:lnTo>
                    <a:lnTo>
                      <a:pt x="903475" y="152561"/>
                    </a:lnTo>
                    <a:lnTo>
                      <a:pt x="827049" y="152561"/>
                    </a:lnTo>
                    <a:close/>
                    <a:moveTo>
                      <a:pt x="553106" y="0"/>
                    </a:moveTo>
                    <a:lnTo>
                      <a:pt x="629387" y="0"/>
                    </a:lnTo>
                    <a:lnTo>
                      <a:pt x="766141" y="152561"/>
                    </a:lnTo>
                    <a:lnTo>
                      <a:pt x="689860" y="152561"/>
                    </a:lnTo>
                    <a:close/>
                    <a:moveTo>
                      <a:pt x="415917" y="0"/>
                    </a:moveTo>
                    <a:lnTo>
                      <a:pt x="492198" y="0"/>
                    </a:lnTo>
                    <a:lnTo>
                      <a:pt x="628951" y="152561"/>
                    </a:lnTo>
                    <a:lnTo>
                      <a:pt x="552671" y="152561"/>
                    </a:lnTo>
                    <a:close/>
                    <a:moveTo>
                      <a:pt x="0" y="0"/>
                    </a:moveTo>
                    <a:lnTo>
                      <a:pt x="352544" y="0"/>
                    </a:lnTo>
                    <a:lnTo>
                      <a:pt x="489298" y="152561"/>
                    </a:lnTo>
                    <a:lnTo>
                      <a:pt x="136754" y="152561"/>
                    </a:lnTo>
                    <a:close/>
                  </a:path>
                </a:pathLst>
              </a:custGeom>
              <a:gradFill>
                <a:gsLst>
                  <a:gs pos="0">
                    <a:srgbClr val="EBBA6F">
                      <a:alpha val="100000"/>
                    </a:srgbClr>
                  </a:gs>
                  <a:gs pos="100000">
                    <a:srgbClr val="33CCFF">
                      <a:alpha val="100000"/>
                    </a:srgbClr>
                  </a:gs>
                </a:gsLst>
                <a:lin ang="0"/>
              </a:gradFill>
              <a:ln>
                <a:prstDash val="solid"/>
                <a:headEnd type="none"/>
                <a:tailEnd type="none"/>
              </a:ln>
            </p:spPr>
          </p:sp>
          <p:sp>
            <p:nvSpPr>
              <p:cNvPr id="43" name="AutoShape 43"/>
              <p:cNvSpPr/>
              <p:nvPr>
                <p:custDataLst>
                  <p:tags r:id="rId32"/>
                </p:custDataLst>
              </p:nvPr>
            </p:nvSpPr>
            <p:spPr>
              <a:xfrm flipH="1">
                <a:off x="10929225" y="2126893"/>
                <a:ext cx="619760" cy="242793"/>
              </a:xfrm>
              <a:custGeom>
                <a:avLst/>
                <a:gdLst/>
                <a:ahLst/>
                <a:cxnLst/>
                <a:rect l="l" t="t" r="r" b="b"/>
                <a:pathLst>
                  <a:path w="973084" h="485092">
                    <a:moveTo>
                      <a:pt x="973085" y="56848"/>
                    </a:moveTo>
                    <a:lnTo>
                      <a:pt x="973085" y="0"/>
                    </a:lnTo>
                    <a:lnTo>
                      <a:pt x="181420" y="0"/>
                    </a:lnTo>
                    <a:lnTo>
                      <a:pt x="0" y="175184"/>
                    </a:lnTo>
                    <a:lnTo>
                      <a:pt x="0" y="187656"/>
                    </a:lnTo>
                    <a:lnTo>
                      <a:pt x="0" y="212744"/>
                    </a:lnTo>
                    <a:lnTo>
                      <a:pt x="0" y="485092"/>
                    </a:lnTo>
                    <a:lnTo>
                      <a:pt x="56848" y="485092"/>
                    </a:lnTo>
                    <a:lnTo>
                      <a:pt x="56848" y="188671"/>
                    </a:lnTo>
                    <a:lnTo>
                      <a:pt x="193747" y="56848"/>
                    </a:lnTo>
                    <a:close/>
                  </a:path>
                </a:pathLst>
              </a:custGeom>
              <a:gradFill>
                <a:gsLst>
                  <a:gs pos="0">
                    <a:srgbClr val="EBBA6F">
                      <a:alpha val="100000"/>
                      <a:lumMod val="60000"/>
                      <a:lumOff val="40000"/>
                    </a:srgbClr>
                  </a:gs>
                  <a:gs pos="46999">
                    <a:srgbClr val="33CCFF">
                      <a:alpha val="100000"/>
                    </a:srgbClr>
                  </a:gs>
                  <a:gs pos="100000">
                    <a:srgbClr val="33CCFF">
                      <a:alpha val="100000"/>
                    </a:srgbClr>
                  </a:gs>
                </a:gsLst>
                <a:lin ang="5400000"/>
              </a:gradFill>
              <a:ln>
                <a:prstDash val="solid"/>
                <a:headEnd type="none"/>
                <a:tailEnd type="none"/>
              </a:ln>
            </p:spPr>
          </p:sp>
          <p:sp>
            <p:nvSpPr>
              <p:cNvPr id="44" name="AutoShape 44"/>
              <p:cNvSpPr/>
              <p:nvPr>
                <p:custDataLst>
                  <p:tags r:id="rId33"/>
                </p:custDataLst>
              </p:nvPr>
            </p:nvSpPr>
            <p:spPr>
              <a:xfrm flipH="1">
                <a:off x="8939064" y="2270971"/>
                <a:ext cx="253631" cy="147127"/>
              </a:xfrm>
              <a:custGeom>
                <a:avLst/>
                <a:gdLst/>
                <a:ahLst/>
                <a:cxnLst/>
                <a:rect l="l" t="t" r="r" b="b"/>
                <a:pathLst>
                  <a:path w="398225" h="293955">
                    <a:moveTo>
                      <a:pt x="0" y="56848"/>
                    </a:moveTo>
                    <a:lnTo>
                      <a:pt x="0" y="0"/>
                    </a:lnTo>
                    <a:lnTo>
                      <a:pt x="216805" y="0"/>
                    </a:lnTo>
                    <a:lnTo>
                      <a:pt x="398225" y="175184"/>
                    </a:lnTo>
                    <a:lnTo>
                      <a:pt x="398225" y="187656"/>
                    </a:lnTo>
                    <a:lnTo>
                      <a:pt x="398225" y="212599"/>
                    </a:lnTo>
                    <a:lnTo>
                      <a:pt x="398225" y="293956"/>
                    </a:lnTo>
                    <a:lnTo>
                      <a:pt x="341377" y="293956"/>
                    </a:lnTo>
                    <a:lnTo>
                      <a:pt x="341377" y="188671"/>
                    </a:lnTo>
                    <a:lnTo>
                      <a:pt x="204478" y="56848"/>
                    </a:lnTo>
                    <a:close/>
                  </a:path>
                </a:pathLst>
              </a:custGeom>
              <a:gradFill>
                <a:gsLst>
                  <a:gs pos="0">
                    <a:srgbClr val="33CCFF">
                      <a:alpha val="100000"/>
                      <a:lumMod val="60000"/>
                      <a:lumOff val="40000"/>
                    </a:srgbClr>
                  </a:gs>
                  <a:gs pos="44999">
                    <a:srgbClr val="33CCFF">
                      <a:alpha val="100000"/>
                    </a:srgbClr>
                  </a:gs>
                  <a:gs pos="100000">
                    <a:srgbClr val="EBBA6F">
                      <a:alpha val="100000"/>
                    </a:srgbClr>
                  </a:gs>
                </a:gsLst>
                <a:lin ang="5400000"/>
              </a:gradFill>
              <a:ln>
                <a:prstDash val="solid"/>
                <a:headEnd type="none"/>
                <a:tailEnd type="none"/>
              </a:ln>
            </p:spPr>
          </p:sp>
          <p:grpSp>
            <p:nvGrpSpPr>
              <p:cNvPr id="45" name="Group 45"/>
              <p:cNvGrpSpPr/>
              <p:nvPr/>
            </p:nvGrpSpPr>
            <p:grpSpPr>
              <a:xfrm rot="0">
                <a:off x="8952826" y="2137635"/>
                <a:ext cx="2583875" cy="3417431"/>
                <a:chOff x="8952826" y="2137635"/>
                <a:chExt cx="2583875" cy="3417431"/>
              </a:xfrm>
            </p:grpSpPr>
            <p:sp>
              <p:nvSpPr>
                <p:cNvPr id="46" name="AutoShape 46"/>
                <p:cNvSpPr/>
                <p:nvPr>
                  <p:custDataLst>
                    <p:tags r:id="rId34"/>
                  </p:custDataLst>
                </p:nvPr>
              </p:nvSpPr>
              <p:spPr>
                <a:xfrm flipH="1">
                  <a:off x="8952826" y="2137635"/>
                  <a:ext cx="2583875" cy="3284095"/>
                </a:xfrm>
                <a:custGeom>
                  <a:avLst/>
                  <a:gdLst/>
                  <a:ahLst/>
                  <a:cxnLst/>
                  <a:rect l="l" t="t" r="r" b="b"/>
                  <a:pathLst>
                    <a:path w="2653684" h="3372822">
                      <a:moveTo>
                        <a:pt x="113736" y="0"/>
                      </a:moveTo>
                      <a:lnTo>
                        <a:pt x="1415393" y="0"/>
                      </a:lnTo>
                      <a:lnTo>
                        <a:pt x="1585950" y="153935"/>
                      </a:lnTo>
                      <a:lnTo>
                        <a:pt x="2540044" y="153935"/>
                      </a:lnTo>
                      <a:lnTo>
                        <a:pt x="2653684" y="233400"/>
                      </a:lnTo>
                      <a:lnTo>
                        <a:pt x="2653684" y="1207219"/>
                      </a:lnTo>
                      <a:lnTo>
                        <a:pt x="2653684" y="2319538"/>
                      </a:lnTo>
                      <a:lnTo>
                        <a:pt x="2653684" y="3293357"/>
                      </a:lnTo>
                      <a:lnTo>
                        <a:pt x="2552659" y="3372822"/>
                      </a:lnTo>
                      <a:lnTo>
                        <a:pt x="107381" y="3372822"/>
                      </a:lnTo>
                      <a:lnTo>
                        <a:pt x="0" y="3288362"/>
                      </a:lnTo>
                      <a:lnTo>
                        <a:pt x="0" y="2314543"/>
                      </a:lnTo>
                      <a:lnTo>
                        <a:pt x="0" y="1053284"/>
                      </a:lnTo>
                      <a:lnTo>
                        <a:pt x="0" y="79465"/>
                      </a:lnTo>
                      <a:close/>
                    </a:path>
                  </a:pathLst>
                </a:custGeom>
                <a:gradFill>
                  <a:gsLst>
                    <a:gs pos="0">
                      <a:srgbClr val="EBBA6F">
                        <a:alpha val="30196"/>
                      </a:srgbClr>
                    </a:gs>
                    <a:gs pos="87999">
                      <a:srgbClr val="EBBA6F">
                        <a:alpha val="0"/>
                      </a:srgbClr>
                    </a:gs>
                  </a:gsLst>
                  <a:lin ang="5400000"/>
                </a:gradFill>
                <a:ln>
                  <a:prstDash val="solid"/>
                  <a:headEnd type="none"/>
                  <a:tailEnd type="none"/>
                </a:ln>
              </p:spPr>
            </p:sp>
            <p:sp>
              <p:nvSpPr>
                <p:cNvPr id="47" name="TextBox 47"/>
                <p:cNvSpPr txBox="1"/>
                <p:nvPr>
                  <p:custDataLst>
                    <p:tags r:id="rId35"/>
                  </p:custDataLst>
                </p:nvPr>
              </p:nvSpPr>
              <p:spPr>
                <a:xfrm flipH="1">
                  <a:off x="9020252" y="3385725"/>
                  <a:ext cx="2449860" cy="778646"/>
                </a:xfrm>
                <a:prstGeom prst="rect">
                  <a:avLst/>
                </a:prstGeom>
                <a:ln>
                  <a:headEnd type="none"/>
                  <a:tailEnd type="none"/>
                </a:ln>
              </p:spPr>
              <p:txBody>
                <a:bodyPr vert="horz" wrap="square" lIns="91440" tIns="45720" rIns="91440" bIns="45720" rtlCol="0" anchor="b" anchorCtr="0"/>
                <a:lstStyle/>
                <a:p>
                  <a:pPr algn="l">
                    <a:spcBef>
                      <a:spcPts val="0"/>
                    </a:spcBef>
                    <a:spcAft>
                      <a:spcPts val="0"/>
                    </a:spcAft>
                    <a:buClrTx/>
                    <a:buSzTx/>
                    <a:buFontTx/>
                    <a:defRPr/>
                  </a:pPr>
                  <a:r>
                    <a:rPr lang="en-US" sz="2000" b="1" i="0" strike="noStrike">
                      <a:solidFill>
                        <a:srgbClr val="FFFFFF">
                          <a:alpha val="100000"/>
                        </a:srgbClr>
                      </a:solidFill>
                      <a:latin typeface="汉仪行楷简"/>
                      <a:ea typeface="汉仪行楷简"/>
                      <a:cs typeface="汉仪行楷简"/>
                    </a:rPr>
                    <a:t>公众连接器</a:t>
                  </a:r>
                  <a:endParaRPr lang="en-US" sz="2000" b="1">
                    <a:solidFill>
                      <a:srgbClr val="FFFFFF">
                        <a:alpha val="100000"/>
                      </a:srgbClr>
                    </a:solidFill>
                    <a:latin typeface="汉仪行楷简"/>
                    <a:ea typeface="汉仪行楷简"/>
                    <a:cs typeface="汉仪行楷简"/>
                  </a:endParaRPr>
                </a:p>
              </p:txBody>
            </p:sp>
            <p:sp>
              <p:nvSpPr>
                <p:cNvPr id="48" name="TextBox 48"/>
                <p:cNvSpPr txBox="1"/>
                <p:nvPr>
                  <p:custDataLst>
                    <p:tags r:id="rId36"/>
                  </p:custDataLst>
                </p:nvPr>
              </p:nvSpPr>
              <p:spPr>
                <a:xfrm flipH="1">
                  <a:off x="9020250" y="4278772"/>
                  <a:ext cx="2449860" cy="1276294"/>
                </a:xfrm>
                <a:prstGeom prst="rect">
                  <a:avLst/>
                </a:prstGeom>
                <a:ln>
                  <a:headEnd type="none"/>
                  <a:tailEnd type="none"/>
                </a:ln>
              </p:spPr>
              <p:txBody>
                <a:bodyPr vert="horz" wrap="square" lIns="91440" tIns="45720" rIns="91440" bIns="45720" rtlCol="0" anchor="t" anchorCtr="0"/>
                <a:lstStyle/>
                <a:p>
                  <a:pPr algn="l">
                    <a:lnSpc>
                      <a:spcPct val="120000"/>
                    </a:lnSpc>
                    <a:spcBef>
                      <a:spcPts val="0"/>
                    </a:spcBef>
                    <a:spcAft>
                      <a:spcPts val="0"/>
                    </a:spcAft>
                    <a:buClrTx/>
                    <a:buSzTx/>
                    <a:buFontTx/>
                    <a:defRPr/>
                  </a:pPr>
                  <a:r>
                    <a:rPr lang="en-US" sz="1600" b="0" i="0" strike="noStrike">
                      <a:solidFill>
                        <a:srgbClr val="FFFFFF">
                          <a:alpha val="100000"/>
                        </a:srgbClr>
                      </a:solidFill>
                      <a:latin typeface="思源黑体 CN Regular"/>
                      <a:ea typeface="思源黑体 CN Regular"/>
                      <a:cs typeface="思源黑体 CN Regular"/>
                    </a:rPr>
                    <a:t>搭建政府、企业与公众之间的信息桥梁，促进环境信息公开透明，推动社会共治。</a:t>
                  </a:r>
                  <a:endParaRPr lang="en-US" sz="1600">
                    <a:solidFill>
                      <a:srgbClr val="FFFFFF">
                        <a:alpha val="100000"/>
                      </a:srgbClr>
                    </a:solidFill>
                    <a:latin typeface="思源黑体 CN Regular"/>
                    <a:ea typeface="思源黑体 CN Regular"/>
                    <a:cs typeface="思源黑体 CN Regular"/>
                  </a:endParaRPr>
                </a:p>
              </p:txBody>
            </p:sp>
            <p:sp>
              <p:nvSpPr>
                <p:cNvPr id="49" name="TextBox 49"/>
                <p:cNvSpPr txBox="1"/>
                <p:nvPr>
                  <p:custDataLst>
                    <p:tags r:id="rId37"/>
                  </p:custDataLst>
                </p:nvPr>
              </p:nvSpPr>
              <p:spPr>
                <a:xfrm flipH="1">
                  <a:off x="9756398" y="2439028"/>
                  <a:ext cx="975251" cy="823705"/>
                </a:xfrm>
                <a:prstGeom prst="rect">
                  <a:avLst/>
                </a:prstGeom>
                <a:ln>
                  <a:headEnd type="none"/>
                  <a:tailEnd type="none"/>
                </a:ln>
              </p:spPr>
              <p:txBody>
                <a:bodyPr vert="horz" wrap="none" lIns="91440" tIns="45720" rIns="91440" bIns="45720" rtlCol="0" anchor="b" anchorCtr="0"/>
                <a:lstStyle/>
                <a:p>
                  <a:pPr algn="ctr">
                    <a:lnSpc>
                      <a:spcPct val="108000"/>
                    </a:lnSpc>
                    <a:defRPr/>
                  </a:pPr>
                  <a:r>
                    <a:rPr lang="en-US" sz="4600" b="1" i="1">
                      <a:solidFill>
                        <a:srgbClr val="FFFFFF">
                          <a:alpha val="100000"/>
                        </a:srgbClr>
                      </a:solidFill>
                      <a:latin typeface="Arial" panose="020B0604020202020204"/>
                      <a:ea typeface="Arial" panose="020B0604020202020204"/>
                      <a:cs typeface="Arial" panose="020B0604020202020204"/>
                    </a:rPr>
                    <a:t>4</a:t>
                  </a:r>
                  <a:endParaRPr lang="en-US" sz="1100"/>
                </a:p>
              </p:txBody>
            </p:sp>
          </p:grpSp>
        </p:grpSp>
      </p:grpSp>
      <p:sp>
        <p:nvSpPr>
          <p:cNvPr id="50" name="TextBox 50"/>
          <p:cNvSpPr txBox="1"/>
          <p:nvPr/>
        </p:nvSpPr>
        <p:spPr>
          <a:xfrm>
            <a:off x="1465006" y="304799"/>
            <a:ext cx="9760043" cy="723901"/>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3000" b="0" i="0">
                <a:solidFill>
                  <a:srgbClr val="FFFFFF">
                    <a:alpha val="100000"/>
                  </a:srgbClr>
                </a:solidFill>
                <a:latin typeface="汉仪行楷简"/>
                <a:ea typeface="汉仪行楷简"/>
                <a:cs typeface="汉仪行楷简"/>
              </a:rPr>
              <a:t>平台价值定位</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1" y="761816"/>
            <a:ext cx="4894826" cy="1744546"/>
          </a:xfrm>
          <a:prstGeom prst="rect">
            <a:avLst/>
          </a:prstGeom>
          <a:ln>
            <a:headEnd type="none"/>
            <a:tailEnd type="none"/>
          </a:ln>
        </p:spPr>
        <p:txBody>
          <a:bodyPr vert="horz" wrap="square" lIns="91440" tIns="45720" rIns="91440" bIns="45720" rtlCol="0" anchor="ctr" anchorCtr="0"/>
          <a:lstStyle/>
          <a:p>
            <a:pPr algn="l">
              <a:lnSpc>
                <a:spcPct val="100000"/>
              </a:lnSpc>
              <a:spcBef>
                <a:spcPts val="0"/>
              </a:spcBef>
              <a:defRPr/>
            </a:pPr>
            <a:r>
              <a:rPr lang="en-US" sz="4800" b="0" i="0">
                <a:solidFill>
                  <a:srgbClr val="FFFFFF">
                    <a:alpha val="100000"/>
                  </a:srgbClr>
                </a:solidFill>
                <a:latin typeface="汉仪行楷简"/>
                <a:ea typeface="汉仪行楷简"/>
                <a:cs typeface="汉仪行楷简"/>
              </a:rPr>
              <a:t>应用价值</a:t>
            </a:r>
            <a:endParaRPr lang="en-US" sz="1100"/>
          </a:p>
        </p:txBody>
      </p:sp>
      <p:sp>
        <p:nvSpPr>
          <p:cNvPr id="3" name="TextBox 3"/>
          <p:cNvSpPr txBox="1"/>
          <p:nvPr/>
        </p:nvSpPr>
        <p:spPr>
          <a:xfrm>
            <a:off x="762000" y="2133746"/>
            <a:ext cx="6802999" cy="589256"/>
          </a:xfrm>
          <a:prstGeom prst="rect">
            <a:avLst/>
          </a:prstGeom>
          <a:ln>
            <a:headEnd type="none"/>
            <a:tailEnd type="none"/>
          </a:ln>
        </p:spPr>
        <p:txBody>
          <a:bodyPr vert="horz" wrap="square" lIns="91440" tIns="45720" rIns="91440" bIns="45720" rtlCol="0" anchor="t" anchorCtr="0"/>
          <a:lstStyle/>
          <a:p>
            <a:pPr algn="l">
              <a:lnSpc>
                <a:spcPct val="120000"/>
              </a:lnSpc>
              <a:spcBef>
                <a:spcPts val="1000"/>
              </a:spcBef>
              <a:defRPr/>
            </a:pPr>
            <a:r>
              <a:rPr lang="en-US" sz="3200" b="0" i="0">
                <a:solidFill>
                  <a:srgbClr val="EBBA6F">
                    <a:alpha val="100000"/>
                  </a:srgbClr>
                </a:solidFill>
                <a:latin typeface="华文新魏" panose="02010800040101010101" charset="-122"/>
                <a:ea typeface="华文新魏" panose="02010800040101010101" charset="-122"/>
                <a:cs typeface="思源黑体 CN Regular"/>
              </a:rPr>
              <a:t>本章节将从政府、科研、企业和公众四个维度，深入阐述本平台在提升环境治理效能、推动科学研究、赋能企业发展及促进社会共治方面的核心应用价值。</a:t>
            </a:r>
            <a:endParaRPr lang="en-US" sz="1100">
              <a:latin typeface="华文新魏" panose="02010800040101010101" charset="-122"/>
              <a:ea typeface="华文新魏" panose="02010800040101010101" charset="-122"/>
            </a:endParaRPr>
          </a:p>
        </p:txBody>
      </p:sp>
      <p:sp>
        <p:nvSpPr>
          <p:cNvPr id="4" name="TextBox 4"/>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solidFill>
                  <a:srgbClr val="FFFFFF">
                    <a:alpha val="100000"/>
                    <a:tint val="75000"/>
                  </a:srgbClr>
                </a:solidFill>
                <a:latin typeface="Average"/>
                <a:ea typeface="Average"/>
                <a:cs typeface="Average"/>
              </a:rPr>
              <a:t>3</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c14d3db-efb9-4c14-9065-23c95d6e6904"/>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solidFill>
                  <a:srgbClr val="FFFFFF">
                    <a:alpha val="100000"/>
                    <a:tint val="75000"/>
                  </a:srgbClr>
                </a:solidFill>
                <a:latin typeface="Average"/>
                <a:ea typeface="Average"/>
                <a:cs typeface="Average"/>
              </a:rPr>
              <a:t>4</a:t>
            </a:r>
            <a:endParaRPr lang="en-US" sz="1100"/>
          </a:p>
        </p:txBody>
      </p:sp>
      <p:grpSp>
        <p:nvGrpSpPr>
          <p:cNvPr id="3" name="Group 3"/>
          <p:cNvGrpSpPr/>
          <p:nvPr>
            <p:custDataLst>
              <p:tags r:id="rId1"/>
            </p:custDataLst>
          </p:nvPr>
        </p:nvGrpSpPr>
        <p:grpSpPr>
          <a:xfrm rot="0">
            <a:off x="660399" y="1130300"/>
            <a:ext cx="10858501" cy="5003800"/>
            <a:chOff x="660399" y="1130300"/>
            <a:chExt cx="10858501" cy="5003800"/>
          </a:xfrm>
        </p:grpSpPr>
        <p:sp>
          <p:nvSpPr>
            <p:cNvPr id="4" name="TextBox 4"/>
            <p:cNvSpPr txBox="1"/>
            <p:nvPr/>
          </p:nvSpPr>
          <p:spPr>
            <a:xfrm>
              <a:off x="660399" y="1905000"/>
              <a:ext cx="3581401" cy="3454400"/>
            </a:xfrm>
            <a:prstGeom prst="rect">
              <a:avLst/>
            </a:prstGeom>
            <a:ln>
              <a:headEnd type="none"/>
              <a:tailEnd type="none"/>
            </a:ln>
          </p:spPr>
          <p:txBody>
            <a:bodyPr vert="horz" wrap="square" lIns="91440" tIns="45720" rIns="91440" bIns="45720" rtlCol="0" anchor="ctr" anchorCtr="0"/>
            <a:lstStyle/>
            <a:p>
              <a:pPr algn="l">
                <a:spcBef>
                  <a:spcPts val="0"/>
                </a:spcBef>
                <a:spcAft>
                  <a:spcPts val="0"/>
                </a:spcAft>
                <a:defRPr/>
              </a:pPr>
              <a:r>
                <a:rPr lang="en-US" sz="3200" b="1" i="0" strike="noStrike">
                  <a:solidFill>
                    <a:srgbClr val="FFFFFF">
                      <a:alpha val="100000"/>
                    </a:srgbClr>
                  </a:solidFill>
                  <a:latin typeface="汉仪行楷简"/>
                  <a:ea typeface="汉仪行楷简"/>
                  <a:cs typeface="汉仪行楷简"/>
                </a:rPr>
                <a:t>提升环境治理的科学化与精细化水平</a:t>
              </a:r>
              <a:endParaRPr lang="en-US" sz="3200" b="1" i="0" strike="noStrike">
                <a:solidFill>
                  <a:srgbClr val="FFFFFF">
                    <a:alpha val="100000"/>
                  </a:srgbClr>
                </a:solidFill>
                <a:latin typeface="汉仪行楷简"/>
                <a:ea typeface="汉仪行楷简"/>
                <a:cs typeface="汉仪行楷简"/>
              </a:endParaRPr>
            </a:p>
          </p:txBody>
        </p:sp>
        <p:grpSp>
          <p:nvGrpSpPr>
            <p:cNvPr id="5" name="Group 5"/>
            <p:cNvGrpSpPr/>
            <p:nvPr/>
          </p:nvGrpSpPr>
          <p:grpSpPr>
            <a:xfrm rot="0">
              <a:off x="730674" y="5577840"/>
              <a:ext cx="556260" cy="556260"/>
              <a:chOff x="730674" y="5577840"/>
              <a:chExt cx="556260" cy="556260"/>
            </a:xfrm>
          </p:grpSpPr>
          <p:sp>
            <p:nvSpPr>
              <p:cNvPr id="6" name="AutoShape 6"/>
              <p:cNvSpPr/>
              <p:nvPr/>
            </p:nvSpPr>
            <p:spPr>
              <a:xfrm>
                <a:off x="730674" y="5577840"/>
                <a:ext cx="556260" cy="556260"/>
              </a:xfrm>
              <a:prstGeom prst="ellipse">
                <a:avLst/>
              </a:prstGeom>
              <a:solidFill>
                <a:srgbClr val="33CCFF">
                  <a:alpha val="100000"/>
                </a:srgbClr>
              </a:solidFill>
              <a:ln>
                <a:prstDash val="solid"/>
                <a:headEnd type="none"/>
                <a:tailEnd type="none"/>
              </a:ln>
            </p:spPr>
          </p:sp>
          <p:sp>
            <p:nvSpPr>
              <p:cNvPr id="7" name="AutoShape 7"/>
              <p:cNvSpPr/>
              <p:nvPr/>
            </p:nvSpPr>
            <p:spPr>
              <a:xfrm flipH="1">
                <a:off x="852801" y="5708585"/>
                <a:ext cx="312006" cy="266244"/>
              </a:xfrm>
              <a:custGeom>
                <a:avLst/>
                <a:gdLst/>
                <a:ahLst/>
                <a:cxnLst/>
                <a:rect l="l" t="t" r="r" b="b"/>
                <a:pathLst>
                  <a:path w="3509" h="2999">
                    <a:moveTo>
                      <a:pt x="1621" y="2999"/>
                    </a:moveTo>
                    <a:cubicBezTo>
                      <a:pt x="1601" y="2999"/>
                      <a:pt x="1582" y="2992"/>
                      <a:pt x="1567" y="2978"/>
                    </a:cubicBezTo>
                    <a:lnTo>
                      <a:pt x="26" y="1561"/>
                    </a:lnTo>
                    <a:cubicBezTo>
                      <a:pt x="9" y="1546"/>
                      <a:pt x="0" y="1525"/>
                      <a:pt x="0" y="1503"/>
                    </a:cubicBezTo>
                    <a:cubicBezTo>
                      <a:pt x="0" y="1480"/>
                      <a:pt x="9" y="1459"/>
                      <a:pt x="26" y="1444"/>
                    </a:cubicBezTo>
                    <a:lnTo>
                      <a:pt x="1567" y="27"/>
                    </a:lnTo>
                    <a:cubicBezTo>
                      <a:pt x="1590" y="5"/>
                      <a:pt x="1624" y="0"/>
                      <a:pt x="1653" y="13"/>
                    </a:cubicBezTo>
                    <a:cubicBezTo>
                      <a:pt x="1682" y="25"/>
                      <a:pt x="1701" y="54"/>
                      <a:pt x="1701" y="86"/>
                    </a:cubicBezTo>
                    <a:lnTo>
                      <a:pt x="1701" y="856"/>
                    </a:lnTo>
                    <a:cubicBezTo>
                      <a:pt x="2753" y="1058"/>
                      <a:pt x="3509" y="1829"/>
                      <a:pt x="3509" y="2710"/>
                    </a:cubicBezTo>
                    <a:cubicBezTo>
                      <a:pt x="3509" y="2753"/>
                      <a:pt x="3507" y="2797"/>
                      <a:pt x="3502" y="2849"/>
                    </a:cubicBezTo>
                    <a:cubicBezTo>
                      <a:pt x="3499" y="2890"/>
                      <a:pt x="3465" y="2921"/>
                      <a:pt x="3424" y="2922"/>
                    </a:cubicBezTo>
                    <a:cubicBezTo>
                      <a:pt x="3384" y="2923"/>
                      <a:pt x="3349" y="2892"/>
                      <a:pt x="3344" y="2852"/>
                    </a:cubicBezTo>
                    <a:cubicBezTo>
                      <a:pt x="3285" y="2372"/>
                      <a:pt x="2630" y="2093"/>
                      <a:pt x="2061" y="2114"/>
                    </a:cubicBezTo>
                    <a:cubicBezTo>
                      <a:pt x="1934" y="2119"/>
                      <a:pt x="1813" y="2133"/>
                      <a:pt x="1701" y="2156"/>
                    </a:cubicBezTo>
                    <a:lnTo>
                      <a:pt x="1701" y="2920"/>
                    </a:lnTo>
                    <a:cubicBezTo>
                      <a:pt x="1701" y="2951"/>
                      <a:pt x="1682" y="2980"/>
                      <a:pt x="1653" y="2993"/>
                    </a:cubicBezTo>
                    <a:cubicBezTo>
                      <a:pt x="1643" y="2997"/>
                      <a:pt x="1632" y="2999"/>
                      <a:pt x="1621" y="2999"/>
                    </a:cubicBezTo>
                    <a:close/>
                  </a:path>
                </a:pathLst>
              </a:custGeom>
              <a:solidFill>
                <a:srgbClr val="000000">
                  <a:alpha val="100000"/>
                </a:srgbClr>
              </a:solidFill>
              <a:ln>
                <a:prstDash val="solid"/>
                <a:headEnd type="none"/>
                <a:tailEnd type="none"/>
              </a:ln>
            </p:spPr>
          </p:sp>
        </p:grpSp>
        <p:grpSp>
          <p:nvGrpSpPr>
            <p:cNvPr id="8" name="Group 8"/>
            <p:cNvGrpSpPr/>
            <p:nvPr/>
          </p:nvGrpSpPr>
          <p:grpSpPr>
            <a:xfrm rot="0">
              <a:off x="4762499" y="1130300"/>
              <a:ext cx="6756401" cy="1123432"/>
              <a:chOff x="4762499" y="1917698"/>
              <a:chExt cx="6756401" cy="1123432"/>
            </a:xfrm>
          </p:grpSpPr>
          <p:sp>
            <p:nvSpPr>
              <p:cNvPr id="9" name="AutoShape 9"/>
              <p:cNvSpPr/>
              <p:nvPr>
                <p:custDataLst>
                  <p:tags r:id="rId2"/>
                </p:custDataLst>
              </p:nvPr>
            </p:nvSpPr>
            <p:spPr>
              <a:xfrm rot="5400000">
                <a:off x="4751661" y="2276684"/>
                <a:ext cx="157141" cy="135466"/>
              </a:xfrm>
              <a:prstGeom prst="triangle">
                <a:avLst/>
              </a:prstGeom>
              <a:solidFill>
                <a:srgbClr val="EBBA6F">
                  <a:alpha val="100000"/>
                </a:srgbClr>
              </a:solidFill>
              <a:ln>
                <a:prstDash val="solid"/>
                <a:headEnd type="none"/>
                <a:tailEnd type="none"/>
              </a:ln>
            </p:spPr>
          </p:sp>
          <p:grpSp>
            <p:nvGrpSpPr>
              <p:cNvPr id="10" name="Group 10"/>
              <p:cNvGrpSpPr/>
              <p:nvPr/>
            </p:nvGrpSpPr>
            <p:grpSpPr>
              <a:xfrm rot="0">
                <a:off x="5028599" y="1917698"/>
                <a:ext cx="6490301" cy="1123432"/>
                <a:chOff x="5028599" y="1917698"/>
                <a:chExt cx="6490301" cy="1123432"/>
              </a:xfrm>
            </p:grpSpPr>
            <p:sp>
              <p:nvSpPr>
                <p:cNvPr id="11" name="TextBox 11"/>
                <p:cNvSpPr txBox="1"/>
                <p:nvPr>
                  <p:custDataLst>
                    <p:tags r:id="rId3"/>
                  </p:custDataLst>
                </p:nvPr>
              </p:nvSpPr>
              <p:spPr>
                <a:xfrm>
                  <a:off x="5791200" y="1960034"/>
                  <a:ext cx="5727700" cy="386926"/>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solidFill>
                        <a:srgbClr val="FFFFFF">
                          <a:alpha val="100000"/>
                        </a:srgbClr>
                      </a:solidFill>
                      <a:latin typeface="汉仪行楷简"/>
                      <a:ea typeface="汉仪行楷简"/>
                      <a:cs typeface="汉仪行楷简"/>
                    </a:rPr>
                    <a:t>辅助污染预警</a:t>
                  </a:r>
                  <a:endParaRPr lang="en-US" sz="1100"/>
                </a:p>
              </p:txBody>
            </p:sp>
            <p:sp>
              <p:nvSpPr>
                <p:cNvPr id="12" name="TextBox 12"/>
                <p:cNvSpPr txBox="1"/>
                <p:nvPr>
                  <p:custDataLst>
                    <p:tags r:id="rId4"/>
                  </p:custDataLst>
                </p:nvPr>
              </p:nvSpPr>
              <p:spPr>
                <a:xfrm>
                  <a:off x="5791200" y="2346962"/>
                  <a:ext cx="5727700" cy="694168"/>
                </a:xfrm>
                <a:prstGeom prst="rect">
                  <a:avLst/>
                </a:prstGeom>
                <a:ln>
                  <a:prstDash val="solid"/>
                  <a:headEnd type="none"/>
                  <a:tailEnd type="none"/>
                </a:ln>
              </p:spPr>
              <p:txBody>
                <a:bodyPr vert="horz" wrap="square" lIns="91440" tIns="45720" rIns="91440" bIns="45720" rtlCol="0" anchor="t" anchorCtr="0"/>
                <a:lstStyle/>
                <a:p>
                  <a:pPr algn="l">
                    <a:lnSpc>
                      <a:spcPct val="120000"/>
                    </a:lnSpc>
                    <a:buClrTx/>
                    <a:buSzTx/>
                    <a:buFontTx/>
                    <a:defRPr/>
                  </a:pPr>
                  <a:r>
                    <a:rPr lang="en-US" sz="1600" b="0" i="0">
                      <a:solidFill>
                        <a:srgbClr val="FFFFFF">
                          <a:alpha val="100000"/>
                        </a:srgbClr>
                      </a:solidFill>
                      <a:latin typeface="思源黑体 CN Regular"/>
                      <a:ea typeface="思源黑体 CN Regular"/>
                      <a:cs typeface="思源黑体 CN Regular"/>
                    </a:rPr>
                    <a:t>结合实时数据与动态图表，快速识别污染高值区，为发布预警、启动应急响应提供直观依据。</a:t>
                  </a:r>
                  <a:endParaRPr lang="en-US" sz="1600">
                    <a:solidFill>
                      <a:srgbClr val="FFFFFF">
                        <a:alpha val="100000"/>
                      </a:srgbClr>
                    </a:solidFill>
                    <a:latin typeface="思源黑体 CN Regular"/>
                    <a:ea typeface="思源黑体 CN Regular"/>
                    <a:cs typeface="思源黑体 CN Regular"/>
                  </a:endParaRPr>
                </a:p>
              </p:txBody>
            </p:sp>
            <p:sp>
              <p:nvSpPr>
                <p:cNvPr id="13" name="TextBox 13"/>
                <p:cNvSpPr txBox="1"/>
                <p:nvPr>
                  <p:custDataLst>
                    <p:tags r:id="rId5"/>
                  </p:custDataLst>
                </p:nvPr>
              </p:nvSpPr>
              <p:spPr>
                <a:xfrm>
                  <a:off x="5028599" y="1917698"/>
                  <a:ext cx="762602" cy="853439"/>
                </a:xfrm>
                <a:prstGeom prst="rect">
                  <a:avLst/>
                </a:prstGeom>
                <a:ln>
                  <a:prstDash val="solid"/>
                  <a:headEnd type="none"/>
                  <a:tailEnd type="none"/>
                </a:ln>
              </p:spPr>
              <p:txBody>
                <a:bodyPr vert="horz" wrap="none" lIns="91440" tIns="45720" rIns="91440" bIns="45720" rtlCol="0" anchor="ctr" anchorCtr="0"/>
                <a:lstStyle/>
                <a:p>
                  <a:pPr algn="ctr">
                    <a:defRPr/>
                  </a:pPr>
                  <a:r>
                    <a:rPr lang="en-US" sz="3600" b="1" i="0">
                      <a:solidFill>
                        <a:srgbClr val="FFFFFF">
                          <a:alpha val="100000"/>
                        </a:srgbClr>
                      </a:solidFill>
                      <a:latin typeface="Arial" panose="020B0604020202020204"/>
                      <a:ea typeface="Arial" panose="020B0604020202020204"/>
                      <a:cs typeface="Arial" panose="020B0604020202020204"/>
                    </a:rPr>
                    <a:t>01</a:t>
                  </a:r>
                  <a:endParaRPr lang="en-US" sz="1100"/>
                </a:p>
              </p:txBody>
            </p:sp>
          </p:grpSp>
        </p:grpSp>
        <p:grpSp>
          <p:nvGrpSpPr>
            <p:cNvPr id="14" name="Group 14"/>
            <p:cNvGrpSpPr/>
            <p:nvPr/>
          </p:nvGrpSpPr>
          <p:grpSpPr>
            <a:xfrm rot="0">
              <a:off x="4762499" y="2423756"/>
              <a:ext cx="6756401" cy="1123432"/>
              <a:chOff x="4762499" y="1917698"/>
              <a:chExt cx="6756401" cy="1123432"/>
            </a:xfrm>
          </p:grpSpPr>
          <p:sp>
            <p:nvSpPr>
              <p:cNvPr id="15" name="AutoShape 15"/>
              <p:cNvSpPr/>
              <p:nvPr>
                <p:custDataLst>
                  <p:tags r:id="rId6"/>
                </p:custDataLst>
              </p:nvPr>
            </p:nvSpPr>
            <p:spPr>
              <a:xfrm rot="5400000">
                <a:off x="4751661" y="2276684"/>
                <a:ext cx="157141" cy="135466"/>
              </a:xfrm>
              <a:prstGeom prst="triangle">
                <a:avLst/>
              </a:prstGeom>
              <a:solidFill>
                <a:srgbClr val="EBBA6F">
                  <a:alpha val="100000"/>
                </a:srgbClr>
              </a:solidFill>
              <a:ln>
                <a:prstDash val="solid"/>
                <a:headEnd type="none"/>
                <a:tailEnd type="none"/>
              </a:ln>
            </p:spPr>
          </p:sp>
          <p:grpSp>
            <p:nvGrpSpPr>
              <p:cNvPr id="16" name="Group 16"/>
              <p:cNvGrpSpPr/>
              <p:nvPr/>
            </p:nvGrpSpPr>
            <p:grpSpPr>
              <a:xfrm rot="0">
                <a:off x="5028599" y="1917698"/>
                <a:ext cx="6490301" cy="1123432"/>
                <a:chOff x="5028599" y="1917698"/>
                <a:chExt cx="6490301" cy="1123432"/>
              </a:xfrm>
            </p:grpSpPr>
            <p:sp>
              <p:nvSpPr>
                <p:cNvPr id="17" name="TextBox 17"/>
                <p:cNvSpPr txBox="1"/>
                <p:nvPr>
                  <p:custDataLst>
                    <p:tags r:id="rId7"/>
                  </p:custDataLst>
                </p:nvPr>
              </p:nvSpPr>
              <p:spPr>
                <a:xfrm>
                  <a:off x="5791200" y="1960034"/>
                  <a:ext cx="5727700" cy="386926"/>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solidFill>
                        <a:srgbClr val="FFFFFF">
                          <a:alpha val="100000"/>
                        </a:srgbClr>
                      </a:solidFill>
                      <a:latin typeface="汉仪行楷简"/>
                      <a:ea typeface="汉仪行楷简"/>
                      <a:cs typeface="汉仪行楷简"/>
                    </a:rPr>
                    <a:t>支撑溯源追因</a:t>
                  </a:r>
                  <a:endParaRPr lang="en-US" sz="1100"/>
                </a:p>
              </p:txBody>
            </p:sp>
            <p:sp>
              <p:nvSpPr>
                <p:cNvPr id="18" name="TextBox 18"/>
                <p:cNvSpPr txBox="1"/>
                <p:nvPr>
                  <p:custDataLst>
                    <p:tags r:id="rId8"/>
                  </p:custDataLst>
                </p:nvPr>
              </p:nvSpPr>
              <p:spPr>
                <a:xfrm>
                  <a:off x="5791200" y="2346962"/>
                  <a:ext cx="5727700" cy="694168"/>
                </a:xfrm>
                <a:prstGeom prst="rect">
                  <a:avLst/>
                </a:prstGeom>
                <a:ln>
                  <a:prstDash val="solid"/>
                  <a:headEnd type="none"/>
                  <a:tailEnd type="none"/>
                </a:ln>
              </p:spPr>
              <p:txBody>
                <a:bodyPr vert="horz" wrap="square" lIns="91440" tIns="45720" rIns="91440" bIns="45720" rtlCol="0" anchor="t" anchorCtr="0"/>
                <a:lstStyle/>
                <a:p>
                  <a:pPr algn="l">
                    <a:lnSpc>
                      <a:spcPct val="120000"/>
                    </a:lnSpc>
                    <a:defRPr/>
                  </a:pPr>
                  <a:r>
                    <a:rPr lang="en-US" sz="1600" b="0" i="0">
                      <a:solidFill>
                        <a:srgbClr val="FFFFFF">
                          <a:alpha val="100000"/>
                        </a:srgbClr>
                      </a:solidFill>
                      <a:latin typeface="思源黑体 CN Regular"/>
                      <a:ea typeface="思源黑体 CN Regular"/>
                      <a:cs typeface="思源黑体 CN Regular"/>
                    </a:rPr>
                    <a:t>利用桑基图、关系图等，清晰展示污染物来源构成与跨区域传输路径，精准定位污染源头。</a:t>
                  </a:r>
                  <a:endParaRPr lang="en-US" sz="1600" b="0" i="0">
                    <a:solidFill>
                      <a:srgbClr val="FFFFFF">
                        <a:alpha val="100000"/>
                      </a:srgbClr>
                    </a:solidFill>
                    <a:latin typeface="思源黑体 CN Regular"/>
                    <a:ea typeface="思源黑体 CN Regular"/>
                    <a:cs typeface="思源黑体 CN Regular"/>
                  </a:endParaRPr>
                </a:p>
              </p:txBody>
            </p:sp>
            <p:sp>
              <p:nvSpPr>
                <p:cNvPr id="19" name="TextBox 19"/>
                <p:cNvSpPr txBox="1"/>
                <p:nvPr>
                  <p:custDataLst>
                    <p:tags r:id="rId9"/>
                  </p:custDataLst>
                </p:nvPr>
              </p:nvSpPr>
              <p:spPr>
                <a:xfrm>
                  <a:off x="5028599" y="1917698"/>
                  <a:ext cx="762602" cy="853439"/>
                </a:xfrm>
                <a:prstGeom prst="rect">
                  <a:avLst/>
                </a:prstGeom>
                <a:ln>
                  <a:prstDash val="solid"/>
                  <a:headEnd type="none"/>
                  <a:tailEnd type="none"/>
                </a:ln>
              </p:spPr>
              <p:txBody>
                <a:bodyPr vert="horz" wrap="none" lIns="91440" tIns="45720" rIns="91440" bIns="45720" rtlCol="0" anchor="ctr" anchorCtr="0"/>
                <a:lstStyle/>
                <a:p>
                  <a:pPr algn="ctr">
                    <a:defRPr/>
                  </a:pPr>
                  <a:r>
                    <a:rPr lang="en-US" sz="3600" b="1" i="0">
                      <a:solidFill>
                        <a:srgbClr val="FFFFFF">
                          <a:alpha val="100000"/>
                        </a:srgbClr>
                      </a:solidFill>
                      <a:latin typeface="Arial" panose="020B0604020202020204"/>
                      <a:ea typeface="Arial" panose="020B0604020202020204"/>
                      <a:cs typeface="Arial" panose="020B0604020202020204"/>
                    </a:rPr>
                    <a:t>02</a:t>
                  </a:r>
                  <a:endParaRPr lang="en-US" sz="1100"/>
                </a:p>
              </p:txBody>
            </p:sp>
          </p:grpSp>
        </p:grpSp>
        <p:grpSp>
          <p:nvGrpSpPr>
            <p:cNvPr id="20" name="Group 20"/>
            <p:cNvGrpSpPr/>
            <p:nvPr/>
          </p:nvGrpSpPr>
          <p:grpSpPr>
            <a:xfrm rot="0">
              <a:off x="4762499" y="3717212"/>
              <a:ext cx="6756401" cy="1123432"/>
              <a:chOff x="4762499" y="1917698"/>
              <a:chExt cx="6756401" cy="1123432"/>
            </a:xfrm>
          </p:grpSpPr>
          <p:sp>
            <p:nvSpPr>
              <p:cNvPr id="21" name="AutoShape 21"/>
              <p:cNvSpPr/>
              <p:nvPr>
                <p:custDataLst>
                  <p:tags r:id="rId10"/>
                </p:custDataLst>
              </p:nvPr>
            </p:nvSpPr>
            <p:spPr>
              <a:xfrm rot="5400000">
                <a:off x="4751661" y="2276684"/>
                <a:ext cx="157141" cy="135466"/>
              </a:xfrm>
              <a:prstGeom prst="triangle">
                <a:avLst/>
              </a:prstGeom>
              <a:solidFill>
                <a:srgbClr val="EBBA6F">
                  <a:alpha val="100000"/>
                </a:srgbClr>
              </a:solidFill>
              <a:ln>
                <a:prstDash val="solid"/>
                <a:headEnd type="none"/>
                <a:tailEnd type="none"/>
              </a:ln>
            </p:spPr>
          </p:sp>
          <p:grpSp>
            <p:nvGrpSpPr>
              <p:cNvPr id="22" name="Group 22"/>
              <p:cNvGrpSpPr/>
              <p:nvPr/>
            </p:nvGrpSpPr>
            <p:grpSpPr>
              <a:xfrm rot="0">
                <a:off x="5028599" y="1917698"/>
                <a:ext cx="6490301" cy="1123432"/>
                <a:chOff x="5028599" y="1917698"/>
                <a:chExt cx="6490301" cy="1123432"/>
              </a:xfrm>
            </p:grpSpPr>
            <p:sp>
              <p:nvSpPr>
                <p:cNvPr id="23" name="TextBox 23"/>
                <p:cNvSpPr txBox="1"/>
                <p:nvPr>
                  <p:custDataLst>
                    <p:tags r:id="rId11"/>
                  </p:custDataLst>
                </p:nvPr>
              </p:nvSpPr>
              <p:spPr>
                <a:xfrm>
                  <a:off x="5791200" y="1960034"/>
                  <a:ext cx="5727700" cy="386926"/>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solidFill>
                        <a:srgbClr val="FFFFFF">
                          <a:alpha val="100000"/>
                        </a:srgbClr>
                      </a:solidFill>
                      <a:latin typeface="汉仪行楷简"/>
                      <a:ea typeface="汉仪行楷简"/>
                      <a:cs typeface="汉仪行楷简"/>
                    </a:rPr>
                    <a:t>评估治理成效</a:t>
                  </a:r>
                  <a:endParaRPr lang="en-US" sz="1100"/>
                </a:p>
              </p:txBody>
            </p:sp>
            <p:sp>
              <p:nvSpPr>
                <p:cNvPr id="24" name="TextBox 24"/>
                <p:cNvSpPr txBox="1"/>
                <p:nvPr>
                  <p:custDataLst>
                    <p:tags r:id="rId12"/>
                  </p:custDataLst>
                </p:nvPr>
              </p:nvSpPr>
              <p:spPr>
                <a:xfrm>
                  <a:off x="5791200" y="2346962"/>
                  <a:ext cx="5727700" cy="694168"/>
                </a:xfrm>
                <a:prstGeom prst="rect">
                  <a:avLst/>
                </a:prstGeom>
                <a:ln>
                  <a:prstDash val="solid"/>
                  <a:headEnd type="none"/>
                  <a:tailEnd type="none"/>
                </a:ln>
              </p:spPr>
              <p:txBody>
                <a:bodyPr vert="horz" wrap="square" lIns="91440" tIns="45720" rIns="91440" bIns="45720" rtlCol="0" anchor="t" anchorCtr="0"/>
                <a:lstStyle/>
                <a:p>
                  <a:pPr algn="l">
                    <a:lnSpc>
                      <a:spcPct val="120000"/>
                    </a:lnSpc>
                    <a:buClrTx/>
                    <a:buSzTx/>
                    <a:buFontTx/>
                    <a:defRPr/>
                  </a:pPr>
                  <a:r>
                    <a:rPr lang="en-US" sz="1600" b="0" i="0">
                      <a:solidFill>
                        <a:srgbClr val="FFFFFF">
                          <a:alpha val="100000"/>
                        </a:srgbClr>
                      </a:solidFill>
                      <a:latin typeface="思源黑体 CN Regular"/>
                      <a:ea typeface="思源黑体 CN Regular"/>
                      <a:cs typeface="思源黑体 CN Regular"/>
                    </a:rPr>
                    <a:t>通过历史趋势对比、箱线图等工具，量化评估不同区域、不同时期的空气质量改善效果和治理措施成效。</a:t>
                  </a:r>
                  <a:endParaRPr lang="en-US" sz="1600">
                    <a:solidFill>
                      <a:srgbClr val="FFFFFF">
                        <a:alpha val="100000"/>
                      </a:srgbClr>
                    </a:solidFill>
                    <a:latin typeface="思源黑体 CN Regular"/>
                    <a:ea typeface="思源黑体 CN Regular"/>
                    <a:cs typeface="思源黑体 CN Regular"/>
                  </a:endParaRPr>
                </a:p>
              </p:txBody>
            </p:sp>
            <p:sp>
              <p:nvSpPr>
                <p:cNvPr id="25" name="TextBox 25"/>
                <p:cNvSpPr txBox="1"/>
                <p:nvPr>
                  <p:custDataLst>
                    <p:tags r:id="rId13"/>
                  </p:custDataLst>
                </p:nvPr>
              </p:nvSpPr>
              <p:spPr>
                <a:xfrm>
                  <a:off x="5028599" y="1917698"/>
                  <a:ext cx="762602" cy="853439"/>
                </a:xfrm>
                <a:prstGeom prst="rect">
                  <a:avLst/>
                </a:prstGeom>
                <a:ln>
                  <a:prstDash val="solid"/>
                  <a:headEnd type="none"/>
                  <a:tailEnd type="none"/>
                </a:ln>
              </p:spPr>
              <p:txBody>
                <a:bodyPr vert="horz" wrap="none" lIns="91440" tIns="45720" rIns="91440" bIns="45720" rtlCol="0" anchor="ctr" anchorCtr="0"/>
                <a:lstStyle/>
                <a:p>
                  <a:pPr algn="ctr">
                    <a:defRPr/>
                  </a:pPr>
                  <a:r>
                    <a:rPr lang="en-US" sz="3600" b="1" i="0">
                      <a:solidFill>
                        <a:srgbClr val="FFFFFF">
                          <a:alpha val="100000"/>
                        </a:srgbClr>
                      </a:solidFill>
                      <a:latin typeface="Arial" panose="020B0604020202020204"/>
                      <a:ea typeface="Arial" panose="020B0604020202020204"/>
                      <a:cs typeface="Arial" panose="020B0604020202020204"/>
                    </a:rPr>
                    <a:t>03</a:t>
                  </a:r>
                  <a:endParaRPr lang="en-US" sz="1100"/>
                </a:p>
              </p:txBody>
            </p:sp>
          </p:grpSp>
        </p:grpSp>
        <p:grpSp>
          <p:nvGrpSpPr>
            <p:cNvPr id="26" name="Group 26"/>
            <p:cNvGrpSpPr/>
            <p:nvPr/>
          </p:nvGrpSpPr>
          <p:grpSpPr>
            <a:xfrm rot="0">
              <a:off x="4762499" y="5010668"/>
              <a:ext cx="6756401" cy="1123432"/>
              <a:chOff x="4762499" y="1917698"/>
              <a:chExt cx="6756401" cy="1123432"/>
            </a:xfrm>
          </p:grpSpPr>
          <p:sp>
            <p:nvSpPr>
              <p:cNvPr id="27" name="AutoShape 27"/>
              <p:cNvSpPr/>
              <p:nvPr>
                <p:custDataLst>
                  <p:tags r:id="rId14"/>
                </p:custDataLst>
              </p:nvPr>
            </p:nvSpPr>
            <p:spPr>
              <a:xfrm rot="5400000">
                <a:off x="4751661" y="2276684"/>
                <a:ext cx="157141" cy="135466"/>
              </a:xfrm>
              <a:prstGeom prst="triangle">
                <a:avLst/>
              </a:prstGeom>
              <a:solidFill>
                <a:srgbClr val="EBBA6F">
                  <a:alpha val="100000"/>
                </a:srgbClr>
              </a:solidFill>
              <a:ln>
                <a:prstDash val="solid"/>
                <a:headEnd type="none"/>
                <a:tailEnd type="none"/>
              </a:ln>
            </p:spPr>
          </p:sp>
          <p:grpSp>
            <p:nvGrpSpPr>
              <p:cNvPr id="28" name="Group 28"/>
              <p:cNvGrpSpPr/>
              <p:nvPr/>
            </p:nvGrpSpPr>
            <p:grpSpPr>
              <a:xfrm rot="0">
                <a:off x="5028599" y="1917698"/>
                <a:ext cx="6490301" cy="1123432"/>
                <a:chOff x="5028599" y="1917698"/>
                <a:chExt cx="6490301" cy="1123432"/>
              </a:xfrm>
            </p:grpSpPr>
            <p:sp>
              <p:nvSpPr>
                <p:cNvPr id="29" name="TextBox 29"/>
                <p:cNvSpPr txBox="1"/>
                <p:nvPr>
                  <p:custDataLst>
                    <p:tags r:id="rId15"/>
                  </p:custDataLst>
                </p:nvPr>
              </p:nvSpPr>
              <p:spPr>
                <a:xfrm>
                  <a:off x="5791200" y="1960034"/>
                  <a:ext cx="5727700" cy="386926"/>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solidFill>
                        <a:srgbClr val="FFFFFF">
                          <a:alpha val="100000"/>
                        </a:srgbClr>
                      </a:solidFill>
                      <a:latin typeface="汉仪行楷简"/>
                      <a:ea typeface="汉仪行楷简"/>
                      <a:cs typeface="汉仪行楷简"/>
                    </a:rPr>
                    <a:t>优化监管布局</a:t>
                  </a:r>
                  <a:endParaRPr lang="en-US" sz="1100"/>
                </a:p>
              </p:txBody>
            </p:sp>
            <p:sp>
              <p:nvSpPr>
                <p:cNvPr id="30" name="TextBox 30"/>
                <p:cNvSpPr txBox="1"/>
                <p:nvPr>
                  <p:custDataLst>
                    <p:tags r:id="rId16"/>
                  </p:custDataLst>
                </p:nvPr>
              </p:nvSpPr>
              <p:spPr>
                <a:xfrm>
                  <a:off x="5791200" y="2346962"/>
                  <a:ext cx="5727700" cy="694168"/>
                </a:xfrm>
                <a:prstGeom prst="rect">
                  <a:avLst/>
                </a:prstGeom>
                <a:ln>
                  <a:prstDash val="solid"/>
                  <a:headEnd type="none"/>
                  <a:tailEnd type="none"/>
                </a:ln>
              </p:spPr>
              <p:txBody>
                <a:bodyPr vert="horz" wrap="square" lIns="91440" tIns="45720" rIns="91440" bIns="45720" rtlCol="0" anchor="t" anchorCtr="0"/>
                <a:lstStyle/>
                <a:p>
                  <a:pPr algn="l">
                    <a:lnSpc>
                      <a:spcPct val="120000"/>
                    </a:lnSpc>
                    <a:buClrTx/>
                    <a:buSzTx/>
                    <a:buFontTx/>
                    <a:defRPr/>
                  </a:pPr>
                  <a:r>
                    <a:rPr lang="en-US" sz="1600" b="0" i="0">
                      <a:solidFill>
                        <a:srgbClr val="FFFFFF">
                          <a:alpha val="100000"/>
                        </a:srgbClr>
                      </a:solidFill>
                      <a:latin typeface="思源黑体 CN Regular"/>
                      <a:ea typeface="思源黑体 CN Regular"/>
                      <a:cs typeface="思源黑体 CN Regular"/>
                    </a:rPr>
                    <a:t>基于数据分析结果，为环境监测站点的优化布局、移动监测车的调度路线的科学规划提供决策参考。</a:t>
                  </a:r>
                  <a:endParaRPr lang="en-US" sz="1600">
                    <a:solidFill>
                      <a:srgbClr val="FFFFFF">
                        <a:alpha val="100000"/>
                      </a:srgbClr>
                    </a:solidFill>
                    <a:latin typeface="思源黑体 CN Regular"/>
                    <a:ea typeface="思源黑体 CN Regular"/>
                    <a:cs typeface="思源黑体 CN Regular"/>
                  </a:endParaRPr>
                </a:p>
              </p:txBody>
            </p:sp>
            <p:sp>
              <p:nvSpPr>
                <p:cNvPr id="31" name="TextBox 31"/>
                <p:cNvSpPr txBox="1"/>
                <p:nvPr>
                  <p:custDataLst>
                    <p:tags r:id="rId17"/>
                  </p:custDataLst>
                </p:nvPr>
              </p:nvSpPr>
              <p:spPr>
                <a:xfrm>
                  <a:off x="5028599" y="1917698"/>
                  <a:ext cx="762602" cy="853439"/>
                </a:xfrm>
                <a:prstGeom prst="rect">
                  <a:avLst/>
                </a:prstGeom>
                <a:ln>
                  <a:prstDash val="solid"/>
                  <a:headEnd type="none"/>
                  <a:tailEnd type="none"/>
                </a:ln>
              </p:spPr>
              <p:txBody>
                <a:bodyPr vert="horz" wrap="none" lIns="91440" tIns="45720" rIns="91440" bIns="45720" rtlCol="0" anchor="ctr" anchorCtr="0"/>
                <a:lstStyle/>
                <a:p>
                  <a:pPr algn="ctr">
                    <a:defRPr/>
                  </a:pPr>
                  <a:r>
                    <a:rPr lang="en-US" sz="3600" b="1" i="0">
                      <a:solidFill>
                        <a:srgbClr val="FFFFFF">
                          <a:alpha val="100000"/>
                        </a:srgbClr>
                      </a:solidFill>
                      <a:latin typeface="Arial" panose="020B0604020202020204"/>
                      <a:ea typeface="Arial" panose="020B0604020202020204"/>
                      <a:cs typeface="Arial" panose="020B0604020202020204"/>
                    </a:rPr>
                    <a:t>04</a:t>
                  </a:r>
                  <a:endParaRPr lang="en-US" sz="1100"/>
                </a:p>
              </p:txBody>
            </p:sp>
          </p:grpSp>
        </p:grpSp>
      </p:grpSp>
      <p:sp>
        <p:nvSpPr>
          <p:cNvPr id="32" name="TextBox 32"/>
          <p:cNvSpPr txBox="1"/>
          <p:nvPr/>
        </p:nvSpPr>
        <p:spPr>
          <a:xfrm>
            <a:off x="1465006" y="304799"/>
            <a:ext cx="9760043" cy="723901"/>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3000" b="0" i="0">
                <a:solidFill>
                  <a:srgbClr val="FFFFFF">
                    <a:alpha val="100000"/>
                  </a:srgbClr>
                </a:solidFill>
                <a:latin typeface="汉仪行楷简"/>
                <a:ea typeface="汉仪行楷简"/>
                <a:cs typeface="汉仪行楷简"/>
              </a:rPr>
              <a:t>赋能政府决策</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97b5847f-a80e-414a-8091-aeb2a6e850cb"/>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solidFill>
                  <a:srgbClr val="FFFFFF">
                    <a:alpha val="100000"/>
                    <a:tint val="75000"/>
                  </a:srgbClr>
                </a:solidFill>
                <a:latin typeface="Average"/>
                <a:ea typeface="Average"/>
                <a:cs typeface="Average"/>
              </a:rPr>
              <a:t>4</a:t>
            </a:r>
            <a:endParaRPr lang="en-US" sz="1100"/>
          </a:p>
        </p:txBody>
      </p:sp>
      <p:grpSp>
        <p:nvGrpSpPr>
          <p:cNvPr id="3" name="Group 3"/>
          <p:cNvGrpSpPr/>
          <p:nvPr/>
        </p:nvGrpSpPr>
        <p:grpSpPr>
          <a:xfrm rot="0">
            <a:off x="660400" y="1130300"/>
            <a:ext cx="10858500" cy="4800600"/>
            <a:chOff x="660400" y="1130300"/>
            <a:chExt cx="10858500" cy="4800600"/>
          </a:xfrm>
        </p:grpSpPr>
        <p:sp>
          <p:nvSpPr>
            <p:cNvPr id="4" name="TextBox 4"/>
            <p:cNvSpPr txBox="1"/>
            <p:nvPr/>
          </p:nvSpPr>
          <p:spPr>
            <a:xfrm>
              <a:off x="660400" y="1130300"/>
              <a:ext cx="10858500" cy="461665"/>
            </a:xfrm>
            <a:prstGeom prst="rect">
              <a:avLst/>
            </a:prstGeom>
            <a:ln>
              <a:headEnd type="none"/>
              <a:tailEnd type="none"/>
            </a:ln>
          </p:spPr>
          <p:txBody>
            <a:bodyPr vert="horz" wrap="square" lIns="91440" tIns="45720" rIns="91440" bIns="45720" rtlCol="0" anchor="t" anchorCtr="1"/>
            <a:lstStyle/>
            <a:p>
              <a:pPr algn="ctr">
                <a:defRPr/>
              </a:pPr>
              <a:r>
                <a:rPr lang="en-US" sz="2400" b="1" i="0">
                  <a:solidFill>
                    <a:srgbClr val="FFFFFF">
                      <a:alpha val="100000"/>
                    </a:srgbClr>
                  </a:solidFill>
                  <a:latin typeface="汉仪行楷简"/>
                  <a:ea typeface="汉仪行楷简"/>
                  <a:cs typeface="汉仪行楷简"/>
                </a:rPr>
                <a:t>为大气环境研究提供全新视角与工具</a:t>
              </a:r>
              <a:endParaRPr lang="en-US" sz="1100"/>
            </a:p>
          </p:txBody>
        </p:sp>
        <p:grpSp>
          <p:nvGrpSpPr>
            <p:cNvPr id="5" name="Group 5"/>
            <p:cNvGrpSpPr/>
            <p:nvPr/>
          </p:nvGrpSpPr>
          <p:grpSpPr>
            <a:xfrm rot="0">
              <a:off x="753908" y="2022324"/>
              <a:ext cx="10701492" cy="1139702"/>
              <a:chOff x="753908" y="2022324"/>
              <a:chExt cx="10701492" cy="1139702"/>
            </a:xfrm>
          </p:grpSpPr>
          <p:sp>
            <p:nvSpPr>
              <p:cNvPr id="6" name="AutoShape 6"/>
              <p:cNvSpPr/>
              <p:nvPr/>
            </p:nvSpPr>
            <p:spPr>
              <a:xfrm>
                <a:off x="1252013" y="2022327"/>
                <a:ext cx="10203387" cy="1139699"/>
              </a:xfrm>
              <a:prstGeom prst="roundRect">
                <a:avLst>
                  <a:gd name="adj" fmla="val 8860"/>
                </a:avLst>
              </a:prstGeom>
              <a:solidFill>
                <a:srgbClr val="C1EFFF">
                  <a:alpha val="14901"/>
                </a:srgbClr>
              </a:solidFill>
              <a:ln>
                <a:prstDash val="solid"/>
                <a:headEnd type="none"/>
                <a:tailEnd type="none"/>
              </a:ln>
            </p:spPr>
          </p:sp>
          <p:sp>
            <p:nvSpPr>
              <p:cNvPr id="7" name="TextBox 7"/>
              <p:cNvSpPr txBox="1"/>
              <p:nvPr/>
            </p:nvSpPr>
            <p:spPr>
              <a:xfrm rot="16200000">
                <a:off x="433111" y="2343121"/>
                <a:ext cx="1139700" cy="498106"/>
              </a:xfrm>
              <a:prstGeom prst="round2SameRect">
                <a:avLst>
                  <a:gd name="adj1" fmla="val 34445"/>
                  <a:gd name="adj2" fmla="val 0"/>
                </a:avLst>
              </a:prstGeom>
              <a:solidFill>
                <a:srgbClr val="EBBA6F">
                  <a:alpha val="100000"/>
                </a:srgbClr>
              </a:solidFill>
              <a:ln>
                <a:prstDash val="solid"/>
                <a:headEnd type="none"/>
                <a:tailEnd type="none"/>
              </a:ln>
            </p:spPr>
            <p:txBody>
              <a:bodyPr vert="eaVert" wrap="square" lIns="91440" tIns="45720" rIns="91440" bIns="45720" rtlCol="0" anchor="ctr" anchorCtr="0"/>
              <a:lstStyle/>
              <a:p>
                <a:pPr algn="ctr">
                  <a:defRPr/>
                </a:pPr>
                <a:r>
                  <a:rPr lang="en-US" sz="1600" b="1" i="0" strike="noStrike">
                    <a:solidFill>
                      <a:srgbClr val="FFFFFF">
                        <a:alpha val="100000"/>
                      </a:srgbClr>
                    </a:solidFill>
                    <a:latin typeface="Arial" panose="020B0604020202020204"/>
                    <a:ea typeface="Arial" panose="020B0604020202020204"/>
                    <a:cs typeface="Arial" panose="020B0604020202020204"/>
                  </a:rPr>
                  <a:t>1</a:t>
                </a:r>
                <a:endParaRPr lang="en-US" sz="1100"/>
              </a:p>
            </p:txBody>
          </p:sp>
          <p:sp>
            <p:nvSpPr>
              <p:cNvPr id="8" name="TextBox 8"/>
              <p:cNvSpPr txBox="1"/>
              <p:nvPr/>
            </p:nvSpPr>
            <p:spPr>
              <a:xfrm>
                <a:off x="1354796" y="2074878"/>
                <a:ext cx="2020569" cy="1035497"/>
              </a:xfrm>
              <a:prstGeom prst="rect">
                <a:avLst/>
              </a:prstGeom>
              <a:ln>
                <a:headEnd type="none"/>
                <a:tailEnd type="none"/>
              </a:ln>
            </p:spPr>
            <p:txBody>
              <a:bodyPr vert="horz" wrap="square" lIns="91440" tIns="45720" rIns="91440" bIns="45720" rtlCol="0" anchor="ctr" anchorCtr="0"/>
              <a:lstStyle/>
              <a:p>
                <a:pPr algn="r">
                  <a:defRPr/>
                </a:pPr>
                <a:r>
                  <a:rPr lang="en-US" sz="1800" b="1" i="0" strike="noStrike">
                    <a:solidFill>
                      <a:srgbClr val="FFFFFF">
                        <a:alpha val="100000"/>
                        <a:lumMod val="95000"/>
                        <a:lumOff val="5000"/>
                      </a:srgbClr>
                    </a:solidFill>
                    <a:latin typeface="汉仪行楷简"/>
                    <a:ea typeface="汉仪行楷简"/>
                    <a:cs typeface="汉仪行楷简"/>
                  </a:rPr>
                  <a:t>提供研究素材</a:t>
                </a:r>
                <a:endParaRPr lang="en-US" sz="1100"/>
              </a:p>
            </p:txBody>
          </p:sp>
          <p:sp>
            <p:nvSpPr>
              <p:cNvPr id="9" name="TextBox 9"/>
              <p:cNvSpPr txBox="1"/>
              <p:nvPr/>
            </p:nvSpPr>
            <p:spPr>
              <a:xfrm>
                <a:off x="3375365" y="2074878"/>
                <a:ext cx="7899400" cy="1035497"/>
              </a:xfrm>
              <a:prstGeom prst="rect">
                <a:avLst/>
              </a:prstGeom>
              <a:ln>
                <a:headEnd type="none"/>
                <a:tailEnd type="none"/>
              </a:ln>
            </p:spPr>
            <p:txBody>
              <a:bodyPr vert="horz" wrap="square" lIns="91440" tIns="45720" rIns="91440" bIns="45720" rtlCol="0" anchor="ctr" anchorCtr="0"/>
              <a:lstStyle/>
              <a:p>
                <a:pPr algn="l">
                  <a:lnSpc>
                    <a:spcPct val="120000"/>
                  </a:lnSpc>
                  <a:buFont typeface="Arial" panose="020B0604020202020204"/>
                  <a:buChar char="•"/>
                  <a:defRPr/>
                </a:pPr>
                <a:r>
                  <a:rPr lang="en-US" sz="1600" b="0" i="0">
                    <a:solidFill>
                      <a:srgbClr val="FFFFFF">
                        <a:alpha val="100000"/>
                        <a:lumMod val="95000"/>
                        <a:lumOff val="5000"/>
                      </a:srgbClr>
                    </a:solidFill>
                    <a:latin typeface="思源黑体 CN Regular"/>
                    <a:ea typeface="思源黑体 CN Regular"/>
                    <a:cs typeface="思源黑体 CN Regular"/>
                  </a:rPr>
                  <a:t>平台集成的多维度、长时间序列数据集，为大气化学、环境气象学、健康影响等领域的科学研究提供了宝贵的基础数据。</a:t>
                </a:r>
                <a:endParaRPr lang="en-US" sz="1600" b="0" i="0">
                  <a:solidFill>
                    <a:srgbClr val="FFFFFF">
                      <a:alpha val="100000"/>
                      <a:lumMod val="95000"/>
                      <a:lumOff val="5000"/>
                    </a:srgbClr>
                  </a:solidFill>
                  <a:latin typeface="思源黑体 CN Regular"/>
                  <a:ea typeface="思源黑体 CN Regular"/>
                  <a:cs typeface="思源黑体 CN Regular"/>
                </a:endParaRPr>
              </a:p>
            </p:txBody>
          </p:sp>
        </p:grpSp>
        <p:grpSp>
          <p:nvGrpSpPr>
            <p:cNvPr id="10" name="Group 10"/>
            <p:cNvGrpSpPr/>
            <p:nvPr/>
          </p:nvGrpSpPr>
          <p:grpSpPr>
            <a:xfrm rot="0">
              <a:off x="753907" y="3406764"/>
              <a:ext cx="10695526" cy="1139700"/>
              <a:chOff x="753907" y="3406764"/>
              <a:chExt cx="10695526" cy="1139700"/>
            </a:xfrm>
          </p:grpSpPr>
          <p:sp>
            <p:nvSpPr>
              <p:cNvPr id="11" name="AutoShape 11"/>
              <p:cNvSpPr/>
              <p:nvPr/>
            </p:nvSpPr>
            <p:spPr>
              <a:xfrm>
                <a:off x="1246046" y="3406764"/>
                <a:ext cx="10203387" cy="1139699"/>
              </a:xfrm>
              <a:prstGeom prst="roundRect">
                <a:avLst>
                  <a:gd name="adj" fmla="val 8860"/>
                </a:avLst>
              </a:prstGeom>
              <a:solidFill>
                <a:srgbClr val="C1EFFF">
                  <a:alpha val="14901"/>
                </a:srgbClr>
              </a:solidFill>
              <a:ln>
                <a:prstDash val="solid"/>
                <a:headEnd type="none"/>
                <a:tailEnd type="none"/>
              </a:ln>
            </p:spPr>
          </p:sp>
          <p:sp>
            <p:nvSpPr>
              <p:cNvPr id="12" name="TextBox 12"/>
              <p:cNvSpPr txBox="1"/>
              <p:nvPr/>
            </p:nvSpPr>
            <p:spPr>
              <a:xfrm>
                <a:off x="1348829" y="3469640"/>
                <a:ext cx="2020569" cy="1035497"/>
              </a:xfrm>
              <a:prstGeom prst="rect">
                <a:avLst/>
              </a:prstGeom>
              <a:ln>
                <a:headEnd type="none"/>
                <a:tailEnd type="none"/>
              </a:ln>
            </p:spPr>
            <p:txBody>
              <a:bodyPr vert="horz" wrap="square" lIns="91440" tIns="45720" rIns="91440" bIns="45720" rtlCol="0" anchor="ctr" anchorCtr="0"/>
              <a:lstStyle/>
              <a:p>
                <a:pPr algn="r">
                  <a:defRPr/>
                </a:pPr>
                <a:r>
                  <a:rPr lang="en-US" sz="1800" b="1" i="0" strike="noStrike">
                    <a:solidFill>
                      <a:srgbClr val="FFFFFF">
                        <a:alpha val="100000"/>
                        <a:lumMod val="95000"/>
                        <a:lumOff val="5000"/>
                      </a:srgbClr>
                    </a:solidFill>
                    <a:latin typeface="汉仪行楷简"/>
                    <a:ea typeface="汉仪行楷简"/>
                    <a:cs typeface="汉仪行楷简"/>
                  </a:rPr>
                  <a:t>验证研究假设</a:t>
                </a:r>
                <a:endParaRPr lang="en-US" sz="1100"/>
              </a:p>
            </p:txBody>
          </p:sp>
          <p:sp>
            <p:nvSpPr>
              <p:cNvPr id="13" name="TextBox 13"/>
              <p:cNvSpPr txBox="1"/>
              <p:nvPr/>
            </p:nvSpPr>
            <p:spPr>
              <a:xfrm>
                <a:off x="3369398" y="3469640"/>
                <a:ext cx="7899400" cy="1035497"/>
              </a:xfrm>
              <a:prstGeom prst="rect">
                <a:avLst/>
              </a:prstGeom>
              <a:ln>
                <a:headEnd type="none"/>
                <a:tailEnd type="none"/>
              </a:ln>
            </p:spPr>
            <p:txBody>
              <a:bodyPr vert="horz" wrap="square" lIns="91440" tIns="45720" rIns="91440" bIns="45720" rtlCol="0" anchor="ctr" anchorCtr="0"/>
              <a:lstStyle/>
              <a:p>
                <a:pPr algn="l">
                  <a:lnSpc>
                    <a:spcPct val="120000"/>
                  </a:lnSpc>
                  <a:buClrTx/>
                  <a:buSzTx/>
                  <a:buFont typeface="Arial" panose="020B0604020202020204"/>
                  <a:buChar char="•"/>
                  <a:defRPr/>
                </a:pPr>
                <a:r>
                  <a:rPr lang="en-US" sz="1600" b="0" i="0">
                    <a:solidFill>
                      <a:srgbClr val="FFFFFF">
                        <a:alpha val="100000"/>
                        <a:lumMod val="95000"/>
                        <a:lumOff val="5000"/>
                      </a:srgbClr>
                    </a:solidFill>
                    <a:latin typeface="思源黑体 CN Regular"/>
                    <a:ea typeface="思源黑体 CN Regular"/>
                    <a:cs typeface="思源黑体 CN Regular"/>
                  </a:rPr>
                  <a:t>可视化的分析功能可以帮助科研人员在数据分析初期快速验证研究假设，调整研究方向，提高研究效率。</a:t>
                </a:r>
                <a:endParaRPr lang="en-US" sz="1600">
                  <a:solidFill>
                    <a:srgbClr val="FFFFFF">
                      <a:alpha val="100000"/>
                      <a:lumMod val="95000"/>
                      <a:lumOff val="5000"/>
                    </a:srgbClr>
                  </a:solidFill>
                  <a:latin typeface="思源黑体 CN Regular"/>
                  <a:ea typeface="思源黑体 CN Regular"/>
                  <a:cs typeface="思源黑体 CN Regular"/>
                </a:endParaRPr>
              </a:p>
            </p:txBody>
          </p:sp>
          <p:sp>
            <p:nvSpPr>
              <p:cNvPr id="14" name="TextBox 14"/>
              <p:cNvSpPr txBox="1"/>
              <p:nvPr/>
            </p:nvSpPr>
            <p:spPr>
              <a:xfrm rot="16200000">
                <a:off x="433110" y="3727561"/>
                <a:ext cx="1139700" cy="498106"/>
              </a:xfrm>
              <a:prstGeom prst="round2SameRect">
                <a:avLst>
                  <a:gd name="adj1" fmla="val 34445"/>
                  <a:gd name="adj2" fmla="val 0"/>
                </a:avLst>
              </a:prstGeom>
              <a:solidFill>
                <a:srgbClr val="EBBA6F">
                  <a:alpha val="100000"/>
                </a:srgbClr>
              </a:solidFill>
              <a:ln>
                <a:prstDash val="solid"/>
                <a:headEnd type="none"/>
                <a:tailEnd type="none"/>
              </a:ln>
            </p:spPr>
            <p:txBody>
              <a:bodyPr vert="eaVert" wrap="square" lIns="91440" tIns="45720" rIns="91440" bIns="45720" rtlCol="0" anchor="ctr" anchorCtr="0"/>
              <a:lstStyle/>
              <a:p>
                <a:pPr algn="ctr">
                  <a:defRPr/>
                </a:pPr>
                <a:r>
                  <a:rPr lang="en-US" sz="1600" b="1" i="0" strike="noStrike">
                    <a:solidFill>
                      <a:srgbClr val="FFFFFF">
                        <a:alpha val="100000"/>
                      </a:srgbClr>
                    </a:solidFill>
                    <a:latin typeface="Arial" panose="020B0604020202020204"/>
                    <a:ea typeface="Arial" panose="020B0604020202020204"/>
                    <a:cs typeface="Arial" panose="020B0604020202020204"/>
                  </a:rPr>
                  <a:t>2</a:t>
                </a:r>
                <a:endParaRPr lang="en-US" sz="1100"/>
              </a:p>
            </p:txBody>
          </p:sp>
        </p:grpSp>
        <p:grpSp>
          <p:nvGrpSpPr>
            <p:cNvPr id="15" name="Group 15"/>
            <p:cNvGrpSpPr/>
            <p:nvPr/>
          </p:nvGrpSpPr>
          <p:grpSpPr>
            <a:xfrm rot="0">
              <a:off x="747734" y="4791200"/>
              <a:ext cx="10707666" cy="1139700"/>
              <a:chOff x="747734" y="4791200"/>
              <a:chExt cx="10707666" cy="1139700"/>
            </a:xfrm>
          </p:grpSpPr>
          <p:sp>
            <p:nvSpPr>
              <p:cNvPr id="16" name="AutoShape 16"/>
              <p:cNvSpPr/>
              <p:nvPr/>
            </p:nvSpPr>
            <p:spPr>
              <a:xfrm>
                <a:off x="1252013" y="4791201"/>
                <a:ext cx="10203387" cy="1139699"/>
              </a:xfrm>
              <a:prstGeom prst="roundRect">
                <a:avLst>
                  <a:gd name="adj" fmla="val 8860"/>
                </a:avLst>
              </a:prstGeom>
              <a:solidFill>
                <a:srgbClr val="C1EFFF">
                  <a:alpha val="14901"/>
                </a:srgbClr>
              </a:solidFill>
              <a:ln>
                <a:prstDash val="solid"/>
                <a:headEnd type="none"/>
                <a:tailEnd type="none"/>
              </a:ln>
            </p:spPr>
          </p:sp>
          <p:sp>
            <p:nvSpPr>
              <p:cNvPr id="17" name="TextBox 17"/>
              <p:cNvSpPr txBox="1"/>
              <p:nvPr/>
            </p:nvSpPr>
            <p:spPr>
              <a:xfrm>
                <a:off x="1348829" y="4864402"/>
                <a:ext cx="2020569" cy="1035497"/>
              </a:xfrm>
              <a:prstGeom prst="rect">
                <a:avLst/>
              </a:prstGeom>
              <a:ln>
                <a:headEnd type="none"/>
                <a:tailEnd type="none"/>
              </a:ln>
            </p:spPr>
            <p:txBody>
              <a:bodyPr vert="horz" wrap="square" lIns="91440" tIns="45720" rIns="91440" bIns="45720" rtlCol="0" anchor="ctr" anchorCtr="0"/>
              <a:lstStyle/>
              <a:p>
                <a:pPr algn="r">
                  <a:defRPr/>
                </a:pPr>
                <a:r>
                  <a:rPr lang="en-US" sz="1800" b="1" i="0" strike="noStrike">
                    <a:solidFill>
                      <a:srgbClr val="FFFFFF">
                        <a:alpha val="100000"/>
                        <a:lumMod val="95000"/>
                        <a:lumOff val="5000"/>
                      </a:srgbClr>
                    </a:solidFill>
                    <a:latin typeface="汉仪行楷简"/>
                    <a:ea typeface="汉仪行楷简"/>
                    <a:cs typeface="汉仪行楷简"/>
                  </a:rPr>
                  <a:t>促进学科交叉</a:t>
                </a:r>
                <a:endParaRPr lang="en-US" sz="1100"/>
              </a:p>
            </p:txBody>
          </p:sp>
          <p:sp>
            <p:nvSpPr>
              <p:cNvPr id="18" name="TextBox 18"/>
              <p:cNvSpPr txBox="1"/>
              <p:nvPr/>
            </p:nvSpPr>
            <p:spPr>
              <a:xfrm>
                <a:off x="3369398" y="4864402"/>
                <a:ext cx="7899400" cy="1035497"/>
              </a:xfrm>
              <a:prstGeom prst="rect">
                <a:avLst/>
              </a:prstGeom>
              <a:ln>
                <a:headEnd type="none"/>
                <a:tailEnd type="none"/>
              </a:ln>
            </p:spPr>
            <p:txBody>
              <a:bodyPr vert="horz" wrap="square" lIns="91440" tIns="45720" rIns="91440" bIns="45720" rtlCol="0" anchor="ctr" anchorCtr="0"/>
              <a:lstStyle/>
              <a:p>
                <a:pPr algn="l">
                  <a:lnSpc>
                    <a:spcPct val="120000"/>
                  </a:lnSpc>
                  <a:buClrTx/>
                  <a:buSzTx/>
                  <a:buFont typeface="Arial" panose="020B0604020202020204"/>
                  <a:buChar char="•"/>
                  <a:defRPr/>
                </a:pPr>
                <a:r>
                  <a:rPr lang="en-US" sz="1600" b="0" i="0">
                    <a:solidFill>
                      <a:srgbClr val="FFFFFF">
                        <a:alpha val="100000"/>
                        <a:lumMod val="95000"/>
                        <a:lumOff val="5000"/>
                      </a:srgbClr>
                    </a:solidFill>
                    <a:latin typeface="思源黑体 CN Regular"/>
                    <a:ea typeface="思源黑体 CN Regular"/>
                    <a:cs typeface="思源黑体 CN Regular"/>
                  </a:rPr>
                  <a:t>通过整合环境、气象、地理、社会经济等多领域数据，为跨学科的综合研究提供了平台，催生新的科研增长点。</a:t>
                </a:r>
                <a:endParaRPr lang="en-US" sz="1600">
                  <a:solidFill>
                    <a:srgbClr val="FFFFFF">
                      <a:alpha val="100000"/>
                      <a:lumMod val="95000"/>
                      <a:lumOff val="5000"/>
                    </a:srgbClr>
                  </a:solidFill>
                  <a:latin typeface="思源黑体 CN Regular"/>
                  <a:ea typeface="思源黑体 CN Regular"/>
                  <a:cs typeface="思源黑体 CN Regular"/>
                </a:endParaRPr>
              </a:p>
            </p:txBody>
          </p:sp>
          <p:sp>
            <p:nvSpPr>
              <p:cNvPr id="19" name="TextBox 19"/>
              <p:cNvSpPr txBox="1"/>
              <p:nvPr/>
            </p:nvSpPr>
            <p:spPr>
              <a:xfrm rot="16200000">
                <a:off x="426937" y="5111997"/>
                <a:ext cx="1139700" cy="498106"/>
              </a:xfrm>
              <a:prstGeom prst="round2SameRect">
                <a:avLst>
                  <a:gd name="adj1" fmla="val 34445"/>
                  <a:gd name="adj2" fmla="val 0"/>
                </a:avLst>
              </a:prstGeom>
              <a:solidFill>
                <a:srgbClr val="EBBA6F">
                  <a:alpha val="100000"/>
                </a:srgbClr>
              </a:solidFill>
              <a:ln>
                <a:prstDash val="solid"/>
                <a:headEnd type="none"/>
                <a:tailEnd type="none"/>
              </a:ln>
            </p:spPr>
            <p:txBody>
              <a:bodyPr vert="eaVert" wrap="square" lIns="91440" tIns="45720" rIns="91440" bIns="45720" rtlCol="0" anchor="ctr" anchorCtr="0"/>
              <a:lstStyle/>
              <a:p>
                <a:pPr algn="ctr">
                  <a:defRPr/>
                </a:pPr>
                <a:r>
                  <a:rPr lang="en-US" sz="1600" b="1" i="0" strike="noStrike">
                    <a:solidFill>
                      <a:srgbClr val="FFFFFF">
                        <a:alpha val="100000"/>
                      </a:srgbClr>
                    </a:solidFill>
                    <a:latin typeface="Arial" panose="020B0604020202020204"/>
                    <a:ea typeface="Arial" panose="020B0604020202020204"/>
                    <a:cs typeface="Arial" panose="020B0604020202020204"/>
                  </a:rPr>
                  <a:t>3</a:t>
                </a:r>
                <a:endParaRPr lang="en-US" sz="1100"/>
              </a:p>
            </p:txBody>
          </p:sp>
        </p:grpSp>
      </p:grpSp>
      <p:sp>
        <p:nvSpPr>
          <p:cNvPr id="20" name="TextBox 20"/>
          <p:cNvSpPr txBox="1"/>
          <p:nvPr/>
        </p:nvSpPr>
        <p:spPr>
          <a:xfrm>
            <a:off x="1465006" y="304799"/>
            <a:ext cx="9760043" cy="723901"/>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3000" b="0" i="0">
                <a:solidFill>
                  <a:srgbClr val="FFFFFF">
                    <a:alpha val="100000"/>
                  </a:srgbClr>
                </a:solidFill>
                <a:latin typeface="汉仪行楷简"/>
                <a:ea typeface="汉仪行楷简"/>
                <a:cs typeface="汉仪行楷简"/>
              </a:rPr>
              <a:t>助力科学研究</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0939cba6-6084-4bdf-a4e0-3c19607fe311"/>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solidFill>
                  <a:srgbClr val="FFFFFF">
                    <a:alpha val="100000"/>
                    <a:tint val="75000"/>
                  </a:srgbClr>
                </a:solidFill>
                <a:latin typeface="Average"/>
                <a:ea typeface="Average"/>
                <a:cs typeface="Average"/>
              </a:rPr>
              <a:t>4</a:t>
            </a:r>
            <a:endParaRPr lang="en-US" sz="1100"/>
          </a:p>
        </p:txBody>
      </p:sp>
      <p:grpSp>
        <p:nvGrpSpPr>
          <p:cNvPr id="3" name="Group 3"/>
          <p:cNvGrpSpPr/>
          <p:nvPr/>
        </p:nvGrpSpPr>
        <p:grpSpPr>
          <a:xfrm rot="0">
            <a:off x="0" y="0"/>
            <a:ext cx="12192000" cy="6858000"/>
            <a:chOff x="0" y="0"/>
            <a:chExt cx="12192000" cy="6858000"/>
          </a:xfrm>
        </p:grpSpPr>
        <p:sp>
          <p:nvSpPr>
            <p:cNvPr id="4" name="AutoShape 4"/>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a:solidFill>
              <a:srgbClr val="FFFFFF">
                <a:alpha val="5098"/>
              </a:srgbClr>
            </a:solidFill>
            <a:ln>
              <a:prstDash val="solid"/>
              <a:headEnd type="none"/>
              <a:tailEnd type="none"/>
            </a:ln>
          </p:spPr>
        </p:sp>
        <p:grpSp>
          <p:nvGrpSpPr>
            <p:cNvPr id="5" name="Group 5"/>
            <p:cNvGrpSpPr/>
            <p:nvPr/>
          </p:nvGrpSpPr>
          <p:grpSpPr>
            <a:xfrm rot="0">
              <a:off x="660401" y="1130300"/>
              <a:ext cx="2714625" cy="5003800"/>
              <a:chOff x="660401" y="1130300"/>
              <a:chExt cx="2714625" cy="5003800"/>
            </a:xfrm>
          </p:grpSpPr>
          <p:sp>
            <p:nvSpPr>
              <p:cNvPr id="6" name="AutoShape 6"/>
              <p:cNvSpPr/>
              <p:nvPr/>
            </p:nvSpPr>
            <p:spPr>
              <a:xfrm>
                <a:off x="660401" y="1130300"/>
                <a:ext cx="2714625" cy="5003800"/>
              </a:xfrm>
              <a:custGeom>
                <a:avLst/>
                <a:gdLst/>
                <a:ahLst/>
                <a:cxnLst/>
                <a:rect l="l" t="t" r="r" b="b"/>
                <a:pathLst>
                  <a:path w="2714625" h="5003800">
                    <a:moveTo>
                      <a:pt x="0" y="0"/>
                    </a:moveTo>
                    <a:lnTo>
                      <a:pt x="2714625" y="0"/>
                    </a:lnTo>
                    <a:lnTo>
                      <a:pt x="2714625" y="5003800"/>
                    </a:lnTo>
                    <a:lnTo>
                      <a:pt x="0" y="5003800"/>
                    </a:lnTo>
                    <a:close/>
                  </a:path>
                </a:pathLst>
              </a:custGeom>
              <a:solidFill>
                <a:srgbClr val="33CCFF">
                  <a:alpha val="34901"/>
                </a:srgbClr>
              </a:solidFill>
              <a:ln>
                <a:prstDash val="solid"/>
                <a:headEnd type="none"/>
                <a:tailEnd type="none"/>
              </a:ln>
            </p:spPr>
          </p:sp>
          <p:sp>
            <p:nvSpPr>
              <p:cNvPr id="7" name="TextBox 7"/>
              <p:cNvSpPr txBox="1"/>
              <p:nvPr/>
            </p:nvSpPr>
            <p:spPr>
              <a:xfrm>
                <a:off x="754064" y="2178050"/>
                <a:ext cx="2527299" cy="898818"/>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solidFill>
                      <a:srgbClr val="FFFFFF">
                        <a:alpha val="100000"/>
                      </a:srgbClr>
                    </a:solidFill>
                    <a:latin typeface="汉仪行楷简"/>
                    <a:ea typeface="汉仪行楷简"/>
                    <a:cs typeface="汉仪行楷简"/>
                  </a:rPr>
                  <a:t>企业减排增效</a:t>
                </a:r>
                <a:endParaRPr lang="en-US" sz="1100"/>
              </a:p>
            </p:txBody>
          </p:sp>
          <p:sp>
            <p:nvSpPr>
              <p:cNvPr id="8" name="TextBox 8"/>
              <p:cNvSpPr txBox="1"/>
              <p:nvPr/>
            </p:nvSpPr>
            <p:spPr>
              <a:xfrm>
                <a:off x="754064" y="3076868"/>
                <a:ext cx="2527299" cy="2898482"/>
              </a:xfrm>
              <a:prstGeom prst="rect">
                <a:avLst/>
              </a:prstGeom>
              <a:ln>
                <a:prstDash val="solid"/>
                <a:headEnd type="none"/>
                <a:tailEnd type="none"/>
              </a:ln>
            </p:spPr>
            <p:txBody>
              <a:bodyPr vert="horz" wrap="square" lIns="91440" tIns="45720" rIns="91440" bIns="45720" rtlCol="0" anchor="t" anchorCtr="0"/>
              <a:lstStyle/>
              <a:p>
                <a:pPr algn="l">
                  <a:lnSpc>
                    <a:spcPct val="130000"/>
                  </a:lnSpc>
                  <a:defRPr/>
                </a:pPr>
                <a:r>
                  <a:rPr lang="en-US" sz="1200" b="0" i="0">
                    <a:solidFill>
                      <a:srgbClr val="FFFFFF">
                        <a:alpha val="100000"/>
                      </a:srgbClr>
                    </a:solidFill>
                    <a:latin typeface="思源黑体 CN Regular"/>
                    <a:ea typeface="思源黑体 CN Regular"/>
                    <a:cs typeface="思源黑体 CN Regular"/>
                  </a:rPr>
                  <a:t>帮助企业实时监控周边环境质量，预测污染趋势，指导企业合理安排生产计划，优化工艺，降低排放，实现经济效益与环境效益的双赢。</a:t>
                </a:r>
                <a:endParaRPr lang="en-US" sz="1100"/>
              </a:p>
            </p:txBody>
          </p:sp>
          <p:sp>
            <p:nvSpPr>
              <p:cNvPr id="9" name="TextBox 9"/>
              <p:cNvSpPr txBox="1"/>
              <p:nvPr/>
            </p:nvSpPr>
            <p:spPr>
              <a:xfrm>
                <a:off x="1654176" y="1395413"/>
                <a:ext cx="727074" cy="727074"/>
              </a:xfrm>
              <a:prstGeom prst="rect">
                <a:avLst/>
              </a:prstGeom>
              <a:ln>
                <a:headEnd type="none"/>
                <a:tailEnd type="none"/>
              </a:ln>
            </p:spPr>
            <p:txBody>
              <a:bodyPr vert="horz" wrap="none" lIns="91440" tIns="45720" rIns="91440" bIns="45720" rtlCol="0" anchor="ctr" anchorCtr="0"/>
              <a:lstStyle/>
              <a:p>
                <a:pPr algn="ctr">
                  <a:defRPr/>
                </a:pPr>
                <a:r>
                  <a:rPr lang="en-US" sz="4000" b="1" i="0">
                    <a:solidFill>
                      <a:srgbClr val="FFFFFF">
                        <a:alpha val="100000"/>
                      </a:srgbClr>
                    </a:solidFill>
                    <a:latin typeface="Arial" panose="020B0604020202020204"/>
                    <a:ea typeface="Arial" panose="020B0604020202020204"/>
                    <a:cs typeface="Arial" panose="020B0604020202020204"/>
                  </a:rPr>
                  <a:t>01</a:t>
                </a:r>
                <a:endParaRPr lang="en-US" sz="1100"/>
              </a:p>
            </p:txBody>
          </p:sp>
        </p:grpSp>
        <p:grpSp>
          <p:nvGrpSpPr>
            <p:cNvPr id="10" name="Group 10"/>
            <p:cNvGrpSpPr/>
            <p:nvPr/>
          </p:nvGrpSpPr>
          <p:grpSpPr>
            <a:xfrm rot="0">
              <a:off x="3375026" y="1130300"/>
              <a:ext cx="2714625" cy="5003800"/>
              <a:chOff x="3375026" y="1130300"/>
              <a:chExt cx="2714625" cy="5003800"/>
            </a:xfrm>
          </p:grpSpPr>
          <p:sp>
            <p:nvSpPr>
              <p:cNvPr id="11" name="AutoShape 11"/>
              <p:cNvSpPr/>
              <p:nvPr/>
            </p:nvSpPr>
            <p:spPr>
              <a:xfrm>
                <a:off x="3375026" y="1130300"/>
                <a:ext cx="2714625" cy="5003800"/>
              </a:xfrm>
              <a:custGeom>
                <a:avLst/>
                <a:gdLst/>
                <a:ahLst/>
                <a:cxnLst/>
                <a:rect l="l" t="t" r="r" b="b"/>
                <a:pathLst>
                  <a:path w="2714625" h="5003800">
                    <a:moveTo>
                      <a:pt x="0" y="0"/>
                    </a:moveTo>
                    <a:lnTo>
                      <a:pt x="2714625" y="0"/>
                    </a:lnTo>
                    <a:lnTo>
                      <a:pt x="2714625" y="5003800"/>
                    </a:lnTo>
                    <a:lnTo>
                      <a:pt x="0" y="5003800"/>
                    </a:lnTo>
                    <a:close/>
                  </a:path>
                </a:pathLst>
              </a:custGeom>
              <a:solidFill>
                <a:srgbClr val="121420">
                  <a:alpha val="100000"/>
                </a:srgbClr>
              </a:solidFill>
              <a:ln>
                <a:prstDash val="solid"/>
                <a:headEnd type="none"/>
                <a:tailEnd type="none"/>
              </a:ln>
            </p:spPr>
          </p:sp>
          <p:sp>
            <p:nvSpPr>
              <p:cNvPr id="12" name="TextBox 12"/>
              <p:cNvSpPr txBox="1"/>
              <p:nvPr/>
            </p:nvSpPr>
            <p:spPr>
              <a:xfrm>
                <a:off x="3468689" y="2178050"/>
                <a:ext cx="2527299" cy="898818"/>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solidFill>
                      <a:srgbClr val="FFFFFF">
                        <a:alpha val="100000"/>
                      </a:srgbClr>
                    </a:solidFill>
                    <a:latin typeface="汉仪行楷简"/>
                    <a:ea typeface="汉仪行楷简"/>
                    <a:cs typeface="汉仪行楷简"/>
                  </a:rPr>
                  <a:t>公众健康指引</a:t>
                </a:r>
                <a:endParaRPr lang="en-US" sz="1100"/>
              </a:p>
            </p:txBody>
          </p:sp>
          <p:sp>
            <p:nvSpPr>
              <p:cNvPr id="13" name="TextBox 13"/>
              <p:cNvSpPr txBox="1"/>
              <p:nvPr/>
            </p:nvSpPr>
            <p:spPr>
              <a:xfrm>
                <a:off x="3468689" y="3076868"/>
                <a:ext cx="2527299" cy="2898482"/>
              </a:xfrm>
              <a:prstGeom prst="rect">
                <a:avLst/>
              </a:prstGeom>
              <a:ln>
                <a:prstDash val="solid"/>
                <a:headEnd type="none"/>
                <a:tailEnd type="none"/>
              </a:ln>
            </p:spPr>
            <p:txBody>
              <a:bodyPr vert="horz" wrap="square" lIns="91440" tIns="45720" rIns="91440" bIns="45720" rtlCol="0" anchor="t" anchorCtr="0"/>
              <a:lstStyle/>
              <a:p>
                <a:pPr algn="l">
                  <a:lnSpc>
                    <a:spcPct val="130000"/>
                  </a:lnSpc>
                  <a:defRPr/>
                </a:pPr>
                <a:r>
                  <a:rPr lang="en-US" sz="1200" b="0" i="0">
                    <a:solidFill>
                      <a:srgbClr val="FFFFFF">
                        <a:alpha val="100000"/>
                      </a:srgbClr>
                    </a:solidFill>
                    <a:latin typeface="思源黑体 CN Regular"/>
                    <a:ea typeface="思源黑体 CN Regular"/>
                    <a:cs typeface="思源黑体 CN Regular"/>
                  </a:rPr>
                  <a:t>为公众提供直观、易懂的空气质量信息，帮助公众了解当前环境状况，合理安排出行和户外活动，采取有效的个人防护措施。</a:t>
                </a:r>
                <a:endParaRPr lang="en-US" sz="1100"/>
              </a:p>
            </p:txBody>
          </p:sp>
          <p:sp>
            <p:nvSpPr>
              <p:cNvPr id="14" name="TextBox 14"/>
              <p:cNvSpPr txBox="1"/>
              <p:nvPr/>
            </p:nvSpPr>
            <p:spPr>
              <a:xfrm>
                <a:off x="4368801" y="1395413"/>
                <a:ext cx="727074" cy="727074"/>
              </a:xfrm>
              <a:prstGeom prst="rect">
                <a:avLst/>
              </a:prstGeom>
              <a:ln>
                <a:headEnd type="none"/>
                <a:tailEnd type="none"/>
              </a:ln>
            </p:spPr>
            <p:txBody>
              <a:bodyPr vert="horz" wrap="none" lIns="91440" tIns="45720" rIns="91440" bIns="45720" rtlCol="0" anchor="ctr" anchorCtr="0"/>
              <a:lstStyle/>
              <a:p>
                <a:pPr algn="ctr">
                  <a:defRPr/>
                </a:pPr>
                <a:r>
                  <a:rPr lang="en-US" sz="4000" b="1" i="0">
                    <a:solidFill>
                      <a:srgbClr val="FFFFFF">
                        <a:alpha val="100000"/>
                      </a:srgbClr>
                    </a:solidFill>
                    <a:latin typeface="Arial" panose="020B0604020202020204"/>
                    <a:ea typeface="Arial" panose="020B0604020202020204"/>
                    <a:cs typeface="Arial" panose="020B0604020202020204"/>
                  </a:rPr>
                  <a:t>02</a:t>
                </a:r>
                <a:endParaRPr lang="en-US" sz="1100"/>
              </a:p>
            </p:txBody>
          </p:sp>
        </p:grpSp>
        <p:grpSp>
          <p:nvGrpSpPr>
            <p:cNvPr id="15" name="Group 15"/>
            <p:cNvGrpSpPr/>
            <p:nvPr/>
          </p:nvGrpSpPr>
          <p:grpSpPr>
            <a:xfrm rot="0">
              <a:off x="6089651" y="1130300"/>
              <a:ext cx="2714625" cy="5003800"/>
              <a:chOff x="6089651" y="1130300"/>
              <a:chExt cx="2714625" cy="5003800"/>
            </a:xfrm>
          </p:grpSpPr>
          <p:sp>
            <p:nvSpPr>
              <p:cNvPr id="16" name="AutoShape 16"/>
              <p:cNvSpPr/>
              <p:nvPr/>
            </p:nvSpPr>
            <p:spPr>
              <a:xfrm>
                <a:off x="6089651" y="1130300"/>
                <a:ext cx="2714625" cy="5003800"/>
              </a:xfrm>
              <a:custGeom>
                <a:avLst/>
                <a:gdLst/>
                <a:ahLst/>
                <a:cxnLst/>
                <a:rect l="l" t="t" r="r" b="b"/>
                <a:pathLst>
                  <a:path w="2714625" h="5003800">
                    <a:moveTo>
                      <a:pt x="0" y="0"/>
                    </a:moveTo>
                    <a:lnTo>
                      <a:pt x="2714625" y="0"/>
                    </a:lnTo>
                    <a:lnTo>
                      <a:pt x="2714625" y="5003800"/>
                    </a:lnTo>
                    <a:lnTo>
                      <a:pt x="0" y="5003800"/>
                    </a:lnTo>
                    <a:close/>
                  </a:path>
                </a:pathLst>
              </a:custGeom>
              <a:solidFill>
                <a:srgbClr val="33CCFF">
                  <a:alpha val="34901"/>
                </a:srgbClr>
              </a:solidFill>
              <a:ln>
                <a:prstDash val="solid"/>
                <a:headEnd type="none"/>
                <a:tailEnd type="none"/>
              </a:ln>
            </p:spPr>
          </p:sp>
          <p:sp>
            <p:nvSpPr>
              <p:cNvPr id="17" name="TextBox 17"/>
              <p:cNvSpPr txBox="1"/>
              <p:nvPr/>
            </p:nvSpPr>
            <p:spPr>
              <a:xfrm>
                <a:off x="6183314" y="2178050"/>
                <a:ext cx="2527299" cy="898818"/>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solidFill>
                      <a:srgbClr val="FFFFFF">
                        <a:alpha val="100000"/>
                      </a:srgbClr>
                    </a:solidFill>
                    <a:latin typeface="汉仪行楷简"/>
                    <a:ea typeface="汉仪行楷简"/>
                    <a:cs typeface="汉仪行楷简"/>
                  </a:rPr>
                  <a:t>促进信息公开</a:t>
                </a:r>
                <a:endParaRPr lang="en-US" sz="1100"/>
              </a:p>
            </p:txBody>
          </p:sp>
          <p:sp>
            <p:nvSpPr>
              <p:cNvPr id="18" name="TextBox 18"/>
              <p:cNvSpPr txBox="1"/>
              <p:nvPr/>
            </p:nvSpPr>
            <p:spPr>
              <a:xfrm>
                <a:off x="6183314" y="3076868"/>
                <a:ext cx="2527299" cy="2898482"/>
              </a:xfrm>
              <a:prstGeom prst="rect">
                <a:avLst/>
              </a:prstGeom>
              <a:ln>
                <a:prstDash val="solid"/>
                <a:headEnd type="none"/>
                <a:tailEnd type="none"/>
              </a:ln>
            </p:spPr>
            <p:txBody>
              <a:bodyPr vert="horz" wrap="square" lIns="91440" tIns="45720" rIns="91440" bIns="45720" rtlCol="0" anchor="t" anchorCtr="0"/>
              <a:lstStyle/>
              <a:p>
                <a:pPr algn="l">
                  <a:lnSpc>
                    <a:spcPct val="130000"/>
                  </a:lnSpc>
                  <a:defRPr/>
                </a:pPr>
                <a:r>
                  <a:rPr lang="en-US" sz="1200" b="0" i="0">
                    <a:solidFill>
                      <a:srgbClr val="FFFFFF">
                        <a:alpha val="100000"/>
                      </a:srgbClr>
                    </a:solidFill>
                    <a:latin typeface="思源黑体 CN Regular"/>
                    <a:ea typeface="思源黑体 CN Regular"/>
                    <a:cs typeface="思源黑体 CN Regular"/>
                  </a:rPr>
                  <a:t>平台作为环境信息公开的窗口，有助于提升政府环境治理的透明度与公信力，促进公众对环保工作的理解与支持。</a:t>
                </a:r>
                <a:endParaRPr lang="en-US" sz="1100"/>
              </a:p>
            </p:txBody>
          </p:sp>
          <p:sp>
            <p:nvSpPr>
              <p:cNvPr id="19" name="TextBox 19"/>
              <p:cNvSpPr txBox="1"/>
              <p:nvPr/>
            </p:nvSpPr>
            <p:spPr>
              <a:xfrm>
                <a:off x="7083426" y="1395413"/>
                <a:ext cx="727074" cy="727074"/>
              </a:xfrm>
              <a:prstGeom prst="rect">
                <a:avLst/>
              </a:prstGeom>
              <a:ln>
                <a:headEnd type="none"/>
                <a:tailEnd type="none"/>
              </a:ln>
            </p:spPr>
            <p:txBody>
              <a:bodyPr vert="horz" wrap="none" lIns="91440" tIns="45720" rIns="91440" bIns="45720" rtlCol="0" anchor="ctr" anchorCtr="0"/>
              <a:lstStyle/>
              <a:p>
                <a:pPr algn="ctr">
                  <a:defRPr/>
                </a:pPr>
                <a:r>
                  <a:rPr lang="en-US" sz="4000" b="1" i="0">
                    <a:solidFill>
                      <a:srgbClr val="FFFFFF">
                        <a:alpha val="100000"/>
                      </a:srgbClr>
                    </a:solidFill>
                    <a:latin typeface="Arial" panose="020B0604020202020204"/>
                    <a:ea typeface="Arial" panose="020B0604020202020204"/>
                    <a:cs typeface="Arial" panose="020B0604020202020204"/>
                  </a:rPr>
                  <a:t>03</a:t>
                </a:r>
                <a:endParaRPr lang="en-US" sz="1100"/>
              </a:p>
            </p:txBody>
          </p:sp>
        </p:grpSp>
        <p:grpSp>
          <p:nvGrpSpPr>
            <p:cNvPr id="20" name="Group 20"/>
            <p:cNvGrpSpPr/>
            <p:nvPr/>
          </p:nvGrpSpPr>
          <p:grpSpPr>
            <a:xfrm rot="0">
              <a:off x="8804276" y="1130300"/>
              <a:ext cx="2714625" cy="5003800"/>
              <a:chOff x="8804276" y="1130300"/>
              <a:chExt cx="2714625" cy="5003800"/>
            </a:xfrm>
          </p:grpSpPr>
          <p:sp>
            <p:nvSpPr>
              <p:cNvPr id="21" name="AutoShape 21"/>
              <p:cNvSpPr/>
              <p:nvPr/>
            </p:nvSpPr>
            <p:spPr>
              <a:xfrm>
                <a:off x="8804276" y="1130300"/>
                <a:ext cx="2714625" cy="5003800"/>
              </a:xfrm>
              <a:custGeom>
                <a:avLst/>
                <a:gdLst/>
                <a:ahLst/>
                <a:cxnLst/>
                <a:rect l="l" t="t" r="r" b="b"/>
                <a:pathLst>
                  <a:path w="2714625" h="5003800">
                    <a:moveTo>
                      <a:pt x="0" y="0"/>
                    </a:moveTo>
                    <a:lnTo>
                      <a:pt x="2714625" y="0"/>
                    </a:lnTo>
                    <a:lnTo>
                      <a:pt x="2714625" y="5003800"/>
                    </a:lnTo>
                    <a:lnTo>
                      <a:pt x="0" y="5003800"/>
                    </a:lnTo>
                    <a:close/>
                  </a:path>
                </a:pathLst>
              </a:custGeom>
              <a:solidFill>
                <a:srgbClr val="121420">
                  <a:alpha val="100000"/>
                </a:srgbClr>
              </a:solidFill>
              <a:ln>
                <a:prstDash val="solid"/>
                <a:headEnd type="none"/>
                <a:tailEnd type="none"/>
              </a:ln>
            </p:spPr>
          </p:sp>
          <p:sp>
            <p:nvSpPr>
              <p:cNvPr id="22" name="TextBox 22"/>
              <p:cNvSpPr txBox="1"/>
              <p:nvPr/>
            </p:nvSpPr>
            <p:spPr>
              <a:xfrm>
                <a:off x="8897939" y="2178050"/>
                <a:ext cx="2527299" cy="898818"/>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solidFill>
                      <a:srgbClr val="FFFFFF">
                        <a:alpha val="100000"/>
                      </a:srgbClr>
                    </a:solidFill>
                    <a:latin typeface="汉仪行楷简"/>
                    <a:ea typeface="汉仪行楷简"/>
                    <a:cs typeface="汉仪行楷简"/>
                  </a:rPr>
                  <a:t>激发社会共治</a:t>
                </a:r>
                <a:endParaRPr lang="en-US" sz="1100"/>
              </a:p>
            </p:txBody>
          </p:sp>
          <p:sp>
            <p:nvSpPr>
              <p:cNvPr id="23" name="TextBox 23"/>
              <p:cNvSpPr txBox="1"/>
              <p:nvPr/>
            </p:nvSpPr>
            <p:spPr>
              <a:xfrm>
                <a:off x="8897939" y="3076868"/>
                <a:ext cx="2527299" cy="2898482"/>
              </a:xfrm>
              <a:prstGeom prst="rect">
                <a:avLst/>
              </a:prstGeom>
              <a:ln>
                <a:prstDash val="solid"/>
                <a:headEnd type="none"/>
                <a:tailEnd type="none"/>
              </a:ln>
            </p:spPr>
            <p:txBody>
              <a:bodyPr vert="horz" wrap="square" lIns="91440" tIns="45720" rIns="91440" bIns="45720" rtlCol="0" anchor="t" anchorCtr="0"/>
              <a:lstStyle/>
              <a:p>
                <a:pPr algn="l">
                  <a:lnSpc>
                    <a:spcPct val="130000"/>
                  </a:lnSpc>
                  <a:defRPr/>
                </a:pPr>
                <a:r>
                  <a:rPr lang="en-US" sz="1200" b="0" i="0">
                    <a:solidFill>
                      <a:srgbClr val="FFFFFF">
                        <a:alpha val="100000"/>
                      </a:srgbClr>
                    </a:solidFill>
                    <a:latin typeface="思源黑体 CN Regular"/>
                    <a:ea typeface="思源黑体 CN Regular"/>
                    <a:cs typeface="思源黑体 CN Regular"/>
                  </a:rPr>
                  <a:t>通过数据的开放与共享，吸引公众、企业、社会组织等多元主体参与到空气质量改善行动中来，形成政府主导、社会协同、公众参与的良好治理格局。</a:t>
                </a:r>
                <a:endParaRPr lang="en-US" sz="1100"/>
              </a:p>
            </p:txBody>
          </p:sp>
          <p:sp>
            <p:nvSpPr>
              <p:cNvPr id="24" name="TextBox 24"/>
              <p:cNvSpPr txBox="1"/>
              <p:nvPr/>
            </p:nvSpPr>
            <p:spPr>
              <a:xfrm>
                <a:off x="9798051" y="1395413"/>
                <a:ext cx="727074" cy="727074"/>
              </a:xfrm>
              <a:prstGeom prst="rect">
                <a:avLst/>
              </a:prstGeom>
              <a:ln>
                <a:headEnd type="none"/>
                <a:tailEnd type="none"/>
              </a:ln>
            </p:spPr>
            <p:txBody>
              <a:bodyPr vert="horz" wrap="none" lIns="91440" tIns="45720" rIns="91440" bIns="45720" rtlCol="0" anchor="ctr" anchorCtr="0"/>
              <a:lstStyle/>
              <a:p>
                <a:pPr algn="ctr">
                  <a:defRPr/>
                </a:pPr>
                <a:r>
                  <a:rPr lang="en-US" sz="4000" b="1" i="0">
                    <a:solidFill>
                      <a:srgbClr val="FFFFFF">
                        <a:alpha val="100000"/>
                      </a:srgbClr>
                    </a:solidFill>
                    <a:latin typeface="Arial" panose="020B0604020202020204"/>
                    <a:ea typeface="Arial" panose="020B0604020202020204"/>
                    <a:cs typeface="Arial" panose="020B0604020202020204"/>
                  </a:rPr>
                  <a:t>04</a:t>
                </a:r>
                <a:endParaRPr lang="en-US" sz="1100"/>
              </a:p>
            </p:txBody>
          </p:sp>
        </p:grpSp>
      </p:grpSp>
      <p:sp>
        <p:nvSpPr>
          <p:cNvPr id="25" name="TextBox 25"/>
          <p:cNvSpPr txBox="1"/>
          <p:nvPr/>
        </p:nvSpPr>
        <p:spPr>
          <a:xfrm>
            <a:off x="1465006" y="304799"/>
            <a:ext cx="9760043" cy="723901"/>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3000" b="0" i="0">
                <a:solidFill>
                  <a:srgbClr val="FFFFFF">
                    <a:alpha val="100000"/>
                  </a:srgbClr>
                </a:solidFill>
                <a:latin typeface="汉仪行楷简"/>
                <a:ea typeface="汉仪行楷简"/>
                <a:cs typeface="汉仪行楷简"/>
              </a:rPr>
              <a:t>服务企业与社会</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09601" y="761816"/>
            <a:ext cx="4894826" cy="1744546"/>
          </a:xfrm>
          <a:prstGeom prst="rect">
            <a:avLst/>
          </a:prstGeom>
          <a:ln>
            <a:headEnd type="none"/>
            <a:tailEnd type="none"/>
          </a:ln>
        </p:spPr>
        <p:txBody>
          <a:bodyPr vert="horz" wrap="square" lIns="91440" tIns="45720" rIns="91440" bIns="45720" rtlCol="0" anchor="ctr" anchorCtr="0"/>
          <a:lstStyle/>
          <a:p>
            <a:pPr algn="l">
              <a:lnSpc>
                <a:spcPct val="100000"/>
              </a:lnSpc>
              <a:spcBef>
                <a:spcPts val="0"/>
              </a:spcBef>
              <a:defRPr/>
            </a:pPr>
            <a:r>
              <a:rPr lang="en-US" sz="4800" b="0" i="0">
                <a:solidFill>
                  <a:srgbClr val="FFFFFF">
                    <a:alpha val="100000"/>
                  </a:srgbClr>
                </a:solidFill>
                <a:latin typeface="汉仪行楷简"/>
                <a:ea typeface="汉仪行楷简"/>
                <a:cs typeface="汉仪行楷简"/>
              </a:rPr>
              <a:t>项目展示</a:t>
            </a:r>
            <a:endParaRPr lang="en-US" sz="1100"/>
          </a:p>
        </p:txBody>
      </p:sp>
      <p:sp>
        <p:nvSpPr>
          <p:cNvPr id="3" name="TextBox 3"/>
          <p:cNvSpPr txBox="1"/>
          <p:nvPr/>
        </p:nvSpPr>
        <p:spPr>
          <a:xfrm>
            <a:off x="660400" y="2133746"/>
            <a:ext cx="6802999" cy="589256"/>
          </a:xfrm>
          <a:prstGeom prst="rect">
            <a:avLst/>
          </a:prstGeom>
          <a:ln>
            <a:headEnd type="none"/>
            <a:tailEnd type="none"/>
          </a:ln>
        </p:spPr>
        <p:txBody>
          <a:bodyPr vert="horz" wrap="square" lIns="91440" tIns="45720" rIns="91440" bIns="45720" rtlCol="0" anchor="t" anchorCtr="0"/>
          <a:lstStyle/>
          <a:p>
            <a:pPr algn="l">
              <a:lnSpc>
                <a:spcPct val="120000"/>
              </a:lnSpc>
              <a:spcBef>
                <a:spcPts val="1000"/>
              </a:spcBef>
              <a:defRPr/>
            </a:pPr>
            <a:r>
              <a:rPr lang="en-US" sz="3200" b="0" i="0">
                <a:solidFill>
                  <a:srgbClr val="EBBA6F">
                    <a:alpha val="100000"/>
                  </a:srgbClr>
                </a:solidFill>
                <a:latin typeface="华文新魏" panose="02010800040101010101" charset="-122"/>
                <a:ea typeface="华文新魏" panose="02010800040101010101" charset="-122"/>
                <a:cs typeface="思源黑体 CN Regular"/>
              </a:rPr>
              <a:t>本章节将通过平台的核心界面与关键图表，直观展示「清穹智析」如何将复杂数据转化为生动的可视化呈现，并演示其强大的交互分析能力。</a:t>
            </a:r>
            <a:endParaRPr lang="en-US" sz="1100">
              <a:latin typeface="华文新魏" panose="02010800040101010101" charset="-122"/>
              <a:ea typeface="华文新魏" panose="02010800040101010101" charset="-122"/>
            </a:endParaRPr>
          </a:p>
        </p:txBody>
      </p:sp>
      <p:sp>
        <p:nvSpPr>
          <p:cNvPr id="4" name="TextBox 4"/>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solidFill>
                  <a:srgbClr val="FFFFFF">
                    <a:alpha val="100000"/>
                    <a:tint val="75000"/>
                  </a:srgbClr>
                </a:solidFill>
                <a:latin typeface="Average"/>
                <a:ea typeface="Average"/>
                <a:cs typeface="Average"/>
              </a:rPr>
              <a:t>3</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8f55749d-58bc-43fa-9c5e-7c2ac3c9bf15"/>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solidFill>
                  <a:srgbClr val="FFFFFF">
                    <a:alpha val="100000"/>
                    <a:tint val="75000"/>
                  </a:srgbClr>
                </a:solidFill>
                <a:latin typeface="Average"/>
                <a:ea typeface="Average"/>
                <a:cs typeface="Average"/>
              </a:rPr>
              <a:t>4</a:t>
            </a:r>
            <a:endParaRPr lang="en-US" sz="1100"/>
          </a:p>
        </p:txBody>
      </p:sp>
      <p:sp>
        <p:nvSpPr>
          <p:cNvPr id="18" name="TextBox 18"/>
          <p:cNvSpPr txBox="1"/>
          <p:nvPr/>
        </p:nvSpPr>
        <p:spPr>
          <a:xfrm>
            <a:off x="1465006" y="304799"/>
            <a:ext cx="9760043" cy="723901"/>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3000" b="0" i="0">
                <a:solidFill>
                  <a:srgbClr val="FFFFFF">
                    <a:alpha val="100000"/>
                  </a:srgbClr>
                </a:solidFill>
                <a:latin typeface="汉仪行楷简"/>
                <a:ea typeface="汉仪行楷简"/>
                <a:cs typeface="汉仪行楷简"/>
              </a:rPr>
              <a:t>平台首页概览</a:t>
            </a:r>
            <a:endParaRPr lang="en-US" sz="1100"/>
          </a:p>
        </p:txBody>
      </p:sp>
      <p:pic>
        <p:nvPicPr>
          <p:cNvPr id="20" name="图片 19"/>
          <p:cNvPicPr>
            <a:picLocks noChangeAspect="1"/>
          </p:cNvPicPr>
          <p:nvPr/>
        </p:nvPicPr>
        <p:blipFill>
          <a:blip r:embed="rId1"/>
          <a:stretch>
            <a:fillRect/>
          </a:stretch>
        </p:blipFill>
        <p:spPr>
          <a:xfrm>
            <a:off x="2514600" y="1066800"/>
            <a:ext cx="6163945" cy="579183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359535" y="1066800"/>
            <a:ext cx="9701530" cy="5761355"/>
          </a:xfrm>
          <a:prstGeom prst="rect">
            <a:avLst/>
          </a:prstGeom>
        </p:spPr>
      </p:pic>
      <p:sp>
        <p:nvSpPr>
          <p:cNvPr id="3" name="文本框 2"/>
          <p:cNvSpPr txBox="1"/>
          <p:nvPr/>
        </p:nvSpPr>
        <p:spPr>
          <a:xfrm>
            <a:off x="1600200" y="304800"/>
            <a:ext cx="4064000" cy="706755"/>
          </a:xfrm>
          <a:prstGeom prst="rect">
            <a:avLst/>
          </a:prstGeom>
          <a:noFill/>
        </p:spPr>
        <p:txBody>
          <a:bodyPr wrap="square" rtlCol="0">
            <a:spAutoFit/>
          </a:bodyPr>
          <a:p>
            <a:r>
              <a:rPr lang="zh-CN" altLang="en-US" sz="4000">
                <a:solidFill>
                  <a:schemeClr val="tx2">
                    <a:lumMod val="20000"/>
                    <a:lumOff val="80000"/>
                  </a:schemeClr>
                </a:solidFill>
                <a:sym typeface="+mn-ea"/>
              </a:rPr>
              <a:t>板块界面展示</a:t>
            </a:r>
            <a:endParaRPr lang="zh-CN" altLang="en-US" sz="4000">
              <a:solidFill>
                <a:schemeClr val="tx2">
                  <a:lumMod val="20000"/>
                  <a:lumOff val="80000"/>
                </a:scheme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219200" y="1066800"/>
            <a:ext cx="9767570" cy="5788660"/>
          </a:xfrm>
          <a:prstGeom prst="rect">
            <a:avLst/>
          </a:prstGeom>
        </p:spPr>
      </p:pic>
      <p:sp>
        <p:nvSpPr>
          <p:cNvPr id="3" name="文本框 2"/>
          <p:cNvSpPr txBox="1"/>
          <p:nvPr/>
        </p:nvSpPr>
        <p:spPr>
          <a:xfrm>
            <a:off x="4927600" y="625475"/>
            <a:ext cx="4064000" cy="368300"/>
          </a:xfrm>
          <a:prstGeom prst="rect">
            <a:avLst/>
          </a:prstGeom>
          <a:noFill/>
        </p:spPr>
        <p:txBody>
          <a:bodyPr wrap="square" rtlCol="0">
            <a:spAutoFit/>
          </a:bodyPr>
          <a:p>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685800" y="990600"/>
            <a:ext cx="10980420" cy="584771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39700" y="0"/>
            <a:ext cx="5740400" cy="6924675"/>
          </a:xfrm>
          <a:prstGeom prst="rect">
            <a:avLst/>
          </a:prstGeom>
        </p:spPr>
      </p:pic>
      <p:sp>
        <p:nvSpPr>
          <p:cNvPr id="5" name="文本框 4"/>
          <p:cNvSpPr txBox="1"/>
          <p:nvPr/>
        </p:nvSpPr>
        <p:spPr>
          <a:xfrm>
            <a:off x="5791200" y="305435"/>
            <a:ext cx="6096000" cy="521970"/>
          </a:xfrm>
          <a:prstGeom prst="rect">
            <a:avLst/>
          </a:prstGeom>
          <a:noFill/>
        </p:spPr>
        <p:txBody>
          <a:bodyPr wrap="square" rtlCol="0">
            <a:spAutoFit/>
          </a:bodyPr>
          <a:p>
            <a:r>
              <a:rPr lang="en-US" altLang="zh-CN" sz="2800">
                <a:solidFill>
                  <a:schemeClr val="tx2">
                    <a:lumMod val="20000"/>
                    <a:lumOff val="80000"/>
                  </a:schemeClr>
                </a:solidFill>
                <a:sym typeface="+mn-ea"/>
              </a:rPr>
              <a:t>Ai</a:t>
            </a:r>
            <a:r>
              <a:rPr lang="zh-CN" altLang="en-US" sz="2800">
                <a:solidFill>
                  <a:schemeClr val="tx2">
                    <a:lumMod val="20000"/>
                    <a:lumOff val="80000"/>
                  </a:schemeClr>
                </a:solidFill>
                <a:sym typeface="+mn-ea"/>
              </a:rPr>
              <a:t>智慧小助手</a:t>
            </a:r>
            <a:endParaRPr lang="zh-CN" altLang="en-US" sz="2800">
              <a:solidFill>
                <a:schemeClr val="tx2">
                  <a:lumMod val="20000"/>
                  <a:lumOff val="80000"/>
                </a:schemeClr>
              </a:solidFill>
            </a:endParaRPr>
          </a:p>
        </p:txBody>
      </p:sp>
      <p:pic>
        <p:nvPicPr>
          <p:cNvPr id="6" name="图片 5"/>
          <p:cNvPicPr>
            <a:picLocks noChangeAspect="1"/>
          </p:cNvPicPr>
          <p:nvPr/>
        </p:nvPicPr>
        <p:blipFill>
          <a:blip r:embed="rId2"/>
          <a:stretch>
            <a:fillRect/>
          </a:stretch>
        </p:blipFill>
        <p:spPr>
          <a:xfrm>
            <a:off x="6400800" y="1062355"/>
            <a:ext cx="4355465" cy="579564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828800" y="1066800"/>
            <a:ext cx="8764905" cy="5791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371600" y="1066800"/>
            <a:ext cx="9836150" cy="574992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493520" y="1066800"/>
            <a:ext cx="9716135" cy="57912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143000" y="38735"/>
            <a:ext cx="9911080" cy="681926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81000" y="1066800"/>
            <a:ext cx="5807710" cy="5724525"/>
          </a:xfrm>
          <a:prstGeom prst="rect">
            <a:avLst/>
          </a:prstGeom>
        </p:spPr>
      </p:pic>
      <p:pic>
        <p:nvPicPr>
          <p:cNvPr id="2" name="图片 1"/>
          <p:cNvPicPr>
            <a:picLocks noChangeAspect="1"/>
          </p:cNvPicPr>
          <p:nvPr/>
        </p:nvPicPr>
        <p:blipFill>
          <a:blip r:embed="rId2"/>
          <a:stretch>
            <a:fillRect/>
          </a:stretch>
        </p:blipFill>
        <p:spPr>
          <a:xfrm>
            <a:off x="6188075" y="1066800"/>
            <a:ext cx="5706745" cy="57912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00e60176-7c1b-4149-8a44-57be68f1c0b4"/>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solidFill>
                  <a:srgbClr val="FFFFFF">
                    <a:alpha val="100000"/>
                    <a:tint val="75000"/>
                  </a:srgbClr>
                </a:solidFill>
                <a:latin typeface="Average"/>
                <a:ea typeface="Average"/>
                <a:cs typeface="Average"/>
              </a:rPr>
              <a:t>4</a:t>
            </a:r>
            <a:endParaRPr lang="en-US" sz="1100"/>
          </a:p>
        </p:txBody>
      </p:sp>
      <p:grpSp>
        <p:nvGrpSpPr>
          <p:cNvPr id="3" name="Group 3"/>
          <p:cNvGrpSpPr/>
          <p:nvPr/>
        </p:nvGrpSpPr>
        <p:grpSpPr>
          <a:xfrm rot="0">
            <a:off x="660399" y="1130300"/>
            <a:ext cx="10858500" cy="5003801"/>
            <a:chOff x="660399" y="1130300"/>
            <a:chExt cx="10858500" cy="5003801"/>
          </a:xfrm>
        </p:grpSpPr>
        <p:sp>
          <p:nvSpPr>
            <p:cNvPr id="4" name="AutoShape 4"/>
            <p:cNvSpPr/>
            <p:nvPr/>
          </p:nvSpPr>
          <p:spPr>
            <a:xfrm>
              <a:off x="1231177" y="2197102"/>
              <a:ext cx="7837423" cy="0"/>
            </a:xfrm>
            <a:prstGeom prst="line">
              <a:avLst/>
            </a:prstGeom>
            <a:ln w="6350">
              <a:solidFill>
                <a:srgbClr val="EBBA6F">
                  <a:alpha val="100000"/>
                </a:srgbClr>
              </a:solidFill>
              <a:prstDash val="solid"/>
              <a:headEnd type="none"/>
              <a:tailEnd type="none"/>
            </a:ln>
          </p:spPr>
        </p:sp>
        <p:sp>
          <p:nvSpPr>
            <p:cNvPr id="5" name="AutoShape 5"/>
            <p:cNvSpPr/>
            <p:nvPr/>
          </p:nvSpPr>
          <p:spPr>
            <a:xfrm>
              <a:off x="660399" y="2616205"/>
              <a:ext cx="10858500" cy="3517896"/>
            </a:xfrm>
            <a:prstGeom prst="roundRect">
              <a:avLst>
                <a:gd name="adj" fmla="val 0"/>
              </a:avLst>
            </a:prstGeom>
            <a:ln w="12700">
              <a:solidFill>
                <a:srgbClr val="EBBA6F">
                  <a:alpha val="100000"/>
                </a:srgbClr>
              </a:solidFill>
              <a:headEnd type="none"/>
              <a:tailEnd type="none"/>
            </a:ln>
          </p:spPr>
        </p:sp>
        <p:sp>
          <p:nvSpPr>
            <p:cNvPr id="6" name="TextBox 6"/>
            <p:cNvSpPr txBox="1"/>
            <p:nvPr/>
          </p:nvSpPr>
          <p:spPr>
            <a:xfrm flipH="1">
              <a:off x="660399" y="1130300"/>
              <a:ext cx="10858500" cy="647698"/>
            </a:xfrm>
            <a:prstGeom prst="rect">
              <a:avLst/>
            </a:prstGeom>
            <a:ln>
              <a:headEnd type="none"/>
              <a:tailEnd type="none"/>
            </a:ln>
          </p:spPr>
          <p:txBody>
            <a:bodyPr vert="horz" wrap="square" lIns="91440" tIns="45720" rIns="91440" bIns="45720" rtlCol="0" anchor="ctr" anchorCtr="0"/>
            <a:lstStyle/>
            <a:p>
              <a:pPr algn="l">
                <a:defRPr/>
              </a:pPr>
              <a:r>
                <a:rPr lang="en-US" sz="2400" b="1" i="0">
                  <a:solidFill>
                    <a:srgbClr val="FFFFFF">
                      <a:alpha val="100000"/>
                    </a:srgbClr>
                  </a:solidFill>
                  <a:latin typeface="汉仪行楷简"/>
                  <a:ea typeface="汉仪行楷简"/>
                  <a:cs typeface="汉仪行楷简"/>
                </a:rPr>
                <a:t>多维视角，洞察数据背后的深层关联</a:t>
              </a:r>
              <a:endParaRPr lang="en-US" sz="1100"/>
            </a:p>
          </p:txBody>
        </p:sp>
        <p:grpSp>
          <p:nvGrpSpPr>
            <p:cNvPr id="7" name="Group 7"/>
            <p:cNvGrpSpPr/>
            <p:nvPr/>
          </p:nvGrpSpPr>
          <p:grpSpPr>
            <a:xfrm rot="0">
              <a:off x="747173" y="2003252"/>
              <a:ext cx="2466520" cy="4056788"/>
              <a:chOff x="747173" y="2003252"/>
              <a:chExt cx="2466520" cy="4056788"/>
            </a:xfrm>
          </p:grpSpPr>
          <p:sp>
            <p:nvSpPr>
              <p:cNvPr id="8" name="TextBox 8"/>
              <p:cNvSpPr txBox="1"/>
              <p:nvPr/>
            </p:nvSpPr>
            <p:spPr>
              <a:xfrm>
                <a:off x="843477" y="2003252"/>
                <a:ext cx="387700" cy="387700"/>
              </a:xfrm>
              <a:prstGeom prst="rect">
                <a:avLst/>
              </a:prstGeom>
              <a:solidFill>
                <a:srgbClr val="EBBA6F">
                  <a:alpha val="94901"/>
                  <a:lumMod val="75000"/>
                </a:srgbClr>
              </a:solidFill>
              <a:ln>
                <a:headEnd type="none"/>
                <a:tailEnd type="none"/>
              </a:ln>
            </p:spPr>
            <p:txBody>
              <a:bodyPr vert="horz" wrap="none" lIns="68575" tIns="34275" rIns="68575" bIns="34275" rtlCol="0" anchor="ctr" anchorCtr="0"/>
              <a:lstStyle/>
              <a:p>
                <a:pPr algn="ctr">
                  <a:defRPr/>
                </a:pPr>
                <a:r>
                  <a:rPr lang="en-US" sz="1400" b="1" i="0">
                    <a:solidFill>
                      <a:srgbClr val="FFFFFF">
                        <a:alpha val="100000"/>
                      </a:srgbClr>
                    </a:solidFill>
                    <a:latin typeface="Arial" panose="020B0604020202020204"/>
                    <a:ea typeface="Arial" panose="020B0604020202020204"/>
                    <a:cs typeface="Arial" panose="020B0604020202020204"/>
                  </a:rPr>
                  <a:t>1</a:t>
                </a:r>
                <a:endParaRPr lang="en-US" sz="1100"/>
              </a:p>
            </p:txBody>
          </p:sp>
          <p:sp>
            <p:nvSpPr>
              <p:cNvPr id="9" name="TextBox 9"/>
              <p:cNvSpPr txBox="1"/>
              <p:nvPr/>
            </p:nvSpPr>
            <p:spPr>
              <a:xfrm>
                <a:off x="747173" y="2738762"/>
                <a:ext cx="2466520" cy="1305947"/>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800" b="1" i="0">
                    <a:solidFill>
                      <a:srgbClr val="FFFFFF">
                        <a:alpha val="100000"/>
                      </a:srgbClr>
                    </a:solidFill>
                    <a:latin typeface="汉仪行楷简"/>
                    <a:ea typeface="汉仪行楷简"/>
                    <a:cs typeface="汉仪行楷简"/>
                  </a:rPr>
                  <a:t>中国地图</a:t>
                </a:r>
                <a:endParaRPr lang="en-US" sz="1100"/>
              </a:p>
            </p:txBody>
          </p:sp>
          <p:sp>
            <p:nvSpPr>
              <p:cNvPr id="10" name="TextBox 10"/>
              <p:cNvSpPr txBox="1"/>
              <p:nvPr/>
            </p:nvSpPr>
            <p:spPr>
              <a:xfrm>
                <a:off x="748698" y="4044710"/>
                <a:ext cx="2461817" cy="2015330"/>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solidFill>
                      <a:srgbClr val="FFFFFF">
                        <a:alpha val="100000"/>
                      </a:srgbClr>
                    </a:solidFill>
                    <a:latin typeface="思源黑体 CN Regular"/>
                    <a:ea typeface="思源黑体 CN Regular"/>
                    <a:cs typeface="思源黑体 CN Regular"/>
                  </a:rPr>
                  <a:t>动态展示全国各省AQI分布，利用视觉映射（Visual Map）技术，将AQI值直观地映射为地图区域的颜色梯度，实现宏观态势一目了然。</a:t>
                </a:r>
                <a:endParaRPr lang="en-US" sz="1100"/>
              </a:p>
            </p:txBody>
          </p:sp>
        </p:grpSp>
        <p:grpSp>
          <p:nvGrpSpPr>
            <p:cNvPr id="11" name="Group 11"/>
            <p:cNvGrpSpPr/>
            <p:nvPr/>
          </p:nvGrpSpPr>
          <p:grpSpPr>
            <a:xfrm rot="0">
              <a:off x="3488881" y="2003252"/>
              <a:ext cx="2466520" cy="4056788"/>
              <a:chOff x="3488881" y="2003252"/>
              <a:chExt cx="2466520" cy="4056788"/>
            </a:xfrm>
          </p:grpSpPr>
          <p:sp>
            <p:nvSpPr>
              <p:cNvPr id="12" name="TextBox 12"/>
              <p:cNvSpPr txBox="1"/>
              <p:nvPr/>
            </p:nvSpPr>
            <p:spPr>
              <a:xfrm>
                <a:off x="3585185" y="2003252"/>
                <a:ext cx="387700" cy="387700"/>
              </a:xfrm>
              <a:prstGeom prst="rect">
                <a:avLst/>
              </a:prstGeom>
              <a:solidFill>
                <a:srgbClr val="EBBA6F">
                  <a:alpha val="94901"/>
                  <a:lumMod val="75000"/>
                </a:srgbClr>
              </a:solidFill>
              <a:ln>
                <a:headEnd type="none"/>
                <a:tailEnd type="none"/>
              </a:ln>
            </p:spPr>
            <p:txBody>
              <a:bodyPr vert="horz" wrap="none" lIns="68575" tIns="34275" rIns="68575" bIns="34275" rtlCol="0" anchor="ctr" anchorCtr="0"/>
              <a:lstStyle/>
              <a:p>
                <a:pPr algn="ctr">
                  <a:defRPr/>
                </a:pPr>
                <a:r>
                  <a:rPr lang="en-US" sz="1400" b="1" i="0">
                    <a:solidFill>
                      <a:srgbClr val="FFFFFF">
                        <a:alpha val="100000"/>
                      </a:srgbClr>
                    </a:solidFill>
                    <a:latin typeface="Arial" panose="020B0604020202020204"/>
                    <a:ea typeface="Arial" panose="020B0604020202020204"/>
                    <a:cs typeface="Arial" panose="020B0604020202020204"/>
                  </a:rPr>
                  <a:t>2</a:t>
                </a:r>
                <a:endParaRPr lang="en-US" sz="1100"/>
              </a:p>
            </p:txBody>
          </p:sp>
          <p:sp>
            <p:nvSpPr>
              <p:cNvPr id="13" name="TextBox 13"/>
              <p:cNvSpPr txBox="1"/>
              <p:nvPr/>
            </p:nvSpPr>
            <p:spPr>
              <a:xfrm>
                <a:off x="3488881" y="2738762"/>
                <a:ext cx="2466520" cy="1305947"/>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800" b="1" i="0">
                    <a:solidFill>
                      <a:srgbClr val="FFFFFF">
                        <a:alpha val="100000"/>
                      </a:srgbClr>
                    </a:solidFill>
                    <a:latin typeface="汉仪行楷简"/>
                    <a:ea typeface="汉仪行楷简"/>
                    <a:cs typeface="汉仪行楷简"/>
                  </a:rPr>
                  <a:t>桑基图</a:t>
                </a:r>
                <a:endParaRPr lang="en-US" sz="1100"/>
              </a:p>
            </p:txBody>
          </p:sp>
          <p:sp>
            <p:nvSpPr>
              <p:cNvPr id="14" name="TextBox 14"/>
              <p:cNvSpPr txBox="1"/>
              <p:nvPr/>
            </p:nvSpPr>
            <p:spPr>
              <a:xfrm>
                <a:off x="3490406" y="4044710"/>
                <a:ext cx="2461817" cy="2015330"/>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solidFill>
                      <a:srgbClr val="FFFFFF">
                        <a:alpha val="100000"/>
                      </a:srgbClr>
                    </a:solidFill>
                    <a:latin typeface="思源黑体 CN Regular"/>
                    <a:ea typeface="思源黑体 CN Regular"/>
                    <a:cs typeface="思源黑体 CN Regular"/>
                  </a:rPr>
                  <a:t>清晰展示污染物从主要排放源（工业、交通、生活等）到最终污染物（PM2.5、NO2等）的流向与贡献比例，揭示污染成因。</a:t>
                </a:r>
                <a:endParaRPr lang="en-US" sz="1100"/>
              </a:p>
            </p:txBody>
          </p:sp>
        </p:grpSp>
        <p:grpSp>
          <p:nvGrpSpPr>
            <p:cNvPr id="15" name="Group 15"/>
            <p:cNvGrpSpPr/>
            <p:nvPr/>
          </p:nvGrpSpPr>
          <p:grpSpPr>
            <a:xfrm rot="0">
              <a:off x="6230589" y="2003252"/>
              <a:ext cx="2466520" cy="4056788"/>
              <a:chOff x="6230589" y="2003252"/>
              <a:chExt cx="2466520" cy="4056788"/>
            </a:xfrm>
          </p:grpSpPr>
          <p:sp>
            <p:nvSpPr>
              <p:cNvPr id="16" name="TextBox 16"/>
              <p:cNvSpPr txBox="1"/>
              <p:nvPr/>
            </p:nvSpPr>
            <p:spPr>
              <a:xfrm>
                <a:off x="6326893" y="2003252"/>
                <a:ext cx="387700" cy="387700"/>
              </a:xfrm>
              <a:prstGeom prst="rect">
                <a:avLst/>
              </a:prstGeom>
              <a:solidFill>
                <a:srgbClr val="EBBA6F">
                  <a:alpha val="94901"/>
                  <a:lumMod val="75000"/>
                </a:srgbClr>
              </a:solidFill>
              <a:ln>
                <a:headEnd type="none"/>
                <a:tailEnd type="none"/>
              </a:ln>
            </p:spPr>
            <p:txBody>
              <a:bodyPr vert="horz" wrap="none" lIns="68575" tIns="34275" rIns="68575" bIns="34275" rtlCol="0" anchor="ctr" anchorCtr="0"/>
              <a:lstStyle/>
              <a:p>
                <a:pPr algn="ctr">
                  <a:defRPr/>
                </a:pPr>
                <a:r>
                  <a:rPr lang="en-US" sz="1400" b="1" i="0">
                    <a:solidFill>
                      <a:srgbClr val="FFFFFF">
                        <a:alpha val="100000"/>
                      </a:srgbClr>
                    </a:solidFill>
                    <a:latin typeface="Arial" panose="020B0604020202020204"/>
                    <a:ea typeface="Arial" panose="020B0604020202020204"/>
                    <a:cs typeface="Arial" panose="020B0604020202020204"/>
                  </a:rPr>
                  <a:t>3</a:t>
                </a:r>
                <a:endParaRPr lang="en-US" sz="1100"/>
              </a:p>
            </p:txBody>
          </p:sp>
          <p:sp>
            <p:nvSpPr>
              <p:cNvPr id="17" name="TextBox 17"/>
              <p:cNvSpPr txBox="1"/>
              <p:nvPr/>
            </p:nvSpPr>
            <p:spPr>
              <a:xfrm>
                <a:off x="6230589" y="2738762"/>
                <a:ext cx="2466520" cy="1305947"/>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800" b="1" i="0">
                    <a:solidFill>
                      <a:srgbClr val="FFFFFF">
                        <a:alpha val="100000"/>
                      </a:srgbClr>
                    </a:solidFill>
                    <a:latin typeface="汉仪行楷简"/>
                    <a:ea typeface="汉仪行楷简"/>
                    <a:cs typeface="汉仪行楷简"/>
                  </a:rPr>
                  <a:t>旭日图</a:t>
                </a:r>
                <a:endParaRPr lang="en-US" sz="1100"/>
              </a:p>
            </p:txBody>
          </p:sp>
          <p:sp>
            <p:nvSpPr>
              <p:cNvPr id="18" name="TextBox 18"/>
              <p:cNvSpPr txBox="1"/>
              <p:nvPr/>
            </p:nvSpPr>
            <p:spPr>
              <a:xfrm>
                <a:off x="6232114" y="4044710"/>
                <a:ext cx="2461817" cy="2015330"/>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solidFill>
                      <a:srgbClr val="FFFFFF">
                        <a:alpha val="100000"/>
                      </a:srgbClr>
                    </a:solidFill>
                    <a:latin typeface="思源黑体 CN Regular"/>
                    <a:ea typeface="思源黑体 CN Regular"/>
                    <a:cs typeface="思源黑体 CN Regular"/>
                  </a:rPr>
                  <a:t>以层级结构展示全国各区域、各省、重点城市的污染物浓度构成，支持层层钻取，深入分析区域差异。</a:t>
                </a:r>
                <a:endParaRPr lang="en-US" sz="1100"/>
              </a:p>
            </p:txBody>
          </p:sp>
        </p:grpSp>
        <p:grpSp>
          <p:nvGrpSpPr>
            <p:cNvPr id="19" name="Group 19"/>
            <p:cNvGrpSpPr/>
            <p:nvPr/>
          </p:nvGrpSpPr>
          <p:grpSpPr>
            <a:xfrm rot="0">
              <a:off x="8972296" y="2003252"/>
              <a:ext cx="2466520" cy="4056788"/>
              <a:chOff x="8972296" y="2003252"/>
              <a:chExt cx="2466520" cy="4056788"/>
            </a:xfrm>
          </p:grpSpPr>
          <p:sp>
            <p:nvSpPr>
              <p:cNvPr id="20" name="TextBox 20"/>
              <p:cNvSpPr txBox="1"/>
              <p:nvPr/>
            </p:nvSpPr>
            <p:spPr>
              <a:xfrm>
                <a:off x="9068600" y="2003252"/>
                <a:ext cx="387700" cy="387700"/>
              </a:xfrm>
              <a:prstGeom prst="rect">
                <a:avLst/>
              </a:prstGeom>
              <a:solidFill>
                <a:srgbClr val="EBBA6F">
                  <a:alpha val="94901"/>
                  <a:lumMod val="75000"/>
                </a:srgbClr>
              </a:solidFill>
              <a:ln>
                <a:headEnd type="none"/>
                <a:tailEnd type="none"/>
              </a:ln>
            </p:spPr>
            <p:txBody>
              <a:bodyPr vert="horz" wrap="none" lIns="68575" tIns="34275" rIns="68575" bIns="34275" rtlCol="0" anchor="ctr" anchorCtr="0"/>
              <a:lstStyle/>
              <a:p>
                <a:pPr algn="ctr">
                  <a:defRPr/>
                </a:pPr>
                <a:r>
                  <a:rPr lang="en-US" sz="1400" b="1" i="0">
                    <a:solidFill>
                      <a:srgbClr val="FFFFFF">
                        <a:alpha val="100000"/>
                      </a:srgbClr>
                    </a:solidFill>
                    <a:latin typeface="Arial" panose="020B0604020202020204"/>
                    <a:ea typeface="Arial" panose="020B0604020202020204"/>
                    <a:cs typeface="Arial" panose="020B0604020202020204"/>
                  </a:rPr>
                  <a:t>4</a:t>
                </a:r>
                <a:endParaRPr lang="en-US" sz="1100"/>
              </a:p>
            </p:txBody>
          </p:sp>
          <p:sp>
            <p:nvSpPr>
              <p:cNvPr id="21" name="TextBox 21"/>
              <p:cNvSpPr txBox="1"/>
              <p:nvPr/>
            </p:nvSpPr>
            <p:spPr>
              <a:xfrm>
                <a:off x="8972296" y="2738762"/>
                <a:ext cx="2466520" cy="1305947"/>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800" b="1" i="0">
                    <a:solidFill>
                      <a:srgbClr val="FFFFFF">
                        <a:alpha val="100000"/>
                      </a:srgbClr>
                    </a:solidFill>
                    <a:latin typeface="汉仪行楷简"/>
                    <a:ea typeface="汉仪行楷简"/>
                    <a:cs typeface="汉仪行楷简"/>
                  </a:rPr>
                  <a:t>关系图</a:t>
                </a:r>
                <a:endParaRPr lang="en-US" sz="1100"/>
              </a:p>
            </p:txBody>
          </p:sp>
          <p:sp>
            <p:nvSpPr>
              <p:cNvPr id="22" name="TextBox 22"/>
              <p:cNvSpPr txBox="1"/>
              <p:nvPr/>
            </p:nvSpPr>
            <p:spPr>
              <a:xfrm>
                <a:off x="8973821" y="4044710"/>
                <a:ext cx="2461817" cy="2015330"/>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solidFill>
                      <a:srgbClr val="FFFFFF">
                        <a:alpha val="100000"/>
                      </a:srgbClr>
                    </a:solidFill>
                    <a:latin typeface="思源黑体 CN Regular"/>
                    <a:ea typeface="思源黑体 CN Regular"/>
                    <a:cs typeface="思源黑体 CN Regular"/>
                  </a:rPr>
                  <a:t>模拟不同城市间的污染传输关系与强度，利用力导向布局算法，动态展示复杂的区域大气污染关联网络。</a:t>
                </a:r>
                <a:endParaRPr lang="en-US" sz="1100"/>
              </a:p>
            </p:txBody>
          </p:sp>
        </p:grpSp>
      </p:grpSp>
      <p:sp>
        <p:nvSpPr>
          <p:cNvPr id="23" name="TextBox 23"/>
          <p:cNvSpPr txBox="1"/>
          <p:nvPr/>
        </p:nvSpPr>
        <p:spPr>
          <a:xfrm>
            <a:off x="1465006" y="304799"/>
            <a:ext cx="9760043" cy="723901"/>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3000" b="0" i="0">
                <a:solidFill>
                  <a:srgbClr val="FFFFFF">
                    <a:alpha val="100000"/>
                  </a:srgbClr>
                </a:solidFill>
                <a:latin typeface="汉仪行楷简"/>
                <a:ea typeface="汉仪行楷简"/>
                <a:cs typeface="汉仪行楷简"/>
              </a:rPr>
              <a:t>核心图表解析</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60401" y="761816"/>
            <a:ext cx="4894826" cy="1744546"/>
          </a:xfrm>
          <a:prstGeom prst="rect">
            <a:avLst/>
          </a:prstGeom>
          <a:ln>
            <a:headEnd type="none"/>
            <a:tailEnd type="none"/>
          </a:ln>
        </p:spPr>
        <p:txBody>
          <a:bodyPr vert="horz" wrap="square" lIns="91440" tIns="45720" rIns="91440" bIns="45720" rtlCol="0" anchor="ctr" anchorCtr="0"/>
          <a:lstStyle/>
          <a:p>
            <a:pPr algn="l">
              <a:lnSpc>
                <a:spcPct val="100000"/>
              </a:lnSpc>
              <a:spcBef>
                <a:spcPts val="0"/>
              </a:spcBef>
              <a:defRPr/>
            </a:pPr>
            <a:r>
              <a:rPr lang="en-US" sz="4800" b="0" i="0">
                <a:solidFill>
                  <a:srgbClr val="FFFFFF">
                    <a:alpha val="100000"/>
                  </a:srgbClr>
                </a:solidFill>
                <a:latin typeface="汉仪行楷简"/>
                <a:ea typeface="汉仪行楷简"/>
                <a:cs typeface="汉仪行楷简"/>
              </a:rPr>
              <a:t>项目总结</a:t>
            </a:r>
            <a:endParaRPr lang="en-US" sz="1100"/>
          </a:p>
        </p:txBody>
      </p:sp>
      <p:sp>
        <p:nvSpPr>
          <p:cNvPr id="3" name="TextBox 3"/>
          <p:cNvSpPr txBox="1"/>
          <p:nvPr/>
        </p:nvSpPr>
        <p:spPr>
          <a:xfrm>
            <a:off x="685800" y="2057546"/>
            <a:ext cx="6802999" cy="589256"/>
          </a:xfrm>
          <a:prstGeom prst="rect">
            <a:avLst/>
          </a:prstGeom>
          <a:ln>
            <a:headEnd type="none"/>
            <a:tailEnd type="none"/>
          </a:ln>
        </p:spPr>
        <p:txBody>
          <a:bodyPr vert="horz" wrap="square" lIns="91440" tIns="45720" rIns="91440" bIns="45720" rtlCol="0" anchor="t" anchorCtr="0"/>
          <a:lstStyle/>
          <a:p>
            <a:pPr algn="l">
              <a:lnSpc>
                <a:spcPct val="120000"/>
              </a:lnSpc>
              <a:spcBef>
                <a:spcPts val="1000"/>
              </a:spcBef>
              <a:defRPr/>
            </a:pPr>
            <a:r>
              <a:rPr lang="en-US" sz="3200" b="0" i="0">
                <a:solidFill>
                  <a:srgbClr val="EBBA6F">
                    <a:alpha val="100000"/>
                  </a:srgbClr>
                </a:solidFill>
                <a:latin typeface="华文新魏" panose="02010800040101010101" charset="-122"/>
                <a:ea typeface="华文新魏" panose="02010800040101010101" charset="-122"/>
                <a:cs typeface="思源黑体 CN Regular"/>
              </a:rPr>
              <a:t>本章节将对「清穹智析」可视化平台的核心优势进行总结，并基于当前成果，探讨平台未来在数据深度、功能拓展和技术升级等方面的演进方向。</a:t>
            </a:r>
            <a:endParaRPr lang="en-US" sz="1100">
              <a:latin typeface="华文新魏" panose="02010800040101010101" charset="-122"/>
              <a:ea typeface="华文新魏" panose="02010800040101010101" charset="-122"/>
            </a:endParaRPr>
          </a:p>
        </p:txBody>
      </p:sp>
      <p:sp>
        <p:nvSpPr>
          <p:cNvPr id="4" name="TextBox 4"/>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solidFill>
                  <a:srgbClr val="FFFFFF">
                    <a:alpha val="100000"/>
                    <a:tint val="75000"/>
                  </a:srgbClr>
                </a:solidFill>
                <a:latin typeface="Average"/>
                <a:ea typeface="Average"/>
                <a:cs typeface="Average"/>
              </a:rPr>
              <a:t>3</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b933450-f563-4efc-a51c-094ae0661d7d"/>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solidFill>
                  <a:srgbClr val="FFFFFF">
                    <a:alpha val="100000"/>
                    <a:tint val="75000"/>
                  </a:srgbClr>
                </a:solidFill>
                <a:latin typeface="Average"/>
                <a:ea typeface="Average"/>
                <a:cs typeface="Average"/>
              </a:rPr>
              <a:t>4</a:t>
            </a:r>
            <a:endParaRPr lang="en-US" sz="1100"/>
          </a:p>
        </p:txBody>
      </p:sp>
      <p:grpSp>
        <p:nvGrpSpPr>
          <p:cNvPr id="3" name="Group 3"/>
          <p:cNvGrpSpPr/>
          <p:nvPr/>
        </p:nvGrpSpPr>
        <p:grpSpPr>
          <a:xfrm rot="0">
            <a:off x="762001" y="1619084"/>
            <a:ext cx="9965770" cy="4323106"/>
            <a:chOff x="762001" y="1619084"/>
            <a:chExt cx="9965770" cy="4323106"/>
          </a:xfrm>
        </p:grpSpPr>
        <p:grpSp>
          <p:nvGrpSpPr>
            <p:cNvPr id="4" name="Group 4"/>
            <p:cNvGrpSpPr/>
            <p:nvPr/>
          </p:nvGrpSpPr>
          <p:grpSpPr>
            <a:xfrm rot="0">
              <a:off x="3953686" y="1619084"/>
              <a:ext cx="2058169" cy="4323106"/>
              <a:chOff x="3953686" y="1619084"/>
              <a:chExt cx="2058169" cy="4323106"/>
            </a:xfrm>
          </p:grpSpPr>
          <p:sp>
            <p:nvSpPr>
              <p:cNvPr id="5" name="TextBox 5"/>
              <p:cNvSpPr txBox="1"/>
              <p:nvPr/>
            </p:nvSpPr>
            <p:spPr>
              <a:xfrm>
                <a:off x="3953686" y="2308377"/>
                <a:ext cx="2058169" cy="569315"/>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solidFill>
                      <a:srgbClr val="FFFFFF">
                        <a:alpha val="100000"/>
                      </a:srgbClr>
                    </a:solidFill>
                    <a:latin typeface="汉仪行楷简"/>
                    <a:ea typeface="汉仪行楷简"/>
                    <a:cs typeface="汉仪行楷简"/>
                  </a:rPr>
                  <a:t>技术创新</a:t>
                </a:r>
                <a:endParaRPr lang="en-US" sz="1100"/>
              </a:p>
            </p:txBody>
          </p:sp>
          <p:sp>
            <p:nvSpPr>
              <p:cNvPr id="6" name="TextBox 6"/>
              <p:cNvSpPr txBox="1"/>
              <p:nvPr/>
            </p:nvSpPr>
            <p:spPr>
              <a:xfrm>
                <a:off x="3953687" y="1619084"/>
                <a:ext cx="858219" cy="689293"/>
              </a:xfrm>
              <a:prstGeom prst="rect">
                <a:avLst/>
              </a:prstGeom>
              <a:ln>
                <a:prstDash val="solid"/>
                <a:headEnd type="none"/>
                <a:tailEnd type="none"/>
              </a:ln>
            </p:spPr>
            <p:txBody>
              <a:bodyPr vert="horz" wrap="none" lIns="91440" tIns="45720" rIns="91440" bIns="45720" rtlCol="0" anchor="b" anchorCtr="0"/>
              <a:lstStyle/>
              <a:p>
                <a:pPr algn="l">
                  <a:defRPr/>
                </a:pPr>
                <a:r>
                  <a:rPr lang="en-US" sz="4000" b="1" i="0">
                    <a:solidFill>
                      <a:srgbClr val="EBBA6F">
                        <a:alpha val="100000"/>
                      </a:srgbClr>
                    </a:solidFill>
                    <a:latin typeface="Arial" panose="020B0604020202020204"/>
                    <a:ea typeface="Arial" panose="020B0604020202020204"/>
                    <a:cs typeface="Arial" panose="020B0604020202020204"/>
                  </a:rPr>
                  <a:t>01</a:t>
                </a:r>
                <a:endParaRPr lang="en-US" sz="1100"/>
              </a:p>
            </p:txBody>
          </p:sp>
          <p:sp>
            <p:nvSpPr>
              <p:cNvPr id="7" name="AutoShape 7"/>
              <p:cNvSpPr/>
              <p:nvPr/>
            </p:nvSpPr>
            <p:spPr>
              <a:xfrm>
                <a:off x="3953686" y="2906890"/>
                <a:ext cx="2058169" cy="3035300"/>
              </a:xfrm>
              <a:prstGeom prst="roundRect">
                <a:avLst>
                  <a:gd name="adj" fmla="val 6086"/>
                </a:avLst>
              </a:prstGeom>
              <a:gradFill>
                <a:gsLst>
                  <a:gs pos="0">
                    <a:srgbClr val="EBBA6F">
                      <a:alpha val="100000"/>
                      <a:lumMod val="60000"/>
                      <a:lumOff val="40000"/>
                    </a:srgbClr>
                  </a:gs>
                  <a:gs pos="60000">
                    <a:srgbClr val="EBBA6F">
                      <a:alpha val="100000"/>
                    </a:srgbClr>
                  </a:gs>
                </a:gsLst>
                <a:lin ang="2700000"/>
              </a:gradFill>
              <a:ln>
                <a:prstDash val="solid"/>
                <a:headEnd type="none"/>
                <a:tailEnd type="none"/>
              </a:ln>
            </p:spPr>
          </p:sp>
          <p:sp>
            <p:nvSpPr>
              <p:cNvPr id="8" name="TextBox 8"/>
              <p:cNvSpPr txBox="1"/>
              <p:nvPr/>
            </p:nvSpPr>
            <p:spPr>
              <a:xfrm>
                <a:off x="4056609" y="3237088"/>
                <a:ext cx="1847821" cy="2516011"/>
              </a:xfrm>
              <a:prstGeom prst="rect">
                <a:avLst/>
              </a:prstGeom>
              <a:ln>
                <a:prstDash val="solid"/>
                <a:headEnd type="none"/>
                <a:tailEnd type="none"/>
              </a:ln>
            </p:spPr>
            <p:txBody>
              <a:bodyPr vert="horz" wrap="square" lIns="91440" tIns="45720" rIns="91440" bIns="45720" rtlCol="0" anchor="t" anchorCtr="0"/>
              <a:lstStyle/>
              <a:p>
                <a:pPr algn="l">
                  <a:lnSpc>
                    <a:spcPct val="120000"/>
                  </a:lnSpc>
                  <a:defRPr/>
                </a:pPr>
                <a:r>
                  <a:rPr lang="en-US" sz="1200" b="0" i="0">
                    <a:solidFill>
                      <a:srgbClr val="FFFFFF">
                        <a:alpha val="100000"/>
                      </a:srgbClr>
                    </a:solidFill>
                    <a:latin typeface="思源黑体 CN Regular"/>
                    <a:ea typeface="思源黑体 CN Regular"/>
                    <a:cs typeface="思源黑体 CN Regular"/>
                  </a:rPr>
                  <a:t>融合大数据、可视化与GIS技术，实现了海量环境数据的高效处理与实时渲染，开创了空气质量数据展示的新范式。</a:t>
                </a:r>
                <a:endParaRPr lang="en-US" sz="1100"/>
              </a:p>
            </p:txBody>
          </p:sp>
        </p:grpSp>
        <p:grpSp>
          <p:nvGrpSpPr>
            <p:cNvPr id="9" name="Group 9"/>
            <p:cNvGrpSpPr/>
            <p:nvPr/>
          </p:nvGrpSpPr>
          <p:grpSpPr>
            <a:xfrm rot="0">
              <a:off x="6311644" y="1619084"/>
              <a:ext cx="2058169" cy="4323106"/>
              <a:chOff x="6311644" y="1619084"/>
              <a:chExt cx="2058169" cy="4323106"/>
            </a:xfrm>
          </p:grpSpPr>
          <p:sp>
            <p:nvSpPr>
              <p:cNvPr id="10" name="TextBox 10"/>
              <p:cNvSpPr txBox="1"/>
              <p:nvPr/>
            </p:nvSpPr>
            <p:spPr>
              <a:xfrm>
                <a:off x="6311644" y="2308377"/>
                <a:ext cx="2058169" cy="569315"/>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solidFill>
                      <a:srgbClr val="FFFFFF">
                        <a:alpha val="100000"/>
                      </a:srgbClr>
                    </a:solidFill>
                    <a:latin typeface="汉仪行楷简"/>
                    <a:ea typeface="汉仪行楷简"/>
                    <a:cs typeface="汉仪行楷简"/>
                  </a:rPr>
                  <a:t>设计领先</a:t>
                </a:r>
                <a:endParaRPr lang="en-US" sz="1100"/>
              </a:p>
            </p:txBody>
          </p:sp>
          <p:sp>
            <p:nvSpPr>
              <p:cNvPr id="11" name="TextBox 11"/>
              <p:cNvSpPr txBox="1"/>
              <p:nvPr/>
            </p:nvSpPr>
            <p:spPr>
              <a:xfrm>
                <a:off x="6311645" y="1619084"/>
                <a:ext cx="858219" cy="689293"/>
              </a:xfrm>
              <a:prstGeom prst="rect">
                <a:avLst/>
              </a:prstGeom>
              <a:ln>
                <a:prstDash val="solid"/>
                <a:headEnd type="none"/>
                <a:tailEnd type="none"/>
              </a:ln>
            </p:spPr>
            <p:txBody>
              <a:bodyPr vert="horz" wrap="none" lIns="91440" tIns="45720" rIns="91440" bIns="45720" rtlCol="0" anchor="b" anchorCtr="0"/>
              <a:lstStyle/>
              <a:p>
                <a:pPr algn="l">
                  <a:defRPr/>
                </a:pPr>
                <a:r>
                  <a:rPr lang="en-US" sz="4000" b="1" i="0">
                    <a:solidFill>
                      <a:srgbClr val="33CCFF">
                        <a:alpha val="100000"/>
                      </a:srgbClr>
                    </a:solidFill>
                    <a:latin typeface="Arial" panose="020B0604020202020204"/>
                    <a:ea typeface="Arial" panose="020B0604020202020204"/>
                    <a:cs typeface="Arial" panose="020B0604020202020204"/>
                  </a:rPr>
                  <a:t>02</a:t>
                </a:r>
                <a:endParaRPr lang="en-US" sz="1100"/>
              </a:p>
            </p:txBody>
          </p:sp>
          <p:sp>
            <p:nvSpPr>
              <p:cNvPr id="12" name="AutoShape 12"/>
              <p:cNvSpPr/>
              <p:nvPr/>
            </p:nvSpPr>
            <p:spPr>
              <a:xfrm>
                <a:off x="6311644" y="2906890"/>
                <a:ext cx="2058169" cy="3035300"/>
              </a:xfrm>
              <a:prstGeom prst="roundRect">
                <a:avLst>
                  <a:gd name="adj" fmla="val 6086"/>
                </a:avLst>
              </a:prstGeom>
              <a:gradFill>
                <a:gsLst>
                  <a:gs pos="0">
                    <a:srgbClr val="33CCFF">
                      <a:alpha val="100000"/>
                      <a:lumMod val="60000"/>
                      <a:lumOff val="40000"/>
                    </a:srgbClr>
                  </a:gs>
                  <a:gs pos="60000">
                    <a:srgbClr val="33CCFF">
                      <a:alpha val="100000"/>
                    </a:srgbClr>
                  </a:gs>
                </a:gsLst>
                <a:lin ang="2700000"/>
              </a:gradFill>
              <a:ln>
                <a:prstDash val="solid"/>
                <a:headEnd type="none"/>
                <a:tailEnd type="none"/>
              </a:ln>
            </p:spPr>
          </p:sp>
          <p:sp>
            <p:nvSpPr>
              <p:cNvPr id="13" name="TextBox 13"/>
              <p:cNvSpPr txBox="1"/>
              <p:nvPr/>
            </p:nvSpPr>
            <p:spPr>
              <a:xfrm>
                <a:off x="6414567" y="3237088"/>
                <a:ext cx="1847821" cy="2516011"/>
              </a:xfrm>
              <a:prstGeom prst="rect">
                <a:avLst/>
              </a:prstGeom>
              <a:ln>
                <a:prstDash val="solid"/>
                <a:headEnd type="none"/>
                <a:tailEnd type="none"/>
              </a:ln>
            </p:spPr>
            <p:txBody>
              <a:bodyPr vert="horz" wrap="square" lIns="91440" tIns="45720" rIns="91440" bIns="45720" rtlCol="0" anchor="t" anchorCtr="0"/>
              <a:lstStyle/>
              <a:p>
                <a:pPr algn="l">
                  <a:lnSpc>
                    <a:spcPct val="120000"/>
                  </a:lnSpc>
                  <a:defRPr/>
                </a:pPr>
                <a:r>
                  <a:rPr lang="en-US" sz="1200" b="0" i="0">
                    <a:solidFill>
                      <a:srgbClr val="121420">
                        <a:alpha val="100000"/>
                      </a:srgbClr>
                    </a:solidFill>
                    <a:latin typeface="思源黑体 CN Regular"/>
                    <a:ea typeface="思源黑体 CN Regular"/>
                    <a:cs typeface="思源黑体 CN Regular"/>
                  </a:rPr>
                  <a:t>采用沉浸式、模块化、交互式的设计理念，将复杂数据以美学的方式呈现，极大地提升了数据信息的传递效率和用户体验。</a:t>
                </a:r>
                <a:endParaRPr lang="en-US" sz="1100"/>
              </a:p>
            </p:txBody>
          </p:sp>
        </p:grpSp>
        <p:grpSp>
          <p:nvGrpSpPr>
            <p:cNvPr id="14" name="Group 14"/>
            <p:cNvGrpSpPr/>
            <p:nvPr/>
          </p:nvGrpSpPr>
          <p:grpSpPr>
            <a:xfrm rot="0">
              <a:off x="8669602" y="1619084"/>
              <a:ext cx="2058169" cy="4323106"/>
              <a:chOff x="8669602" y="1619084"/>
              <a:chExt cx="2058169" cy="4323106"/>
            </a:xfrm>
          </p:grpSpPr>
          <p:sp>
            <p:nvSpPr>
              <p:cNvPr id="15" name="TextBox 15"/>
              <p:cNvSpPr txBox="1"/>
              <p:nvPr/>
            </p:nvSpPr>
            <p:spPr>
              <a:xfrm>
                <a:off x="8669602" y="2308377"/>
                <a:ext cx="2058169" cy="569315"/>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solidFill>
                      <a:srgbClr val="FFFFFF">
                        <a:alpha val="100000"/>
                      </a:srgbClr>
                    </a:solidFill>
                    <a:latin typeface="汉仪行楷简"/>
                    <a:ea typeface="汉仪行楷简"/>
                    <a:cs typeface="汉仪行楷简"/>
                  </a:rPr>
                  <a:t>价值突出</a:t>
                </a:r>
                <a:endParaRPr lang="en-US" sz="1100"/>
              </a:p>
            </p:txBody>
          </p:sp>
          <p:sp>
            <p:nvSpPr>
              <p:cNvPr id="16" name="TextBox 16"/>
              <p:cNvSpPr txBox="1"/>
              <p:nvPr/>
            </p:nvSpPr>
            <p:spPr>
              <a:xfrm>
                <a:off x="8669603" y="1619084"/>
                <a:ext cx="858219" cy="689293"/>
              </a:xfrm>
              <a:prstGeom prst="rect">
                <a:avLst/>
              </a:prstGeom>
              <a:ln>
                <a:prstDash val="solid"/>
                <a:headEnd type="none"/>
                <a:tailEnd type="none"/>
              </a:ln>
            </p:spPr>
            <p:txBody>
              <a:bodyPr vert="horz" wrap="none" lIns="91440" tIns="45720" rIns="91440" bIns="45720" rtlCol="0" anchor="b" anchorCtr="0"/>
              <a:lstStyle/>
              <a:p>
                <a:pPr algn="l">
                  <a:defRPr/>
                </a:pPr>
                <a:r>
                  <a:rPr lang="en-US" sz="4000" b="1" i="0">
                    <a:solidFill>
                      <a:srgbClr val="FF6699">
                        <a:alpha val="100000"/>
                      </a:srgbClr>
                    </a:solidFill>
                    <a:latin typeface="Arial" panose="020B0604020202020204"/>
                    <a:ea typeface="Arial" panose="020B0604020202020204"/>
                    <a:cs typeface="Arial" panose="020B0604020202020204"/>
                  </a:rPr>
                  <a:t>03</a:t>
                </a:r>
                <a:endParaRPr lang="en-US" sz="1100"/>
              </a:p>
            </p:txBody>
          </p:sp>
          <p:sp>
            <p:nvSpPr>
              <p:cNvPr id="17" name="AutoShape 17"/>
              <p:cNvSpPr/>
              <p:nvPr/>
            </p:nvSpPr>
            <p:spPr>
              <a:xfrm>
                <a:off x="8669602" y="2906890"/>
                <a:ext cx="2058169" cy="3035300"/>
              </a:xfrm>
              <a:prstGeom prst="roundRect">
                <a:avLst>
                  <a:gd name="adj" fmla="val 6086"/>
                </a:avLst>
              </a:prstGeom>
              <a:gradFill>
                <a:gsLst>
                  <a:gs pos="0">
                    <a:srgbClr val="FF6699">
                      <a:alpha val="100000"/>
                      <a:lumMod val="60000"/>
                      <a:lumOff val="40000"/>
                    </a:srgbClr>
                  </a:gs>
                  <a:gs pos="60000">
                    <a:srgbClr val="FF6699">
                      <a:alpha val="100000"/>
                    </a:srgbClr>
                  </a:gs>
                </a:gsLst>
                <a:lin ang="2700000"/>
              </a:gradFill>
              <a:ln>
                <a:prstDash val="solid"/>
                <a:headEnd type="none"/>
                <a:tailEnd type="none"/>
              </a:ln>
            </p:spPr>
          </p:sp>
          <p:sp>
            <p:nvSpPr>
              <p:cNvPr id="18" name="TextBox 18"/>
              <p:cNvSpPr txBox="1"/>
              <p:nvPr/>
            </p:nvSpPr>
            <p:spPr>
              <a:xfrm>
                <a:off x="8772525" y="3237088"/>
                <a:ext cx="1847821" cy="2516011"/>
              </a:xfrm>
              <a:prstGeom prst="rect">
                <a:avLst/>
              </a:prstGeom>
              <a:ln>
                <a:prstDash val="solid"/>
                <a:headEnd type="none"/>
                <a:tailEnd type="none"/>
              </a:ln>
            </p:spPr>
            <p:txBody>
              <a:bodyPr vert="horz" wrap="square" lIns="91440" tIns="45720" rIns="91440" bIns="45720" rtlCol="0" anchor="t" anchorCtr="0"/>
              <a:lstStyle/>
              <a:p>
                <a:pPr algn="l">
                  <a:lnSpc>
                    <a:spcPct val="120000"/>
                  </a:lnSpc>
                  <a:defRPr/>
                </a:pPr>
                <a:r>
                  <a:rPr lang="en-US" sz="1200" b="0" i="0">
                    <a:solidFill>
                      <a:srgbClr val="FFFFFF">
                        <a:alpha val="100000"/>
                      </a:srgbClr>
                    </a:solidFill>
                    <a:latin typeface="思源黑体 CN Regular"/>
                    <a:ea typeface="思源黑体 CN Regular"/>
                    <a:cs typeface="思源黑体 CN Regular"/>
                  </a:rPr>
                  <a:t>成功打通数据、分析与决策的链路，为政府、科研、企业及公众提供了切实有效的洞察与价值，具备广泛的应用前景。</a:t>
                </a:r>
                <a:endParaRPr lang="en-US" sz="1100"/>
              </a:p>
            </p:txBody>
          </p:sp>
        </p:grpSp>
        <p:sp>
          <p:nvSpPr>
            <p:cNvPr id="19" name="TextBox 19"/>
            <p:cNvSpPr txBox="1"/>
            <p:nvPr/>
          </p:nvSpPr>
          <p:spPr>
            <a:xfrm>
              <a:off x="762001" y="1676403"/>
              <a:ext cx="2184400" cy="2538586"/>
            </a:xfrm>
            <a:prstGeom prst="rect">
              <a:avLst/>
            </a:prstGeom>
            <a:ln>
              <a:headEnd type="none"/>
              <a:tailEnd type="none"/>
            </a:ln>
          </p:spPr>
          <p:txBody>
            <a:bodyPr vert="horz" wrap="square" lIns="91440" tIns="45720" rIns="91440" bIns="45720" rtlCol="0" anchor="t" anchorCtr="0"/>
            <a:lstStyle/>
            <a:p>
              <a:pPr algn="ctr">
                <a:spcBef>
                  <a:spcPts val="0"/>
                </a:spcBef>
                <a:spcAft>
                  <a:spcPts val="0"/>
                </a:spcAft>
                <a:defRPr/>
              </a:pPr>
              <a:r>
                <a:rPr lang="en-US" sz="3600" b="1" i="0" strike="noStrike">
                  <a:solidFill>
                    <a:srgbClr val="FFFFFF">
                      <a:alpha val="100000"/>
                    </a:srgbClr>
                  </a:solidFill>
                  <a:latin typeface="汉仪行楷简"/>
                  <a:ea typeface="汉仪行楷简"/>
                  <a:cs typeface="汉仪行楷简"/>
                </a:rPr>
                <a:t>技术</a:t>
              </a:r>
              <a:endParaRPr lang="en-US" sz="3600" b="1" i="0" strike="noStrike">
                <a:solidFill>
                  <a:srgbClr val="FFFFFF">
                    <a:alpha val="100000"/>
                  </a:srgbClr>
                </a:solidFill>
                <a:latin typeface="汉仪行楷简"/>
                <a:ea typeface="汉仪行楷简"/>
                <a:cs typeface="汉仪行楷简"/>
              </a:endParaRPr>
            </a:p>
            <a:p>
              <a:pPr algn="ctr">
                <a:spcBef>
                  <a:spcPts val="0"/>
                </a:spcBef>
                <a:spcAft>
                  <a:spcPts val="0"/>
                </a:spcAft>
                <a:defRPr/>
              </a:pPr>
              <a:endParaRPr lang="en-US" sz="3600" b="1" i="0" strike="noStrike">
                <a:solidFill>
                  <a:srgbClr val="FFFFFF">
                    <a:alpha val="100000"/>
                  </a:srgbClr>
                </a:solidFill>
                <a:latin typeface="汉仪行楷简"/>
                <a:ea typeface="汉仪行楷简"/>
                <a:cs typeface="汉仪行楷简"/>
              </a:endParaRPr>
            </a:p>
            <a:p>
              <a:pPr algn="ctr">
                <a:spcBef>
                  <a:spcPts val="0"/>
                </a:spcBef>
                <a:spcAft>
                  <a:spcPts val="0"/>
                </a:spcAft>
                <a:defRPr/>
              </a:pPr>
              <a:r>
                <a:rPr lang="en-US" sz="3600" b="1" i="0" strike="noStrike">
                  <a:solidFill>
                    <a:srgbClr val="FFFFFF">
                      <a:alpha val="100000"/>
                    </a:srgbClr>
                  </a:solidFill>
                  <a:latin typeface="汉仪行楷简"/>
                  <a:ea typeface="汉仪行楷简"/>
                  <a:cs typeface="汉仪行楷简"/>
                </a:rPr>
                <a:t>设计</a:t>
              </a:r>
              <a:endParaRPr lang="en-US" sz="3600" b="1" i="0" strike="noStrike">
                <a:solidFill>
                  <a:srgbClr val="FFFFFF">
                    <a:alpha val="100000"/>
                  </a:srgbClr>
                </a:solidFill>
                <a:latin typeface="汉仪行楷简"/>
                <a:ea typeface="汉仪行楷简"/>
                <a:cs typeface="汉仪行楷简"/>
              </a:endParaRPr>
            </a:p>
            <a:p>
              <a:pPr algn="ctr">
                <a:spcBef>
                  <a:spcPts val="0"/>
                </a:spcBef>
                <a:spcAft>
                  <a:spcPts val="0"/>
                </a:spcAft>
                <a:defRPr/>
              </a:pPr>
              <a:endParaRPr lang="en-US" sz="3600" b="1" i="0" strike="noStrike">
                <a:solidFill>
                  <a:srgbClr val="FFFFFF">
                    <a:alpha val="100000"/>
                  </a:srgbClr>
                </a:solidFill>
                <a:latin typeface="汉仪行楷简"/>
                <a:ea typeface="汉仪行楷简"/>
                <a:cs typeface="汉仪行楷简"/>
              </a:endParaRPr>
            </a:p>
            <a:p>
              <a:pPr algn="ctr">
                <a:spcBef>
                  <a:spcPts val="0"/>
                </a:spcBef>
                <a:spcAft>
                  <a:spcPts val="0"/>
                </a:spcAft>
                <a:defRPr/>
              </a:pPr>
              <a:r>
                <a:rPr lang="en-US" sz="3600" b="1" i="0" strike="noStrike">
                  <a:solidFill>
                    <a:srgbClr val="FFFFFF">
                      <a:alpha val="100000"/>
                    </a:srgbClr>
                  </a:solidFill>
                  <a:latin typeface="汉仪行楷简"/>
                  <a:ea typeface="汉仪行楷简"/>
                  <a:cs typeface="汉仪行楷简"/>
                </a:rPr>
                <a:t>价值</a:t>
              </a:r>
              <a:endParaRPr lang="en-US" sz="3600" b="1" i="0" strike="noStrike">
                <a:solidFill>
                  <a:srgbClr val="FFFFFF">
                    <a:alpha val="100000"/>
                  </a:srgbClr>
                </a:solidFill>
                <a:latin typeface="汉仪行楷简"/>
                <a:ea typeface="汉仪行楷简"/>
                <a:cs typeface="汉仪行楷简"/>
              </a:endParaRPr>
            </a:p>
            <a:p>
              <a:pPr algn="ctr">
                <a:spcBef>
                  <a:spcPts val="0"/>
                </a:spcBef>
                <a:spcAft>
                  <a:spcPts val="0"/>
                </a:spcAft>
                <a:defRPr/>
              </a:pPr>
              <a:endParaRPr lang="en-US" sz="3600" b="1" i="0" strike="noStrike">
                <a:solidFill>
                  <a:srgbClr val="FFFFFF">
                    <a:alpha val="100000"/>
                  </a:srgbClr>
                </a:solidFill>
                <a:latin typeface="汉仪行楷简"/>
                <a:ea typeface="汉仪行楷简"/>
                <a:cs typeface="汉仪行楷简"/>
              </a:endParaRPr>
            </a:p>
            <a:p>
              <a:pPr algn="ctr">
                <a:spcBef>
                  <a:spcPts val="0"/>
                </a:spcBef>
                <a:spcAft>
                  <a:spcPts val="0"/>
                </a:spcAft>
                <a:defRPr/>
              </a:pPr>
              <a:r>
                <a:rPr lang="en-US" sz="3600" b="1" i="0" strike="noStrike">
                  <a:solidFill>
                    <a:srgbClr val="FFFFFF">
                      <a:alpha val="100000"/>
                    </a:srgbClr>
                  </a:solidFill>
                  <a:latin typeface="汉仪行楷简"/>
                  <a:ea typeface="汉仪行楷简"/>
                  <a:cs typeface="汉仪行楷简"/>
                </a:rPr>
                <a:t>三重创新</a:t>
              </a:r>
              <a:endParaRPr lang="en-US" sz="3600" b="1" i="0" strike="noStrike">
                <a:solidFill>
                  <a:srgbClr val="FFFFFF">
                    <a:alpha val="100000"/>
                  </a:srgbClr>
                </a:solidFill>
                <a:latin typeface="汉仪行楷简"/>
                <a:ea typeface="汉仪行楷简"/>
                <a:cs typeface="汉仪行楷简"/>
              </a:endParaRPr>
            </a:p>
          </p:txBody>
        </p:sp>
      </p:grpSp>
      <p:sp>
        <p:nvSpPr>
          <p:cNvPr id="20" name="TextBox 20"/>
          <p:cNvSpPr txBox="1"/>
          <p:nvPr/>
        </p:nvSpPr>
        <p:spPr>
          <a:xfrm>
            <a:off x="1465006" y="304799"/>
            <a:ext cx="9760043" cy="723901"/>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3000" b="0" i="0">
                <a:solidFill>
                  <a:srgbClr val="FFFFFF">
                    <a:alpha val="100000"/>
                  </a:srgbClr>
                </a:solidFill>
                <a:latin typeface="汉仪行楷简"/>
                <a:ea typeface="汉仪行楷简"/>
                <a:cs typeface="汉仪行楷简"/>
              </a:rPr>
              <a:t>项目亮点总结</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87eec33-e0b8-4fdf-ae9f-d503b5ccd190"/>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solidFill>
                  <a:srgbClr val="FFFFFF">
                    <a:alpha val="100000"/>
                    <a:tint val="75000"/>
                  </a:srgbClr>
                </a:solidFill>
                <a:latin typeface="Average"/>
                <a:ea typeface="Average"/>
                <a:cs typeface="Average"/>
              </a:rPr>
              <a:t>4</a:t>
            </a:r>
            <a:endParaRPr lang="en-US" sz="1100"/>
          </a:p>
        </p:txBody>
      </p:sp>
      <p:grpSp>
        <p:nvGrpSpPr>
          <p:cNvPr id="3" name="Group 3"/>
          <p:cNvGrpSpPr/>
          <p:nvPr/>
        </p:nvGrpSpPr>
        <p:grpSpPr>
          <a:xfrm rot="0">
            <a:off x="660400" y="1130300"/>
            <a:ext cx="10858500" cy="5003800"/>
            <a:chOff x="660400" y="1130300"/>
            <a:chExt cx="10858500" cy="5003800"/>
          </a:xfrm>
        </p:grpSpPr>
        <p:sp>
          <p:nvSpPr>
            <p:cNvPr id="4" name="AutoShape 4"/>
            <p:cNvSpPr/>
            <p:nvPr/>
          </p:nvSpPr>
          <p:spPr>
            <a:xfrm>
              <a:off x="660400" y="1130300"/>
              <a:ext cx="10858500" cy="5003800"/>
            </a:xfrm>
            <a:prstGeom prst="roundRect">
              <a:avLst>
                <a:gd name="adj" fmla="val 4421"/>
              </a:avLst>
            </a:prstGeom>
            <a:solidFill>
              <a:srgbClr val="EBBA6F">
                <a:alpha val="100000"/>
              </a:srgbClr>
            </a:solidFill>
            <a:ln>
              <a:prstDash val="solid"/>
              <a:headEnd type="none"/>
              <a:tailEnd type="none"/>
            </a:ln>
          </p:spPr>
        </p:sp>
        <p:sp>
          <p:nvSpPr>
            <p:cNvPr id="5" name="TextBox 5"/>
            <p:cNvSpPr txBox="1"/>
            <p:nvPr/>
          </p:nvSpPr>
          <p:spPr>
            <a:xfrm>
              <a:off x="1049651" y="1337017"/>
              <a:ext cx="10080000" cy="821609"/>
            </a:xfrm>
            <a:prstGeom prst="rect">
              <a:avLst/>
            </a:prstGeom>
            <a:ln>
              <a:headEnd type="none"/>
              <a:tailEnd type="none"/>
            </a:ln>
          </p:spPr>
          <p:txBody>
            <a:bodyPr vert="horz" wrap="square" lIns="91440" tIns="45720" rIns="91440" bIns="45720" rtlCol="0" anchor="ctr" anchorCtr="0"/>
            <a:lstStyle/>
            <a:p>
              <a:pPr algn="ctr">
                <a:defRPr/>
              </a:pPr>
              <a:r>
                <a:rPr lang="en-US" sz="2400" b="1" i="0">
                  <a:solidFill>
                    <a:srgbClr val="FFFFFF">
                      <a:alpha val="100000"/>
                    </a:srgbClr>
                  </a:solidFill>
                  <a:latin typeface="汉仪行楷简"/>
                  <a:ea typeface="汉仪行楷简"/>
                  <a:cs typeface="汉仪行楷简"/>
                </a:rPr>
                <a:t>持续迭代，深化应用，拓展生态</a:t>
              </a:r>
              <a:endParaRPr lang="en-US" sz="1100"/>
            </a:p>
          </p:txBody>
        </p:sp>
        <p:sp>
          <p:nvSpPr>
            <p:cNvPr id="6" name="AutoShape 6"/>
            <p:cNvSpPr/>
            <p:nvPr/>
          </p:nvSpPr>
          <p:spPr>
            <a:xfrm>
              <a:off x="1229651" y="2333274"/>
              <a:ext cx="9720000" cy="0"/>
            </a:xfrm>
            <a:prstGeom prst="line">
              <a:avLst/>
            </a:prstGeom>
            <a:ln w="6350">
              <a:solidFill>
                <a:srgbClr val="FFFFFF">
                  <a:alpha val="50196"/>
                </a:srgbClr>
              </a:solidFill>
              <a:prstDash val="solid"/>
              <a:headEnd type="none"/>
              <a:tailEnd type="none"/>
            </a:ln>
          </p:spPr>
        </p:sp>
        <p:sp>
          <p:nvSpPr>
            <p:cNvPr id="7" name="AutoShape 7"/>
            <p:cNvSpPr/>
            <p:nvPr/>
          </p:nvSpPr>
          <p:spPr>
            <a:xfrm>
              <a:off x="1229651" y="3275463"/>
              <a:ext cx="9720000" cy="0"/>
            </a:xfrm>
            <a:prstGeom prst="line">
              <a:avLst/>
            </a:prstGeom>
            <a:ln w="6350">
              <a:solidFill>
                <a:srgbClr val="FFFFFF">
                  <a:alpha val="50196"/>
                </a:srgbClr>
              </a:solidFill>
              <a:prstDash val="solid"/>
              <a:headEnd type="none"/>
              <a:tailEnd type="none"/>
            </a:ln>
          </p:spPr>
        </p:sp>
        <p:sp>
          <p:nvSpPr>
            <p:cNvPr id="8" name="AutoShape 8"/>
            <p:cNvSpPr/>
            <p:nvPr/>
          </p:nvSpPr>
          <p:spPr>
            <a:xfrm>
              <a:off x="1229651" y="4217652"/>
              <a:ext cx="9720000" cy="0"/>
            </a:xfrm>
            <a:prstGeom prst="line">
              <a:avLst/>
            </a:prstGeom>
            <a:ln w="6350">
              <a:solidFill>
                <a:srgbClr val="FFFFFF">
                  <a:alpha val="50196"/>
                </a:srgbClr>
              </a:solidFill>
              <a:prstDash val="solid"/>
              <a:headEnd type="none"/>
              <a:tailEnd type="none"/>
            </a:ln>
          </p:spPr>
        </p:sp>
        <p:sp>
          <p:nvSpPr>
            <p:cNvPr id="9" name="AutoShape 9"/>
            <p:cNvSpPr/>
            <p:nvPr/>
          </p:nvSpPr>
          <p:spPr>
            <a:xfrm>
              <a:off x="1229651" y="5159840"/>
              <a:ext cx="9720000" cy="0"/>
            </a:xfrm>
            <a:prstGeom prst="line">
              <a:avLst/>
            </a:prstGeom>
            <a:ln w="6350">
              <a:solidFill>
                <a:srgbClr val="FFFFFF">
                  <a:alpha val="50196"/>
                </a:srgbClr>
              </a:solidFill>
              <a:prstDash val="solid"/>
              <a:headEnd type="none"/>
              <a:tailEnd type="none"/>
            </a:ln>
          </p:spPr>
        </p:sp>
        <p:grpSp>
          <p:nvGrpSpPr>
            <p:cNvPr id="10" name="Group 10"/>
            <p:cNvGrpSpPr/>
            <p:nvPr/>
          </p:nvGrpSpPr>
          <p:grpSpPr>
            <a:xfrm rot="0">
              <a:off x="1322364" y="2507922"/>
              <a:ext cx="9627287" cy="592893"/>
              <a:chOff x="1999020" y="1998799"/>
              <a:chExt cx="9627287" cy="829613"/>
            </a:xfrm>
          </p:grpSpPr>
          <p:sp>
            <p:nvSpPr>
              <p:cNvPr id="11" name="TextBox 11"/>
              <p:cNvSpPr txBox="1"/>
              <p:nvPr/>
            </p:nvSpPr>
            <p:spPr>
              <a:xfrm>
                <a:off x="1999020" y="2061798"/>
                <a:ext cx="519136" cy="705228"/>
              </a:xfrm>
              <a:prstGeom prst="roundRect">
                <a:avLst>
                  <a:gd name="adj" fmla="val 50000"/>
                </a:avLst>
              </a:prstGeom>
              <a:solidFill>
                <a:srgbClr val="FFFFFF">
                  <a:alpha val="100000"/>
                </a:srgbClr>
              </a:solidFill>
              <a:ln>
                <a:prstDash val="solid"/>
                <a:headEnd type="none"/>
                <a:tailEnd type="none"/>
              </a:ln>
            </p:spPr>
            <p:txBody>
              <a:bodyPr vert="horz" wrap="none" lIns="91440" tIns="45720" rIns="91440" bIns="45720" rtlCol="0" anchor="ctr" anchorCtr="0"/>
              <a:lstStyle/>
              <a:p>
                <a:pPr algn="ctr">
                  <a:defRPr/>
                </a:pPr>
                <a:r>
                  <a:rPr lang="en-US" sz="1600" b="1" i="0">
                    <a:solidFill>
                      <a:srgbClr val="EBBA6F">
                        <a:alpha val="100000"/>
                      </a:srgbClr>
                    </a:solidFill>
                    <a:latin typeface="Arial" panose="020B0604020202020204"/>
                    <a:ea typeface="Arial" panose="020B0604020202020204"/>
                    <a:cs typeface="Arial" panose="020B0604020202020204"/>
                  </a:rPr>
                  <a:t>01</a:t>
                </a:r>
                <a:endParaRPr lang="en-US" sz="1100"/>
              </a:p>
            </p:txBody>
          </p:sp>
          <p:sp>
            <p:nvSpPr>
              <p:cNvPr id="12" name="TextBox 12"/>
              <p:cNvSpPr txBox="1"/>
              <p:nvPr/>
            </p:nvSpPr>
            <p:spPr>
              <a:xfrm>
                <a:off x="5651074" y="1998799"/>
                <a:ext cx="5975233" cy="828000"/>
              </a:xfrm>
              <a:prstGeom prst="rect">
                <a:avLst/>
              </a:prstGeom>
              <a:ln>
                <a:headEnd type="none"/>
                <a:tailEnd type="none"/>
              </a:ln>
            </p:spPr>
            <p:txBody>
              <a:bodyPr vert="horz" wrap="square" lIns="90000" tIns="46800" rIns="90000" bIns="46800" rtlCol="0" anchor="ctr" anchorCtr="0"/>
              <a:lstStyle/>
              <a:p>
                <a:pPr algn="l">
                  <a:lnSpc>
                    <a:spcPct val="120000"/>
                  </a:lnSpc>
                  <a:defRPr/>
                </a:pPr>
                <a:r>
                  <a:rPr lang="en-US" sz="1200" b="0" i="0">
                    <a:solidFill>
                      <a:srgbClr val="FFFFFF">
                        <a:alpha val="100000"/>
                      </a:srgbClr>
                    </a:solidFill>
                    <a:latin typeface="思源黑体 CN Regular"/>
                    <a:ea typeface="思源黑体 CN Regular"/>
                    <a:cs typeface="思源黑体 CN Regular"/>
                  </a:rPr>
                  <a:t>计划接入更多气象因子（如风向、风速、逆温层等）、社会经济数据（如工业排放、车流量等），构建更全面的分析模型。</a:t>
                </a:r>
                <a:endParaRPr lang="en-US" sz="1100"/>
              </a:p>
            </p:txBody>
          </p:sp>
          <p:sp>
            <p:nvSpPr>
              <p:cNvPr id="13" name="TextBox 13"/>
              <p:cNvSpPr txBox="1"/>
              <p:nvPr/>
            </p:nvSpPr>
            <p:spPr>
              <a:xfrm>
                <a:off x="2626494" y="2000412"/>
                <a:ext cx="2880000" cy="828000"/>
              </a:xfrm>
              <a:prstGeom prst="rect">
                <a:avLst/>
              </a:prstGeom>
              <a:ln>
                <a:headEnd type="none"/>
                <a:tailEnd type="none"/>
              </a:ln>
            </p:spPr>
            <p:txBody>
              <a:bodyPr vert="horz" wrap="square" lIns="91440" tIns="45720" rIns="91440" bIns="45720" rtlCol="0" anchor="ctr" anchorCtr="0"/>
              <a:lstStyle/>
              <a:p>
                <a:pPr algn="l">
                  <a:spcBef>
                    <a:spcPts val="0"/>
                  </a:spcBef>
                  <a:defRPr/>
                </a:pPr>
                <a:r>
                  <a:rPr lang="en-US" sz="1800" b="1" i="0">
                    <a:solidFill>
                      <a:srgbClr val="FFFFFF">
                        <a:alpha val="100000"/>
                      </a:srgbClr>
                    </a:solidFill>
                    <a:latin typeface="汉仪行楷简"/>
                    <a:ea typeface="汉仪行楷简"/>
                    <a:cs typeface="汉仪行楷简"/>
                  </a:rPr>
                  <a:t>数据维度深化</a:t>
                </a:r>
                <a:endParaRPr lang="en-US" sz="1100"/>
              </a:p>
            </p:txBody>
          </p:sp>
        </p:grpSp>
        <p:grpSp>
          <p:nvGrpSpPr>
            <p:cNvPr id="14" name="Group 14"/>
            <p:cNvGrpSpPr/>
            <p:nvPr/>
          </p:nvGrpSpPr>
          <p:grpSpPr>
            <a:xfrm rot="0">
              <a:off x="1322364" y="3450111"/>
              <a:ext cx="9627287" cy="592893"/>
              <a:chOff x="1999020" y="3002164"/>
              <a:chExt cx="9627287" cy="829613"/>
            </a:xfrm>
          </p:grpSpPr>
          <p:sp>
            <p:nvSpPr>
              <p:cNvPr id="15" name="TextBox 15"/>
              <p:cNvSpPr txBox="1"/>
              <p:nvPr/>
            </p:nvSpPr>
            <p:spPr>
              <a:xfrm>
                <a:off x="1999020" y="3065163"/>
                <a:ext cx="519136" cy="705228"/>
              </a:xfrm>
              <a:prstGeom prst="roundRect">
                <a:avLst>
                  <a:gd name="adj" fmla="val 50000"/>
                </a:avLst>
              </a:prstGeom>
              <a:solidFill>
                <a:srgbClr val="FFFFFF">
                  <a:alpha val="100000"/>
                </a:srgbClr>
              </a:solidFill>
              <a:ln>
                <a:prstDash val="solid"/>
                <a:headEnd type="none"/>
                <a:tailEnd type="none"/>
              </a:ln>
            </p:spPr>
            <p:txBody>
              <a:bodyPr vert="horz" wrap="none" lIns="91440" tIns="45720" rIns="91440" bIns="45720" rtlCol="0" anchor="ctr" anchorCtr="0"/>
              <a:lstStyle/>
              <a:p>
                <a:pPr algn="ctr">
                  <a:defRPr/>
                </a:pPr>
                <a:r>
                  <a:rPr lang="en-US" sz="1600" b="1" i="0">
                    <a:solidFill>
                      <a:srgbClr val="EBBA6F">
                        <a:alpha val="100000"/>
                      </a:srgbClr>
                    </a:solidFill>
                    <a:latin typeface="Arial" panose="020B0604020202020204"/>
                    <a:ea typeface="Arial" panose="020B0604020202020204"/>
                    <a:cs typeface="Arial" panose="020B0604020202020204"/>
                  </a:rPr>
                  <a:t>02</a:t>
                </a:r>
                <a:endParaRPr lang="en-US" sz="1100"/>
              </a:p>
            </p:txBody>
          </p:sp>
          <p:sp>
            <p:nvSpPr>
              <p:cNvPr id="16" name="TextBox 16"/>
              <p:cNvSpPr txBox="1"/>
              <p:nvPr/>
            </p:nvSpPr>
            <p:spPr>
              <a:xfrm>
                <a:off x="5651074" y="3002164"/>
                <a:ext cx="5975233" cy="828000"/>
              </a:xfrm>
              <a:prstGeom prst="rect">
                <a:avLst/>
              </a:prstGeom>
              <a:ln>
                <a:headEnd type="none"/>
                <a:tailEnd type="none"/>
              </a:ln>
            </p:spPr>
            <p:txBody>
              <a:bodyPr vert="horz" wrap="square" lIns="90000" tIns="46800" rIns="90000" bIns="46800" rtlCol="0" anchor="ctr" anchorCtr="0"/>
              <a:lstStyle/>
              <a:p>
                <a:pPr algn="l">
                  <a:lnSpc>
                    <a:spcPct val="120000"/>
                  </a:lnSpc>
                  <a:defRPr/>
                </a:pPr>
                <a:r>
                  <a:rPr lang="en-US" sz="1200" b="0" i="0">
                    <a:solidFill>
                      <a:srgbClr val="FFFFFF">
                        <a:alpha val="100000"/>
                      </a:srgbClr>
                    </a:solidFill>
                    <a:latin typeface="思源黑体 CN Regular"/>
                    <a:ea typeface="思源黑体 CN Regular"/>
                    <a:cs typeface="思源黑体 CN Regular"/>
                  </a:rPr>
                  <a:t>引入机器学习与人工智能算法，开展空气质量预测、污染热点识别和情景模拟，从“数据展示”向“智能预测”与“辅助决策”升级。</a:t>
                </a:r>
                <a:endParaRPr lang="en-US" sz="1100"/>
              </a:p>
            </p:txBody>
          </p:sp>
          <p:sp>
            <p:nvSpPr>
              <p:cNvPr id="17" name="TextBox 17"/>
              <p:cNvSpPr txBox="1"/>
              <p:nvPr/>
            </p:nvSpPr>
            <p:spPr>
              <a:xfrm>
                <a:off x="2626494" y="3003777"/>
                <a:ext cx="2880000" cy="828000"/>
              </a:xfrm>
              <a:prstGeom prst="rect">
                <a:avLst/>
              </a:prstGeom>
              <a:ln>
                <a:headEnd type="none"/>
                <a:tailEnd type="none"/>
              </a:ln>
            </p:spPr>
            <p:txBody>
              <a:bodyPr vert="horz" wrap="square" lIns="91440" tIns="45720" rIns="91440" bIns="45720" rtlCol="0" anchor="ctr" anchorCtr="0"/>
              <a:lstStyle/>
              <a:p>
                <a:pPr algn="l">
                  <a:spcBef>
                    <a:spcPts val="0"/>
                  </a:spcBef>
                  <a:defRPr/>
                </a:pPr>
                <a:r>
                  <a:rPr lang="en-US" sz="1800" b="1" i="0">
                    <a:solidFill>
                      <a:srgbClr val="FFFFFF">
                        <a:alpha val="100000"/>
                      </a:srgbClr>
                    </a:solidFill>
                    <a:latin typeface="汉仪行楷简"/>
                    <a:ea typeface="汉仪行楷简"/>
                    <a:cs typeface="汉仪行楷简"/>
                  </a:rPr>
                  <a:t>智能分析升级</a:t>
                </a:r>
                <a:endParaRPr lang="en-US" sz="1100"/>
              </a:p>
            </p:txBody>
          </p:sp>
        </p:grpSp>
        <p:grpSp>
          <p:nvGrpSpPr>
            <p:cNvPr id="18" name="Group 18"/>
            <p:cNvGrpSpPr/>
            <p:nvPr/>
          </p:nvGrpSpPr>
          <p:grpSpPr>
            <a:xfrm rot="0">
              <a:off x="1322364" y="4392300"/>
              <a:ext cx="9627287" cy="592892"/>
              <a:chOff x="1999020" y="4005529"/>
              <a:chExt cx="9627287" cy="829612"/>
            </a:xfrm>
          </p:grpSpPr>
          <p:sp>
            <p:nvSpPr>
              <p:cNvPr id="19" name="TextBox 19"/>
              <p:cNvSpPr txBox="1"/>
              <p:nvPr/>
            </p:nvSpPr>
            <p:spPr>
              <a:xfrm>
                <a:off x="1999020" y="4068528"/>
                <a:ext cx="519136" cy="705229"/>
              </a:xfrm>
              <a:prstGeom prst="roundRect">
                <a:avLst>
                  <a:gd name="adj" fmla="val 50000"/>
                </a:avLst>
              </a:prstGeom>
              <a:solidFill>
                <a:srgbClr val="FFFFFF">
                  <a:alpha val="100000"/>
                </a:srgbClr>
              </a:solidFill>
              <a:ln>
                <a:prstDash val="solid"/>
                <a:headEnd type="none"/>
                <a:tailEnd type="none"/>
              </a:ln>
            </p:spPr>
            <p:txBody>
              <a:bodyPr vert="horz" wrap="none" lIns="91440" tIns="45720" rIns="91440" bIns="45720" rtlCol="0" anchor="ctr" anchorCtr="0"/>
              <a:lstStyle/>
              <a:p>
                <a:pPr algn="ctr">
                  <a:defRPr/>
                </a:pPr>
                <a:r>
                  <a:rPr lang="en-US" sz="1600" b="1" i="0">
                    <a:solidFill>
                      <a:srgbClr val="EBBA6F">
                        <a:alpha val="100000"/>
                      </a:srgbClr>
                    </a:solidFill>
                    <a:latin typeface="Arial" panose="020B0604020202020204"/>
                    <a:ea typeface="Arial" panose="020B0604020202020204"/>
                    <a:cs typeface="Arial" panose="020B0604020202020204"/>
                  </a:rPr>
                  <a:t>03</a:t>
                </a:r>
                <a:endParaRPr lang="en-US" sz="1100"/>
              </a:p>
            </p:txBody>
          </p:sp>
          <p:sp>
            <p:nvSpPr>
              <p:cNvPr id="20" name="TextBox 20"/>
              <p:cNvSpPr txBox="1"/>
              <p:nvPr/>
            </p:nvSpPr>
            <p:spPr>
              <a:xfrm>
                <a:off x="5651074" y="4005529"/>
                <a:ext cx="5975233" cy="828000"/>
              </a:xfrm>
              <a:prstGeom prst="rect">
                <a:avLst/>
              </a:prstGeom>
              <a:ln>
                <a:headEnd type="none"/>
                <a:tailEnd type="none"/>
              </a:ln>
            </p:spPr>
            <p:txBody>
              <a:bodyPr vert="horz" wrap="square" lIns="90000" tIns="46800" rIns="90000" bIns="46800" rtlCol="0" anchor="ctr" anchorCtr="0"/>
              <a:lstStyle/>
              <a:p>
                <a:pPr algn="l">
                  <a:lnSpc>
                    <a:spcPct val="120000"/>
                  </a:lnSpc>
                  <a:defRPr/>
                </a:pPr>
                <a:r>
                  <a:rPr lang="en-US" sz="1200" b="0" i="0">
                    <a:solidFill>
                      <a:srgbClr val="FFFFFF">
                        <a:alpha val="100000"/>
                      </a:srgbClr>
                    </a:solidFill>
                    <a:latin typeface="思源黑体 CN Regular"/>
                    <a:ea typeface="思源黑体 CN Regular"/>
                    <a:cs typeface="思源黑体 CN Regular"/>
                  </a:rPr>
                  <a:t>开发移动端应用，满足公众随时随地的查询需求；针对重点行业（如电力、交通）开发定制化解决方案。</a:t>
                </a:r>
                <a:endParaRPr lang="en-US" sz="1100"/>
              </a:p>
            </p:txBody>
          </p:sp>
          <p:sp>
            <p:nvSpPr>
              <p:cNvPr id="21" name="TextBox 21"/>
              <p:cNvSpPr txBox="1"/>
              <p:nvPr/>
            </p:nvSpPr>
            <p:spPr>
              <a:xfrm>
                <a:off x="2626494" y="4007141"/>
                <a:ext cx="2880000" cy="828000"/>
              </a:xfrm>
              <a:prstGeom prst="rect">
                <a:avLst/>
              </a:prstGeom>
              <a:ln>
                <a:headEnd type="none"/>
                <a:tailEnd type="none"/>
              </a:ln>
            </p:spPr>
            <p:txBody>
              <a:bodyPr vert="horz" wrap="square" lIns="91440" tIns="45720" rIns="91440" bIns="45720" rtlCol="0" anchor="ctr" anchorCtr="0"/>
              <a:lstStyle/>
              <a:p>
                <a:pPr algn="l">
                  <a:spcBef>
                    <a:spcPts val="0"/>
                  </a:spcBef>
                  <a:defRPr/>
                </a:pPr>
                <a:r>
                  <a:rPr lang="en-US" sz="1800" b="1" i="0">
                    <a:solidFill>
                      <a:srgbClr val="FFFFFF">
                        <a:alpha val="100000"/>
                      </a:srgbClr>
                    </a:solidFill>
                    <a:latin typeface="汉仪行楷简"/>
                    <a:ea typeface="汉仪行楷简"/>
                    <a:cs typeface="汉仪行楷简"/>
                  </a:rPr>
                  <a:t>应用场景拓展</a:t>
                </a:r>
                <a:endParaRPr lang="en-US" sz="1100"/>
              </a:p>
            </p:txBody>
          </p:sp>
        </p:grpSp>
        <p:grpSp>
          <p:nvGrpSpPr>
            <p:cNvPr id="22" name="Group 22"/>
            <p:cNvGrpSpPr/>
            <p:nvPr/>
          </p:nvGrpSpPr>
          <p:grpSpPr>
            <a:xfrm rot="0">
              <a:off x="1322364" y="5334491"/>
              <a:ext cx="9627287" cy="592892"/>
              <a:chOff x="1999020" y="4005529"/>
              <a:chExt cx="9627287" cy="829612"/>
            </a:xfrm>
          </p:grpSpPr>
          <p:sp>
            <p:nvSpPr>
              <p:cNvPr id="23" name="TextBox 23"/>
              <p:cNvSpPr txBox="1"/>
              <p:nvPr/>
            </p:nvSpPr>
            <p:spPr>
              <a:xfrm>
                <a:off x="1999020" y="4068528"/>
                <a:ext cx="519136" cy="705229"/>
              </a:xfrm>
              <a:prstGeom prst="roundRect">
                <a:avLst>
                  <a:gd name="adj" fmla="val 50000"/>
                </a:avLst>
              </a:prstGeom>
              <a:solidFill>
                <a:srgbClr val="FFFFFF">
                  <a:alpha val="100000"/>
                </a:srgbClr>
              </a:solidFill>
              <a:ln>
                <a:prstDash val="solid"/>
                <a:headEnd type="none"/>
                <a:tailEnd type="none"/>
              </a:ln>
            </p:spPr>
            <p:txBody>
              <a:bodyPr vert="horz" wrap="none" lIns="91440" tIns="45720" rIns="91440" bIns="45720" rtlCol="0" anchor="ctr" anchorCtr="0"/>
              <a:lstStyle/>
              <a:p>
                <a:pPr algn="ctr">
                  <a:defRPr/>
                </a:pPr>
                <a:r>
                  <a:rPr lang="en-US" sz="1600" b="1" i="0">
                    <a:solidFill>
                      <a:srgbClr val="EBBA6F">
                        <a:alpha val="100000"/>
                      </a:srgbClr>
                    </a:solidFill>
                    <a:latin typeface="Arial" panose="020B0604020202020204"/>
                    <a:ea typeface="Arial" panose="020B0604020202020204"/>
                    <a:cs typeface="Arial" panose="020B0604020202020204"/>
                  </a:rPr>
                  <a:t>04</a:t>
                </a:r>
                <a:endParaRPr lang="en-US" sz="1100"/>
              </a:p>
            </p:txBody>
          </p:sp>
          <p:sp>
            <p:nvSpPr>
              <p:cNvPr id="24" name="TextBox 24"/>
              <p:cNvSpPr txBox="1"/>
              <p:nvPr/>
            </p:nvSpPr>
            <p:spPr>
              <a:xfrm>
                <a:off x="5651074" y="4005529"/>
                <a:ext cx="5975233" cy="828000"/>
              </a:xfrm>
              <a:prstGeom prst="rect">
                <a:avLst/>
              </a:prstGeom>
              <a:ln>
                <a:headEnd type="none"/>
                <a:tailEnd type="none"/>
              </a:ln>
            </p:spPr>
            <p:txBody>
              <a:bodyPr vert="horz" wrap="square" lIns="90000" tIns="46800" rIns="90000" bIns="46800" rtlCol="0" anchor="ctr" anchorCtr="0"/>
              <a:lstStyle/>
              <a:p>
                <a:pPr algn="l">
                  <a:lnSpc>
                    <a:spcPct val="120000"/>
                  </a:lnSpc>
                  <a:defRPr/>
                </a:pPr>
                <a:r>
                  <a:rPr lang="en-US" sz="1200" b="0" i="0">
                    <a:solidFill>
                      <a:srgbClr val="FFFFFF">
                        <a:alpha val="100000"/>
                      </a:srgbClr>
                    </a:solidFill>
                    <a:latin typeface="思源黑体 CN Regular"/>
                    <a:ea typeface="思源黑体 CN Regular"/>
                    <a:cs typeface="思源黑体 CN Regular"/>
                  </a:rPr>
                  <a:t>提供开放的数据接口（API）和开发工具包（SDK），鼓励第三方开发者基于平台数据进行二次开发，共同构建环保数据生态。</a:t>
                </a:r>
                <a:endParaRPr lang="en-US" sz="1100"/>
              </a:p>
            </p:txBody>
          </p:sp>
          <p:sp>
            <p:nvSpPr>
              <p:cNvPr id="25" name="TextBox 25"/>
              <p:cNvSpPr txBox="1"/>
              <p:nvPr/>
            </p:nvSpPr>
            <p:spPr>
              <a:xfrm>
                <a:off x="2626494" y="4007141"/>
                <a:ext cx="2880000" cy="828000"/>
              </a:xfrm>
              <a:prstGeom prst="rect">
                <a:avLst/>
              </a:prstGeom>
              <a:ln>
                <a:headEnd type="none"/>
                <a:tailEnd type="none"/>
              </a:ln>
            </p:spPr>
            <p:txBody>
              <a:bodyPr vert="horz" wrap="square" lIns="91440" tIns="45720" rIns="91440" bIns="45720" rtlCol="0" anchor="ctr" anchorCtr="0"/>
              <a:lstStyle/>
              <a:p>
                <a:pPr algn="l">
                  <a:spcBef>
                    <a:spcPts val="0"/>
                  </a:spcBef>
                  <a:defRPr/>
                </a:pPr>
                <a:r>
                  <a:rPr lang="en-US" sz="1800" b="1" i="0">
                    <a:solidFill>
                      <a:srgbClr val="FFFFFF">
                        <a:alpha val="100000"/>
                      </a:srgbClr>
                    </a:solidFill>
                    <a:latin typeface="汉仪行楷简"/>
                    <a:ea typeface="汉仪行楷简"/>
                    <a:cs typeface="汉仪行楷简"/>
                  </a:rPr>
                  <a:t>开放生态构建</a:t>
                </a:r>
                <a:endParaRPr lang="en-US" sz="1100"/>
              </a:p>
            </p:txBody>
          </p:sp>
        </p:grpSp>
      </p:grpSp>
      <p:sp>
        <p:nvSpPr>
          <p:cNvPr id="26" name="TextBox 26"/>
          <p:cNvSpPr txBox="1"/>
          <p:nvPr/>
        </p:nvSpPr>
        <p:spPr>
          <a:xfrm>
            <a:off x="1465006" y="304799"/>
            <a:ext cx="9760043" cy="723901"/>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3000" b="0" i="0">
                <a:solidFill>
                  <a:srgbClr val="FFFFFF">
                    <a:alpha val="100000"/>
                  </a:srgbClr>
                </a:solidFill>
                <a:latin typeface="汉仪行楷简"/>
                <a:ea typeface="汉仪行楷简"/>
                <a:cs typeface="汉仪行楷简"/>
              </a:rPr>
              <a:t>未来发展规划</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60400" y="1899468"/>
            <a:ext cx="6520244" cy="1323439"/>
          </a:xfrm>
          <a:prstGeom prst="rect">
            <a:avLst/>
          </a:prstGeom>
          <a:ln>
            <a:headEnd type="none"/>
            <a:tailEnd type="none"/>
          </a:ln>
        </p:spPr>
        <p:txBody>
          <a:bodyPr vert="horz" wrap="square" lIns="91440" tIns="45720" rIns="91440" bIns="45720" rtlCol="0" anchor="ctr" anchorCtr="0"/>
          <a:lstStyle/>
          <a:p>
            <a:pPr algn="l">
              <a:lnSpc>
                <a:spcPct val="100000"/>
              </a:lnSpc>
              <a:spcBef>
                <a:spcPts val="0"/>
              </a:spcBef>
              <a:defRPr/>
            </a:pPr>
            <a:r>
              <a:rPr lang="en-US" sz="7200" b="0" i="0">
                <a:solidFill>
                  <a:srgbClr val="FFFFFF">
                    <a:alpha val="100000"/>
                  </a:srgbClr>
                </a:solidFill>
                <a:latin typeface="汉仪行楷简"/>
                <a:ea typeface="汉仪行楷简"/>
                <a:cs typeface="汉仪行楷简"/>
              </a:rPr>
              <a:t>谢谢观看</a:t>
            </a:r>
            <a:endParaRPr lang="en-US" sz="7200" b="0" i="0">
              <a:solidFill>
                <a:srgbClr val="FFFFFF">
                  <a:alpha val="100000"/>
                </a:srgbClr>
              </a:solidFill>
              <a:latin typeface="汉仪行楷简"/>
              <a:ea typeface="汉仪行楷简"/>
              <a:cs typeface="汉仪行楷简"/>
            </a:endParaRPr>
          </a:p>
        </p:txBody>
      </p:sp>
    </p:spTree>
  </p:cSld>
  <p:clrMapOvr>
    <a:masterClrMapping/>
  </p:clrMapOvr>
</p:sld>
</file>

<file path=ppt/tags/tag1.xml><?xml version="1.0" encoding="utf-8"?>
<p:tagLst xmlns:p="http://schemas.openxmlformats.org/presentationml/2006/main">
  <p:tag name="KSO_WM_DIAGRAM_VIRTUALLY_FRAME" val="{&quot;height&quot;:339.75086614173233,&quot;left&quot;:0,&quot;top&quot;:89,&quot;width&quot;:960}"/>
</p:tagLst>
</file>

<file path=ppt/tags/tag2.xml><?xml version="1.0" encoding="utf-8"?>
<p:tagLst xmlns:p="http://schemas.openxmlformats.org/presentationml/2006/main">
  <p:tag name="KSO_WM_DIAGRAM_VIRTUALLY_FRAME" val="{&quot;height&quot;:339.75086614173233,&quot;left&quot;:0,&quot;top&quot;:89,&quot;width&quot;:960}"/>
</p:tagLst>
</file>

<file path=ppt/tags/tag3.xml><?xml version="1.0" encoding="utf-8"?>
<p:tagLst xmlns:p="http://schemas.openxmlformats.org/presentationml/2006/main">
  <p:tag name="KSO_WM_DIAGRAM_VIRTUALLY_FRAME" val="{&quot;height&quot;:339.75086614173233,&quot;left&quot;:0,&quot;top&quot;:89,&quot;width&quot;:960}"/>
</p:tagLst>
</file>

<file path=ppt/tags/tag4.xml><?xml version="1.0" encoding="utf-8"?>
<p:tagLst xmlns:p="http://schemas.openxmlformats.org/presentationml/2006/main">
  <p:tag name="KSO_WM_DIAGRAM_VIRTUALLY_FRAME" val="{&quot;height&quot;:339.75086614173233,&quot;left&quot;:0,&quot;top&quot;:89,&quot;width&quot;:960}"/>
</p:tagLst>
</file>

<file path=ppt/tags/tag5.xml><?xml version="1.0" encoding="utf-8"?>
<p:tagLst xmlns:p="http://schemas.openxmlformats.org/presentationml/2006/main">
  <p:tag name="KSO_WM_DIAGRAM_VIRTUALLY_FRAME" val="{&quot;height&quot;:339.75086614173233,&quot;left&quot;:0,&quot;top&quot;:89,&quot;width&quot;:960}"/>
</p:tagLst>
</file>

<file path=ppt/tags/tag6.xml><?xml version="1.0" encoding="utf-8"?>
<p:tagLst xmlns:p="http://schemas.openxmlformats.org/presentationml/2006/main">
  <p:tag name="KSO_WM_DIAGRAM_VIRTUALLY_FRAME" val="{&quot;height&quot;:339.75086614173233,&quot;left&quot;:0,&quot;top&quot;:89,&quot;width&quot;:960}"/>
</p:tagLst>
</file>

<file path=ppt/tags/tag7.xml><?xml version="1.0" encoding="utf-8"?>
<p:tagLst xmlns:p="http://schemas.openxmlformats.org/presentationml/2006/main">
  <p:tag name="KSO_WM_DIAGRAM_VIRTUALLY_FRAME" val="{&quot;height&quot;:339.75086614173233,&quot;left&quot;:0,&quot;top&quot;:89,&quot;width&quot;:960}"/>
</p:tagLst>
</file>

<file path=ppt/tags/tag8.xml><?xml version="1.0" encoding="utf-8"?>
<p:tagLst xmlns:p="http://schemas.openxmlformats.org/presentationml/2006/main">
  <p:tag name="KSO_WM_DIAGRAM_VIRTUALLY_FRAME" val="{&quot;height&quot;:339.75086614173233,&quot;left&quot;:0,&quot;top&quot;:89,&quot;width&quot;:960}"/>
</p:tagLst>
</file>

<file path=ppt/tags/tag9.xml><?xml version="1.0" encoding="utf-8"?>
<p:tagLst xmlns:p="http://schemas.openxmlformats.org/presentationml/2006/main">
  <p:tag name="KSO_WM_DIAGRAM_VIRTUALLY_FRAME" val="{&quot;height&quot;:339.75086614173233,&quot;left&quot;:0,&quot;top&quot;:89,&quot;width&quot;:960}"/>
</p:tagLst>
</file>

<file path=ppt/tags/tag10.xml><?xml version="1.0" encoding="utf-8"?>
<p:tagLst xmlns:p="http://schemas.openxmlformats.org/presentationml/2006/main">
  <p:tag name="KSO_WM_DIAGRAM_VIRTUALLY_FRAME" val="{&quot;height&quot;:339.75086614173233,&quot;left&quot;:0,&quot;top&quot;:89,&quot;width&quot;:960}"/>
</p:tagLst>
</file>

<file path=ppt/tags/tag11.xml><?xml version="1.0" encoding="utf-8"?>
<p:tagLst xmlns:p="http://schemas.openxmlformats.org/presentationml/2006/main">
  <p:tag name="KSO_WM_DIAGRAM_VIRTUALLY_FRAME" val="{&quot;height&quot;:339.75086614173233,&quot;left&quot;:0,&quot;top&quot;:89,&quot;width&quot;:960}"/>
</p:tagLst>
</file>

<file path=ppt/tags/tag12.xml><?xml version="1.0" encoding="utf-8"?>
<p:tagLst xmlns:p="http://schemas.openxmlformats.org/presentationml/2006/main">
  <p:tag name="KSO_WM_DIAGRAM_VIRTUALLY_FRAME" val="{&quot;height&quot;:339.75086614173233,&quot;left&quot;:0,&quot;top&quot;:89,&quot;width&quot;:960}"/>
</p:tagLst>
</file>

<file path=ppt/tags/tag13.xml><?xml version="1.0" encoding="utf-8"?>
<p:tagLst xmlns:p="http://schemas.openxmlformats.org/presentationml/2006/main">
  <p:tag name="KSO_WM_DIAGRAM_VIRTUALLY_FRAME" val="{&quot;height&quot;:339.75086614173233,&quot;left&quot;:0,&quot;top&quot;:89,&quot;width&quot;:960}"/>
</p:tagLst>
</file>

<file path=ppt/tags/tag14.xml><?xml version="1.0" encoding="utf-8"?>
<p:tagLst xmlns:p="http://schemas.openxmlformats.org/presentationml/2006/main">
  <p:tag name="KSO_WM_DIAGRAM_VIRTUALLY_FRAME" val="{&quot;height&quot;:339.75086614173233,&quot;left&quot;:0,&quot;top&quot;:89,&quot;width&quot;:960}"/>
</p:tagLst>
</file>

<file path=ppt/tags/tag15.xml><?xml version="1.0" encoding="utf-8"?>
<p:tagLst xmlns:p="http://schemas.openxmlformats.org/presentationml/2006/main">
  <p:tag name="KSO_WM_DIAGRAM_VIRTUALLY_FRAME" val="{&quot;height&quot;:339.75086614173233,&quot;left&quot;:0,&quot;top&quot;:89,&quot;width&quot;:960}"/>
</p:tagLst>
</file>

<file path=ppt/tags/tag16.xml><?xml version="1.0" encoding="utf-8"?>
<p:tagLst xmlns:p="http://schemas.openxmlformats.org/presentationml/2006/main">
  <p:tag name="KSO_WM_DIAGRAM_VIRTUALLY_FRAME" val="{&quot;height&quot;:339.75086614173233,&quot;left&quot;:0,&quot;top&quot;:89,&quot;width&quot;:960}"/>
</p:tagLst>
</file>

<file path=ppt/tags/tag17.xml><?xml version="1.0" encoding="utf-8"?>
<p:tagLst xmlns:p="http://schemas.openxmlformats.org/presentationml/2006/main">
  <p:tag name="KSO_WM_DIAGRAM_VIRTUALLY_FRAME" val="{&quot;height&quot;:339.75086614173233,&quot;left&quot;:0,&quot;top&quot;:89,&quot;width&quot;:960}"/>
</p:tagLst>
</file>

<file path=ppt/tags/tag18.xml><?xml version="1.0" encoding="utf-8"?>
<p:tagLst xmlns:p="http://schemas.openxmlformats.org/presentationml/2006/main">
  <p:tag name="KSO_WM_DIAGRAM_VIRTUALLY_FRAME" val="{&quot;height&quot;:339.75086614173233,&quot;left&quot;:0,&quot;top&quot;:89,&quot;width&quot;:960}"/>
</p:tagLst>
</file>

<file path=ppt/tags/tag19.xml><?xml version="1.0" encoding="utf-8"?>
<p:tagLst xmlns:p="http://schemas.openxmlformats.org/presentationml/2006/main">
  <p:tag name="KSO_WM_DIAGRAM_VIRTUALLY_FRAME" val="{&quot;height&quot;:393.9999212598425,&quot;left&quot;:51.999921259842516,&quot;top&quot;:89.00015748031495,&quot;width&quot;:855}"/>
</p:tagLst>
</file>

<file path=ppt/tags/tag20.xml><?xml version="1.0" encoding="utf-8"?>
<p:tagLst xmlns:p="http://schemas.openxmlformats.org/presentationml/2006/main">
  <p:tag name="KSO_WM_DIAGRAM_VIRTUALLY_FRAME" val="{&quot;height&quot;:393.9999212598425,&quot;left&quot;:51.999921259842516,&quot;top&quot;:89.00015748031495,&quot;width&quot;:855}"/>
</p:tagLst>
</file>

<file path=ppt/tags/tag21.xml><?xml version="1.0" encoding="utf-8"?>
<p:tagLst xmlns:p="http://schemas.openxmlformats.org/presentationml/2006/main">
  <p:tag name="KSO_WM_DIAGRAM_VIRTUALLY_FRAME" val="{&quot;height&quot;:393.9999212598425,&quot;left&quot;:51.999921259842516,&quot;top&quot;:89.00015748031495,&quot;width&quot;:855}"/>
</p:tagLst>
</file>

<file path=ppt/tags/tag22.xml><?xml version="1.0" encoding="utf-8"?>
<p:tagLst xmlns:p="http://schemas.openxmlformats.org/presentationml/2006/main">
  <p:tag name="KSO_WM_DIAGRAM_VIRTUALLY_FRAME" val="{&quot;height&quot;:393.9999212598425,&quot;left&quot;:51.999921259842516,&quot;top&quot;:89.00015748031495,&quot;width&quot;:855}"/>
</p:tagLst>
</file>

<file path=ppt/tags/tag23.xml><?xml version="1.0" encoding="utf-8"?>
<p:tagLst xmlns:p="http://schemas.openxmlformats.org/presentationml/2006/main">
  <p:tag name="KSO_WM_DIAGRAM_VIRTUALLY_FRAME" val="{&quot;height&quot;:393.9999212598425,&quot;left&quot;:51.999921259842516,&quot;top&quot;:89.00015748031495,&quot;width&quot;:855}"/>
</p:tagLst>
</file>

<file path=ppt/tags/tag24.xml><?xml version="1.0" encoding="utf-8"?>
<p:tagLst xmlns:p="http://schemas.openxmlformats.org/presentationml/2006/main">
  <p:tag name="KSO_WM_DIAGRAM_VIRTUALLY_FRAME" val="{&quot;height&quot;:393.9999212598425,&quot;left&quot;:51.999921259842516,&quot;top&quot;:89.00015748031495,&quot;width&quot;:855}"/>
</p:tagLst>
</file>

<file path=ppt/tags/tag25.xml><?xml version="1.0" encoding="utf-8"?>
<p:tagLst xmlns:p="http://schemas.openxmlformats.org/presentationml/2006/main">
  <p:tag name="KSO_WM_DIAGRAM_VIRTUALLY_FRAME" val="{&quot;height&quot;:393.9999212598425,&quot;left&quot;:51.999921259842516,&quot;top&quot;:89.00015748031495,&quot;width&quot;:855}"/>
</p:tagLst>
</file>

<file path=ppt/tags/tag26.xml><?xml version="1.0" encoding="utf-8"?>
<p:tagLst xmlns:p="http://schemas.openxmlformats.org/presentationml/2006/main">
  <p:tag name="KSO_WM_DIAGRAM_VIRTUALLY_FRAME" val="{&quot;height&quot;:393.9999212598425,&quot;left&quot;:51.999921259842516,&quot;top&quot;:89.00015748031495,&quot;width&quot;:855}"/>
</p:tagLst>
</file>

<file path=ppt/tags/tag27.xml><?xml version="1.0" encoding="utf-8"?>
<p:tagLst xmlns:p="http://schemas.openxmlformats.org/presentationml/2006/main">
  <p:tag name="KSO_WM_DIAGRAM_VIRTUALLY_FRAME" val="{&quot;height&quot;:393.9999212598425,&quot;left&quot;:51.999921259842516,&quot;top&quot;:89.00015748031495,&quot;width&quot;:855}"/>
</p:tagLst>
</file>

<file path=ppt/tags/tag28.xml><?xml version="1.0" encoding="utf-8"?>
<p:tagLst xmlns:p="http://schemas.openxmlformats.org/presentationml/2006/main">
  <p:tag name="KSO_WM_DIAGRAM_VIRTUALLY_FRAME" val="{&quot;height&quot;:393.9999212598425,&quot;left&quot;:51.999921259842516,&quot;top&quot;:89.00015748031495,&quot;width&quot;:855}"/>
</p:tagLst>
</file>

<file path=ppt/tags/tag29.xml><?xml version="1.0" encoding="utf-8"?>
<p:tagLst xmlns:p="http://schemas.openxmlformats.org/presentationml/2006/main">
  <p:tag name="KSO_WM_DIAGRAM_VIRTUALLY_FRAME" val="{&quot;height&quot;:393.9999212598425,&quot;left&quot;:51.999921259842516,&quot;top&quot;:89.00015748031495,&quot;width&quot;:855}"/>
</p:tagLst>
</file>

<file path=ppt/tags/tag30.xml><?xml version="1.0" encoding="utf-8"?>
<p:tagLst xmlns:p="http://schemas.openxmlformats.org/presentationml/2006/main">
  <p:tag name="KSO_WM_DIAGRAM_VIRTUALLY_FRAME" val="{&quot;height&quot;:393.9999212598425,&quot;left&quot;:51.999921259842516,&quot;top&quot;:89.00015748031495,&quot;width&quot;:855}"/>
</p:tagLst>
</file>

<file path=ppt/tags/tag31.xml><?xml version="1.0" encoding="utf-8"?>
<p:tagLst xmlns:p="http://schemas.openxmlformats.org/presentationml/2006/main">
  <p:tag name="KSO_WM_DIAGRAM_VIRTUALLY_FRAME" val="{&quot;height&quot;:393.9999212598425,&quot;left&quot;:51.999921259842516,&quot;top&quot;:89.00015748031495,&quot;width&quot;:855}"/>
</p:tagLst>
</file>

<file path=ppt/tags/tag32.xml><?xml version="1.0" encoding="utf-8"?>
<p:tagLst xmlns:p="http://schemas.openxmlformats.org/presentationml/2006/main">
  <p:tag name="KSO_WM_DIAGRAM_VIRTUALLY_FRAME" val="{&quot;height&quot;:393.9999212598425,&quot;left&quot;:51.999921259842516,&quot;top&quot;:89.00015748031495,&quot;width&quot;:855}"/>
</p:tagLst>
</file>

<file path=ppt/tags/tag33.xml><?xml version="1.0" encoding="utf-8"?>
<p:tagLst xmlns:p="http://schemas.openxmlformats.org/presentationml/2006/main">
  <p:tag name="KSO_WM_DIAGRAM_VIRTUALLY_FRAME" val="{&quot;height&quot;:362.17527559055117,&quot;left&quot;:52,&quot;top&quot;:97.85456692913385,&quot;width&quot;:855}"/>
</p:tagLst>
</file>

<file path=ppt/tags/tag34.xml><?xml version="1.0" encoding="utf-8"?>
<p:tagLst xmlns:p="http://schemas.openxmlformats.org/presentationml/2006/main">
  <p:tag name="KSO_WM_DIAGRAM_VIRTUALLY_FRAME" val="{&quot;height&quot;:362.17527559055117,&quot;left&quot;:52,&quot;top&quot;:97.85456692913385,&quot;width&quot;:855}"/>
</p:tagLst>
</file>

<file path=ppt/tags/tag35.xml><?xml version="1.0" encoding="utf-8"?>
<p:tagLst xmlns:p="http://schemas.openxmlformats.org/presentationml/2006/main">
  <p:tag name="KSO_WM_DIAGRAM_VIRTUALLY_FRAME" val="{&quot;height&quot;:362.17527559055117,&quot;left&quot;:52,&quot;top&quot;:97.85456692913385,&quot;width&quot;:855}"/>
</p:tagLst>
</file>

<file path=ppt/tags/tag36.xml><?xml version="1.0" encoding="utf-8"?>
<p:tagLst xmlns:p="http://schemas.openxmlformats.org/presentationml/2006/main">
  <p:tag name="KSO_WM_DIAGRAM_VIRTUALLY_FRAME" val="{&quot;height&quot;:362.17527559055117,&quot;left&quot;:52,&quot;top&quot;:97.85456692913385,&quot;width&quot;:855}"/>
</p:tagLst>
</file>

<file path=ppt/tags/tag37.xml><?xml version="1.0" encoding="utf-8"?>
<p:tagLst xmlns:p="http://schemas.openxmlformats.org/presentationml/2006/main">
  <p:tag name="KSO_WM_DIAGRAM_VIRTUALLY_FRAME" val="{&quot;height&quot;:362.17527559055117,&quot;left&quot;:52,&quot;top&quot;:97.85456692913385,&quot;width&quot;:855}"/>
</p:tagLst>
</file>

<file path=ppt/tags/tag38.xml><?xml version="1.0" encoding="utf-8"?>
<p:tagLst xmlns:p="http://schemas.openxmlformats.org/presentationml/2006/main">
  <p:tag name="KSO_WM_DIAGRAM_VIRTUALLY_FRAME" val="{&quot;height&quot;:362.17527559055117,&quot;left&quot;:52,&quot;top&quot;:97.85456692913385,&quot;width&quot;:855}"/>
</p:tagLst>
</file>

<file path=ppt/tags/tag39.xml><?xml version="1.0" encoding="utf-8"?>
<p:tagLst xmlns:p="http://schemas.openxmlformats.org/presentationml/2006/main">
  <p:tag name="KSO_WM_DIAGRAM_VIRTUALLY_FRAME" val="{&quot;height&quot;:362.17527559055117,&quot;left&quot;:52,&quot;top&quot;:97.85456692913385,&quot;width&quot;:855}"/>
</p:tagLst>
</file>

<file path=ppt/tags/tag40.xml><?xml version="1.0" encoding="utf-8"?>
<p:tagLst xmlns:p="http://schemas.openxmlformats.org/presentationml/2006/main">
  <p:tag name="KSO_WM_DIAGRAM_VIRTUALLY_FRAME" val="{&quot;height&quot;:362.17527559055117,&quot;left&quot;:52,&quot;top&quot;:97.85456692913385,&quot;width&quot;:855}"/>
</p:tagLst>
</file>

<file path=ppt/tags/tag41.xml><?xml version="1.0" encoding="utf-8"?>
<p:tagLst xmlns:p="http://schemas.openxmlformats.org/presentationml/2006/main">
  <p:tag name="KSO_WM_DIAGRAM_VIRTUALLY_FRAME" val="{&quot;height&quot;:362.17527559055117,&quot;left&quot;:52,&quot;top&quot;:97.85456692913385,&quot;width&quot;:855}"/>
</p:tagLst>
</file>

<file path=ppt/tags/tag42.xml><?xml version="1.0" encoding="utf-8"?>
<p:tagLst xmlns:p="http://schemas.openxmlformats.org/presentationml/2006/main">
  <p:tag name="KSO_WM_DIAGRAM_VIRTUALLY_FRAME" val="{&quot;height&quot;:362.17527559055117,&quot;left&quot;:52,&quot;top&quot;:97.85456692913385,&quot;width&quot;:855}"/>
</p:tagLst>
</file>

<file path=ppt/tags/tag43.xml><?xml version="1.0" encoding="utf-8"?>
<p:tagLst xmlns:p="http://schemas.openxmlformats.org/presentationml/2006/main">
  <p:tag name="KSO_WM_DIAGRAM_VIRTUALLY_FRAME" val="{&quot;height&quot;:362.17527559055117,&quot;left&quot;:52,&quot;top&quot;:97.85456692913385,&quot;width&quot;:855}"/>
</p:tagLst>
</file>

<file path=ppt/tags/tag44.xml><?xml version="1.0" encoding="utf-8"?>
<p:tagLst xmlns:p="http://schemas.openxmlformats.org/presentationml/2006/main">
  <p:tag name="KSO_WM_DIAGRAM_VIRTUALLY_FRAME" val="{&quot;height&quot;:362.17527559055117,&quot;left&quot;:52,&quot;top&quot;:97.85456692913385,&quot;width&quot;:855}"/>
</p:tagLst>
</file>

<file path=ppt/tags/tag45.xml><?xml version="1.0" encoding="utf-8"?>
<p:tagLst xmlns:p="http://schemas.openxmlformats.org/presentationml/2006/main">
  <p:tag name="KSO_WM_DIAGRAM_VIRTUALLY_FRAME" val="{&quot;height&quot;:362.17527559055117,&quot;left&quot;:52,&quot;top&quot;:97.85456692913385,&quot;width&quot;:855}"/>
</p:tagLst>
</file>

<file path=ppt/tags/tag46.xml><?xml version="1.0" encoding="utf-8"?>
<p:tagLst xmlns:p="http://schemas.openxmlformats.org/presentationml/2006/main">
  <p:tag name="KSO_WM_DIAGRAM_VIRTUALLY_FRAME" val="{&quot;height&quot;:362.17527559055117,&quot;left&quot;:52,&quot;top&quot;:97.85456692913385,&quot;width&quot;:855}"/>
</p:tagLst>
</file>

<file path=ppt/tags/tag47.xml><?xml version="1.0" encoding="utf-8"?>
<p:tagLst xmlns:p="http://schemas.openxmlformats.org/presentationml/2006/main">
  <p:tag name="KSO_WM_DIAGRAM_VIRTUALLY_FRAME" val="{&quot;height&quot;:362.17527559055117,&quot;left&quot;:52,&quot;top&quot;:97.85456692913385,&quot;width&quot;:855}"/>
</p:tagLst>
</file>

<file path=ppt/tags/tag48.xml><?xml version="1.0" encoding="utf-8"?>
<p:tagLst xmlns:p="http://schemas.openxmlformats.org/presentationml/2006/main">
  <p:tag name="KSO_WM_DIAGRAM_VIRTUALLY_FRAME" val="{&quot;height&quot;:362.17527559055117,&quot;left&quot;:52,&quot;top&quot;:97.85456692913385,&quot;width&quot;:855}"/>
</p:tagLst>
</file>

<file path=ppt/tags/tag49.xml><?xml version="1.0" encoding="utf-8"?>
<p:tagLst xmlns:p="http://schemas.openxmlformats.org/presentationml/2006/main">
  <p:tag name="KSO_WM_DIAGRAM_VIRTUALLY_FRAME" val="{&quot;height&quot;:362.17527559055117,&quot;left&quot;:52,&quot;top&quot;:97.85456692913385,&quot;width&quot;:855}"/>
</p:tagLst>
</file>

<file path=ppt/tags/tag50.xml><?xml version="1.0" encoding="utf-8"?>
<p:tagLst xmlns:p="http://schemas.openxmlformats.org/presentationml/2006/main">
  <p:tag name="KSO_WM_DIAGRAM_VIRTUALLY_FRAME" val="{&quot;height&quot;:381.1059842519685,&quot;left&quot;:49.631181102362206,&quot;top&quot;:89,&quot;width&quot;:859.737716535433}"/>
</p:tagLst>
</file>

<file path=ppt/tags/tag51.xml><?xml version="1.0" encoding="utf-8"?>
<p:tagLst xmlns:p="http://schemas.openxmlformats.org/presentationml/2006/main">
  <p:tag name="KSO_WM_DIAGRAM_VIRTUALLY_FRAME" val="{&quot;height&quot;:381.1059842519685,&quot;left&quot;:49.631181102362206,&quot;top&quot;:89,&quot;width&quot;:859.737716535433}"/>
</p:tagLst>
</file>

<file path=ppt/tags/tag52.xml><?xml version="1.0" encoding="utf-8"?>
<p:tagLst xmlns:p="http://schemas.openxmlformats.org/presentationml/2006/main">
  <p:tag name="KSO_WM_DIAGRAM_VIRTUALLY_FRAME" val="{&quot;height&quot;:381.1059842519685,&quot;left&quot;:49.631181102362206,&quot;top&quot;:89,&quot;width&quot;:859.737716535433}"/>
</p:tagLst>
</file>

<file path=ppt/tags/tag53.xml><?xml version="1.0" encoding="utf-8"?>
<p:tagLst xmlns:p="http://schemas.openxmlformats.org/presentationml/2006/main">
  <p:tag name="KSO_WM_DIAGRAM_VIRTUALLY_FRAME" val="{&quot;height&quot;:381.1059842519685,&quot;left&quot;:49.631181102362206,&quot;top&quot;:89,&quot;width&quot;:859.737716535433}"/>
</p:tagLst>
</file>

<file path=ppt/tags/tag54.xml><?xml version="1.0" encoding="utf-8"?>
<p:tagLst xmlns:p="http://schemas.openxmlformats.org/presentationml/2006/main">
  <p:tag name="KSO_WM_DIAGRAM_VIRTUALLY_FRAME" val="{&quot;height&quot;:381.1059842519685,&quot;left&quot;:49.631181102362206,&quot;top&quot;:89,&quot;width&quot;:859.737716535433}"/>
</p:tagLst>
</file>

<file path=ppt/tags/tag55.xml><?xml version="1.0" encoding="utf-8"?>
<p:tagLst xmlns:p="http://schemas.openxmlformats.org/presentationml/2006/main">
  <p:tag name="KSO_WM_DIAGRAM_VIRTUALLY_FRAME" val="{&quot;height&quot;:381.1059842519685,&quot;left&quot;:49.631181102362206,&quot;top&quot;:89,&quot;width&quot;:859.737716535433}"/>
</p:tagLst>
</file>

<file path=ppt/tags/tag56.xml><?xml version="1.0" encoding="utf-8"?>
<p:tagLst xmlns:p="http://schemas.openxmlformats.org/presentationml/2006/main">
  <p:tag name="KSO_WM_DIAGRAM_VIRTUALLY_FRAME" val="{&quot;height&quot;:381.1059842519685,&quot;left&quot;:49.631181102362206,&quot;top&quot;:89,&quot;width&quot;:859.737716535433}"/>
</p:tagLst>
</file>

<file path=ppt/tags/tag57.xml><?xml version="1.0" encoding="utf-8"?>
<p:tagLst xmlns:p="http://schemas.openxmlformats.org/presentationml/2006/main">
  <p:tag name="KSO_WM_DIAGRAM_VIRTUALLY_FRAME" val="{&quot;height&quot;:381.1059842519685,&quot;left&quot;:49.631181102362206,&quot;top&quot;:89,&quot;width&quot;:859.737716535433}"/>
</p:tagLst>
</file>

<file path=ppt/tags/tag58.xml><?xml version="1.0" encoding="utf-8"?>
<p:tagLst xmlns:p="http://schemas.openxmlformats.org/presentationml/2006/main">
  <p:tag name="KSO_WM_DIAGRAM_VIRTUALLY_FRAME" val="{&quot;height&quot;:381.1059842519685,&quot;left&quot;:49.631181102362206,&quot;top&quot;:89,&quot;width&quot;:859.737716535433}"/>
</p:tagLst>
</file>

<file path=ppt/tags/tag59.xml><?xml version="1.0" encoding="utf-8"?>
<p:tagLst xmlns:p="http://schemas.openxmlformats.org/presentationml/2006/main">
  <p:tag name="KSO_WM_DIAGRAM_VIRTUALLY_FRAME" val="{&quot;height&quot;:381.1059842519685,&quot;left&quot;:49.631181102362206,&quot;top&quot;:89,&quot;width&quot;:859.737716535433}"/>
</p:tagLst>
</file>

<file path=ppt/tags/tag60.xml><?xml version="1.0" encoding="utf-8"?>
<p:tagLst xmlns:p="http://schemas.openxmlformats.org/presentationml/2006/main">
  <p:tag name="KSO_WM_DIAGRAM_VIRTUALLY_FRAME" val="{&quot;height&quot;:381.1059842519685,&quot;left&quot;:49.631181102362206,&quot;top&quot;:89,&quot;width&quot;:859.737716535433}"/>
</p:tagLst>
</file>

<file path=ppt/tags/tag61.xml><?xml version="1.0" encoding="utf-8"?>
<p:tagLst xmlns:p="http://schemas.openxmlformats.org/presentationml/2006/main">
  <p:tag name="KSO_WM_DIAGRAM_VIRTUALLY_FRAME" val="{&quot;height&quot;:381.1059842519685,&quot;left&quot;:49.631181102362206,&quot;top&quot;:89,&quot;width&quot;:859.737716535433}"/>
</p:tagLst>
</file>

<file path=ppt/tags/tag62.xml><?xml version="1.0" encoding="utf-8"?>
<p:tagLst xmlns:p="http://schemas.openxmlformats.org/presentationml/2006/main">
  <p:tag name="KSO_WM_DIAGRAM_VIRTUALLY_FRAME" val="{&quot;height&quot;:381.1059842519685,&quot;left&quot;:49.631181102362206,&quot;top&quot;:89,&quot;width&quot;:859.737716535433}"/>
</p:tagLst>
</file>

<file path=ppt/tags/tag63.xml><?xml version="1.0" encoding="utf-8"?>
<p:tagLst xmlns:p="http://schemas.openxmlformats.org/presentationml/2006/main">
  <p:tag name="KSO_WM_DIAGRAM_VIRTUALLY_FRAME" val="{&quot;height&quot;:381.1059842519685,&quot;left&quot;:49.631181102362206,&quot;top&quot;:89,&quot;width&quot;:859.737716535433}"/>
</p:tagLst>
</file>

<file path=ppt/tags/tag64.xml><?xml version="1.0" encoding="utf-8"?>
<p:tagLst xmlns:p="http://schemas.openxmlformats.org/presentationml/2006/main">
  <p:tag name="KSO_WM_DIAGRAM_VIRTUALLY_FRAME" val="{&quot;height&quot;:381.1059842519685,&quot;left&quot;:49.631181102362206,&quot;top&quot;:89,&quot;width&quot;:859.737716535433}"/>
</p:tagLst>
</file>

<file path=ppt/tags/tag65.xml><?xml version="1.0" encoding="utf-8"?>
<p:tagLst xmlns:p="http://schemas.openxmlformats.org/presentationml/2006/main">
  <p:tag name="KSO_WM_DIAGRAM_VIRTUALLY_FRAME" val="{&quot;height&quot;:381.1059842519685,&quot;left&quot;:49.631181102362206,&quot;top&quot;:89,&quot;width&quot;:859.737716535433}"/>
</p:tagLst>
</file>

<file path=ppt/tags/tag66.xml><?xml version="1.0" encoding="utf-8"?>
<p:tagLst xmlns:p="http://schemas.openxmlformats.org/presentationml/2006/main">
  <p:tag name="KSO_WM_DIAGRAM_VIRTUALLY_FRAME" val="{&quot;height&quot;:381.1059842519685,&quot;left&quot;:49.631181102362206,&quot;top&quot;:89,&quot;width&quot;:859.737716535433}"/>
</p:tagLst>
</file>

<file path=ppt/tags/tag67.xml><?xml version="1.0" encoding="utf-8"?>
<p:tagLst xmlns:p="http://schemas.openxmlformats.org/presentationml/2006/main">
  <p:tag name="KSO_WM_DIAGRAM_VIRTUALLY_FRAME" val="{&quot;height&quot;:381.1059842519685,&quot;left&quot;:49.631181102362206,&quot;top&quot;:89,&quot;width&quot;:859.737716535433}"/>
</p:tagLst>
</file>

<file path=ppt/tags/tag68.xml><?xml version="1.0" encoding="utf-8"?>
<p:tagLst xmlns:p="http://schemas.openxmlformats.org/presentationml/2006/main">
  <p:tag name="KSO_WM_DIAGRAM_VIRTUALLY_FRAME" val="{&quot;height&quot;:381.1059842519685,&quot;left&quot;:49.631181102362206,&quot;top&quot;:89,&quot;width&quot;:859.737716535433}"/>
</p:tagLst>
</file>

<file path=ppt/tags/tag69.xml><?xml version="1.0" encoding="utf-8"?>
<p:tagLst xmlns:p="http://schemas.openxmlformats.org/presentationml/2006/main">
  <p:tag name="KSO_WM_DIAGRAM_VIRTUALLY_FRAME" val="{&quot;height&quot;:381.1059842519685,&quot;left&quot;:49.631181102362206,&quot;top&quot;:89,&quot;width&quot;:859.737716535433}"/>
</p:tagLst>
</file>

<file path=ppt/tags/tag70.xml><?xml version="1.0" encoding="utf-8"?>
<p:tagLst xmlns:p="http://schemas.openxmlformats.org/presentationml/2006/main">
  <p:tag name="KSO_WM_DIAGRAM_VIRTUALLY_FRAME" val="{&quot;height&quot;:381.1059842519685,&quot;left&quot;:49.631181102362206,&quot;top&quot;:89,&quot;width&quot;:859.737716535433}"/>
</p:tagLst>
</file>

<file path=ppt/tags/tag71.xml><?xml version="1.0" encoding="utf-8"?>
<p:tagLst xmlns:p="http://schemas.openxmlformats.org/presentationml/2006/main">
  <p:tag name="KSO_WM_DIAGRAM_VIRTUALLY_FRAME" val="{&quot;height&quot;:381.1059842519685,&quot;left&quot;:49.631181102362206,&quot;top&quot;:89,&quot;width&quot;:859.737716535433}"/>
</p:tagLst>
</file>

<file path=ppt/tags/tag72.xml><?xml version="1.0" encoding="utf-8"?>
<p:tagLst xmlns:p="http://schemas.openxmlformats.org/presentationml/2006/main">
  <p:tag name="KSO_WM_DIAGRAM_VIRTUALLY_FRAME" val="{&quot;height&quot;:381.1059842519685,&quot;left&quot;:49.631181102362206,&quot;top&quot;:89,&quot;width&quot;:859.737716535433}"/>
</p:tagLst>
</file>

<file path=ppt/tags/tag73.xml><?xml version="1.0" encoding="utf-8"?>
<p:tagLst xmlns:p="http://schemas.openxmlformats.org/presentationml/2006/main">
  <p:tag name="KSO_WM_DIAGRAM_VIRTUALLY_FRAME" val="{&quot;height&quot;:381.1059842519685,&quot;left&quot;:49.631181102362206,&quot;top&quot;:89,&quot;width&quot;:859.737716535433}"/>
</p:tagLst>
</file>

<file path=ppt/tags/tag74.xml><?xml version="1.0" encoding="utf-8"?>
<p:tagLst xmlns:p="http://schemas.openxmlformats.org/presentationml/2006/main">
  <p:tag name="KSO_WM_DIAGRAM_VIRTUALLY_FRAME" val="{&quot;height&quot;:381.1059842519685,&quot;left&quot;:49.631181102362206,&quot;top&quot;:89,&quot;width&quot;:859.737716535433}"/>
</p:tagLst>
</file>

<file path=ppt/tags/tag75.xml><?xml version="1.0" encoding="utf-8"?>
<p:tagLst xmlns:p="http://schemas.openxmlformats.org/presentationml/2006/main">
  <p:tag name="KSO_WM_DIAGRAM_VIRTUALLY_FRAME" val="{&quot;height&quot;:381.1059842519685,&quot;left&quot;:49.631181102362206,&quot;top&quot;:89,&quot;width&quot;:859.737716535433}"/>
</p:tagLst>
</file>

<file path=ppt/tags/tag76.xml><?xml version="1.0" encoding="utf-8"?>
<p:tagLst xmlns:p="http://schemas.openxmlformats.org/presentationml/2006/main">
  <p:tag name="KSO_WM_DIAGRAM_VIRTUALLY_FRAME" val="{&quot;height&quot;:381.1059842519685,&quot;left&quot;:49.631181102362206,&quot;top&quot;:89,&quot;width&quot;:859.737716535433}"/>
</p:tagLst>
</file>

<file path=ppt/tags/tag77.xml><?xml version="1.0" encoding="utf-8"?>
<p:tagLst xmlns:p="http://schemas.openxmlformats.org/presentationml/2006/main">
  <p:tag name="KSO_WM_DIAGRAM_VIRTUALLY_FRAME" val="{&quot;height&quot;:381.1059842519685,&quot;left&quot;:49.631181102362206,&quot;top&quot;:89,&quot;width&quot;:859.737716535433}"/>
</p:tagLst>
</file>

<file path=ppt/tags/tag78.xml><?xml version="1.0" encoding="utf-8"?>
<p:tagLst xmlns:p="http://schemas.openxmlformats.org/presentationml/2006/main">
  <p:tag name="KSO_WM_DIAGRAM_VIRTUALLY_FRAME" val="{&quot;height&quot;:381.1059842519685,&quot;left&quot;:49.631181102362206,&quot;top&quot;:89,&quot;width&quot;:859.737716535433}"/>
</p:tagLst>
</file>

<file path=ppt/tags/tag79.xml><?xml version="1.0" encoding="utf-8"?>
<p:tagLst xmlns:p="http://schemas.openxmlformats.org/presentationml/2006/main">
  <p:tag name="KSO_WM_DIAGRAM_VIRTUALLY_FRAME" val="{&quot;height&quot;:381.1059842519685,&quot;left&quot;:49.631181102362206,&quot;top&quot;:89,&quot;width&quot;:859.737716535433}"/>
</p:tagLst>
</file>

<file path=ppt/tags/tag80.xml><?xml version="1.0" encoding="utf-8"?>
<p:tagLst xmlns:p="http://schemas.openxmlformats.org/presentationml/2006/main">
  <p:tag name="KSO_WM_DIAGRAM_VIRTUALLY_FRAME" val="{&quot;height&quot;:381.1059842519685,&quot;left&quot;:49.631181102362206,&quot;top&quot;:89,&quot;width&quot;:859.737716535433}"/>
</p:tagLst>
</file>

<file path=ppt/tags/tag81.xml><?xml version="1.0" encoding="utf-8"?>
<p:tagLst xmlns:p="http://schemas.openxmlformats.org/presentationml/2006/main">
  <p:tag name="KSO_WM_DIAGRAM_VIRTUALLY_FRAME" val="{&quot;height&quot;:381.1059842519685,&quot;left&quot;:49.631181102362206,&quot;top&quot;:89,&quot;width&quot;:859.737716535433}"/>
</p:tagLst>
</file>

<file path=ppt/tags/tag82.xml><?xml version="1.0" encoding="utf-8"?>
<p:tagLst xmlns:p="http://schemas.openxmlformats.org/presentationml/2006/main">
  <p:tag name="KSO_WM_DIAGRAM_VIRTUALLY_FRAME" val="{&quot;height&quot;:381.1059842519685,&quot;left&quot;:49.631181102362206,&quot;top&quot;:89,&quot;width&quot;:859.737716535433}"/>
</p:tagLst>
</file>

<file path=ppt/tags/tag83.xml><?xml version="1.0" encoding="utf-8"?>
<p:tagLst xmlns:p="http://schemas.openxmlformats.org/presentationml/2006/main">
  <p:tag name="KSO_WM_DIAGRAM_VIRTUALLY_FRAME" val="{&quot;height&quot;:381.1059842519685,&quot;left&quot;:49.631181102362206,&quot;top&quot;:89,&quot;width&quot;:859.737716535433}"/>
</p:tagLst>
</file>

<file path=ppt/tags/tag84.xml><?xml version="1.0" encoding="utf-8"?>
<p:tagLst xmlns:p="http://schemas.openxmlformats.org/presentationml/2006/main">
  <p:tag name="KSO_WM_DIAGRAM_VIRTUALLY_FRAME" val="{&quot;height&quot;:381.1059842519685,&quot;left&quot;:49.631181102362206,&quot;top&quot;:89,&quot;width&quot;:859.737716535433}"/>
</p:tagLst>
</file>

<file path=ppt/tags/tag85.xml><?xml version="1.0" encoding="utf-8"?>
<p:tagLst xmlns:p="http://schemas.openxmlformats.org/presentationml/2006/main">
  <p:tag name="KSO_WM_DIAGRAM_VIRTUALLY_FRAME" val="{&quot;height&quot;:381.1059842519685,&quot;left&quot;:49.631181102362206,&quot;top&quot;:89,&quot;width&quot;:859.737716535433}"/>
</p:tagLst>
</file>

<file path=ppt/tags/tag86.xml><?xml version="1.0" encoding="utf-8"?>
<p:tagLst xmlns:p="http://schemas.openxmlformats.org/presentationml/2006/main">
  <p:tag name="KSO_WM_DIAGRAM_VIRTUALLY_FRAME" val="{&quot;height&quot;:381.1059842519685,&quot;left&quot;:49.631181102362206,&quot;top&quot;:89,&quot;width&quot;:859.737716535433}"/>
</p:tagLst>
</file>

<file path=ppt/tags/tag87.xml><?xml version="1.0" encoding="utf-8"?>
<p:tagLst xmlns:p="http://schemas.openxmlformats.org/presentationml/2006/main">
  <p:tag name="KSO_WM_DIAGRAM_VIRTUALLY_FRAME" val="{&quot;height&quot;:394,&quot;left&quot;:51.999921259842516,&quot;top&quot;:89,&quot;width&quot;:855.0000787401575}"/>
</p:tagLst>
</file>

<file path=ppt/tags/tag88.xml><?xml version="1.0" encoding="utf-8"?>
<p:tagLst xmlns:p="http://schemas.openxmlformats.org/presentationml/2006/main">
  <p:tag name="KSO_WM_DIAGRAM_VIRTUALLY_FRAME" val="{&quot;height&quot;:394,&quot;left&quot;:51.999921259842516,&quot;top&quot;:89,&quot;width&quot;:855.0000787401575}"/>
</p:tagLst>
</file>

<file path=ppt/tags/tag89.xml><?xml version="1.0" encoding="utf-8"?>
<p:tagLst xmlns:p="http://schemas.openxmlformats.org/presentationml/2006/main">
  <p:tag name="KSO_WM_DIAGRAM_VIRTUALLY_FRAME" val="{&quot;height&quot;:394,&quot;left&quot;:51.999921259842516,&quot;top&quot;:89,&quot;width&quot;:855.0000787401575}"/>
</p:tagLst>
</file>

<file path=ppt/tags/tag90.xml><?xml version="1.0" encoding="utf-8"?>
<p:tagLst xmlns:p="http://schemas.openxmlformats.org/presentationml/2006/main">
  <p:tag name="KSO_WM_DIAGRAM_VIRTUALLY_FRAME" val="{&quot;height&quot;:394,&quot;left&quot;:51.999921259842516,&quot;top&quot;:89,&quot;width&quot;:855.0000787401575}"/>
</p:tagLst>
</file>

<file path=ppt/tags/tag91.xml><?xml version="1.0" encoding="utf-8"?>
<p:tagLst xmlns:p="http://schemas.openxmlformats.org/presentationml/2006/main">
  <p:tag name="KSO_WM_DIAGRAM_VIRTUALLY_FRAME" val="{&quot;height&quot;:394,&quot;left&quot;:51.999921259842516,&quot;top&quot;:89,&quot;width&quot;:855.0000787401575}"/>
</p:tagLst>
</file>

<file path=ppt/tags/tag92.xml><?xml version="1.0" encoding="utf-8"?>
<p:tagLst xmlns:p="http://schemas.openxmlformats.org/presentationml/2006/main">
  <p:tag name="KSO_WM_DIAGRAM_VIRTUALLY_FRAME" val="{&quot;height&quot;:394,&quot;left&quot;:51.999921259842516,&quot;top&quot;:89,&quot;width&quot;:855.0000787401575}"/>
</p:tagLst>
</file>

<file path=ppt/tags/tag93.xml><?xml version="1.0" encoding="utf-8"?>
<p:tagLst xmlns:p="http://schemas.openxmlformats.org/presentationml/2006/main">
  <p:tag name="KSO_WM_DIAGRAM_VIRTUALLY_FRAME" val="{&quot;height&quot;:394,&quot;left&quot;:51.999921259842516,&quot;top&quot;:89,&quot;width&quot;:855.0000787401575}"/>
</p:tagLst>
</file>

<file path=ppt/tags/tag94.xml><?xml version="1.0" encoding="utf-8"?>
<p:tagLst xmlns:p="http://schemas.openxmlformats.org/presentationml/2006/main">
  <p:tag name="KSO_WM_DIAGRAM_VIRTUALLY_FRAME" val="{&quot;height&quot;:394,&quot;left&quot;:51.999921259842516,&quot;top&quot;:89,&quot;width&quot;:855.0000787401575}"/>
</p:tagLst>
</file>

<file path=ppt/tags/tag95.xml><?xml version="1.0" encoding="utf-8"?>
<p:tagLst xmlns:p="http://schemas.openxmlformats.org/presentationml/2006/main">
  <p:tag name="KSO_WM_DIAGRAM_VIRTUALLY_FRAME" val="{&quot;height&quot;:394,&quot;left&quot;:51.999921259842516,&quot;top&quot;:89,&quot;width&quot;:855.0000787401575}"/>
</p:tagLst>
</file>

<file path=ppt/tags/tag96.xml><?xml version="1.0" encoding="utf-8"?>
<p:tagLst xmlns:p="http://schemas.openxmlformats.org/presentationml/2006/main">
  <p:tag name="KSO_WM_DIAGRAM_VIRTUALLY_FRAME" val="{&quot;height&quot;:394,&quot;left&quot;:51.999921259842516,&quot;top&quot;:89,&quot;width&quot;:855.0000787401575}"/>
</p:tagLst>
</file>

<file path=ppt/tags/tag97.xml><?xml version="1.0" encoding="utf-8"?>
<p:tagLst xmlns:p="http://schemas.openxmlformats.org/presentationml/2006/main">
  <p:tag name="KSO_WM_DIAGRAM_VIRTUALLY_FRAME" val="{&quot;height&quot;:394,&quot;left&quot;:51.999921259842516,&quot;top&quot;:89,&quot;width&quot;:855.0000787401575}"/>
</p:tagLst>
</file>

<file path=ppt/tags/tag98.xml><?xml version="1.0" encoding="utf-8"?>
<p:tagLst xmlns:p="http://schemas.openxmlformats.org/presentationml/2006/main">
  <p:tag name="KSO_WM_DIAGRAM_VIRTUALLY_FRAME" val="{&quot;height&quot;:394,&quot;left&quot;:51.999921259842516,&quot;top&quot;:89,&quot;width&quot;:855.0000787401575}"/>
</p:tagLst>
</file>

<file path=ppt/tags/tag99.xml><?xml version="1.0" encoding="utf-8"?>
<p:tagLst xmlns:p="http://schemas.openxmlformats.org/presentationml/2006/main">
  <p:tag name="KSO_WM_DIAGRAM_VIRTUALLY_FRAME" val="{&quot;height&quot;:394,&quot;left&quot;:51.999921259842516,&quot;top&quot;:89,&quot;width&quot;:855.0000787401575}"/>
</p:tagLst>
</file>

<file path=ppt/tags/tag100.xml><?xml version="1.0" encoding="utf-8"?>
<p:tagLst xmlns:p="http://schemas.openxmlformats.org/presentationml/2006/main">
  <p:tag name="KSO_WM_DIAGRAM_VIRTUALLY_FRAME" val="{&quot;height&quot;:394,&quot;left&quot;:51.999921259842516,&quot;top&quot;:89,&quot;width&quot;:855.0000787401575}"/>
</p:tagLst>
</file>

<file path=ppt/tags/tag101.xml><?xml version="1.0" encoding="utf-8"?>
<p:tagLst xmlns:p="http://schemas.openxmlformats.org/presentationml/2006/main">
  <p:tag name="KSO_WM_DIAGRAM_VIRTUALLY_FRAME" val="{&quot;height&quot;:394,&quot;left&quot;:51.999921259842516,&quot;top&quot;:89,&quot;width&quot;:855.0000787401575}"/>
</p:tagLst>
</file>

<file path=ppt/tags/tag102.xml><?xml version="1.0" encoding="utf-8"?>
<p:tagLst xmlns:p="http://schemas.openxmlformats.org/presentationml/2006/main">
  <p:tag name="KSO_WM_DIAGRAM_VIRTUALLY_FRAME" val="{&quot;height&quot;:394,&quot;left&quot;:51.999921259842516,&quot;top&quot;:89,&quot;width&quot;:855.0000787401575}"/>
</p:tagLst>
</file>

<file path=ppt/tags/tag103.xml><?xml version="1.0" encoding="utf-8"?>
<p:tagLst xmlns:p="http://schemas.openxmlformats.org/presentationml/2006/main">
  <p:tag name="KSO_WM_DIAGRAM_VIRTUALLY_FRAME" val="{&quot;height&quot;:394,&quot;left&quot;:51.999921259842516,&quot;top&quot;:89,&quot;width&quot;:855.0000787401575}"/>
</p:tagLst>
</file>

<file path=ppt/theme/theme1.xml><?xml version="1.0" encoding="utf-8"?>
<a:theme xmlns:a="http://schemas.openxmlformats.org/drawingml/2006/main" name="aed49243-1cab-4b24-8b41-eb249f3b31c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2866</Words>
  <Application>WPS 演示</Application>
  <PresentationFormat>On-screen Show (4:3)</PresentationFormat>
  <Paragraphs>395</Paragraphs>
  <Slides>29</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29</vt:i4>
      </vt:variant>
    </vt:vector>
  </HeadingPairs>
  <TitlesOfParts>
    <vt:vector size="46" baseType="lpstr">
      <vt:lpstr>Arial</vt:lpstr>
      <vt:lpstr>宋体</vt:lpstr>
      <vt:lpstr>Wingdings</vt:lpstr>
      <vt:lpstr>汉仪行楷简</vt:lpstr>
      <vt:lpstr>思源黑体 CN Regular</vt:lpstr>
      <vt:lpstr>Average</vt:lpstr>
      <vt:lpstr>Segoe Print</vt:lpstr>
      <vt:lpstr>Arial</vt:lpstr>
      <vt:lpstr>华文新魏</vt:lpstr>
      <vt:lpstr>Calibri</vt:lpstr>
      <vt:lpstr>黑体</vt:lpstr>
      <vt:lpstr>微软雅黑</vt:lpstr>
      <vt:lpstr>Arial Unicode MS</vt:lpstr>
      <vt:lpstr>Average</vt:lpstr>
      <vt:lpstr>思源黑体 CN Regular</vt:lpstr>
      <vt:lpstr>汉仪行楷简</vt:lpstr>
      <vt:lpstr>aed49243-1cab-4b24-8b41-eb249f3b31c0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He</cp:lastModifiedBy>
  <cp:revision>6</cp:revision>
  <dcterms:created xsi:type="dcterms:W3CDTF">2006-08-16T00:00:00Z</dcterms:created>
  <dcterms:modified xsi:type="dcterms:W3CDTF">2026-09-04T06:36:24Z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021BE6EC666347A58E8C7F8433C14382_12</vt:lpwstr>
  </property>
</Properties>
</file>